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610d75a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610d75a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6bfdb754d_0_0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46bfdb754d_0_0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6bfdb754d_0_19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94" name="Google Shape;94;g346bfdb754d_0_198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5" name="Google Shape;95;g346bfdb754d_0_198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6bfdb754d_0_1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04" name="Google Shape;104;g346bfdb754d_0_14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5" name="Google Shape;105;g346bfdb754d_0_14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6bfdb754d_0_2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14" name="Google Shape;114;g346bfdb754d_0_22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5" name="Google Shape;115;g346bfdb754d_0_22:notes"/>
          <p:cNvSpPr txBox="1"/>
          <p:nvPr>
            <p:ph idx="1" type="body"/>
          </p:nvPr>
        </p:nvSpPr>
        <p:spPr>
          <a:xfrm>
            <a:off x="913991" y="4342944"/>
            <a:ext cx="50301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6bfdb754d_0_3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25" name="Google Shape;125;g346bfdb754d_0_30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6" name="Google Shape;126;g346bfdb754d_0_30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6bfdb754d_0_4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33" name="Google Shape;133;g346bfdb754d_0_44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4" name="Google Shape;134;g346bfdb754d_0_44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6bfdb754d_0_5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43" name="Google Shape;143;g346bfdb754d_0_51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4" name="Google Shape;144;g346bfdb754d_0_51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6bfdb754d_0_58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46bfdb754d_0_58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6bfdb754d_0_64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46bfdb754d_0_64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6bfdb754d_0_74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46bfdb754d_0_74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6bfdb754d_0_79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46bfdb754d_0_79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6bfdb754d_0_86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46bfdb754d_0_86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6bfdb754d_0_91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46bfdb754d_0_91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6bfdb754d_0_97:notes"/>
          <p:cNvSpPr txBox="1"/>
          <p:nvPr>
            <p:ph idx="1" type="body"/>
          </p:nvPr>
        </p:nvSpPr>
        <p:spPr>
          <a:xfrm>
            <a:off x="913991" y="4342944"/>
            <a:ext cx="50301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46bfdb754d_0_97:notes"/>
          <p:cNvSpPr/>
          <p:nvPr>
            <p:ph idx="2" type="sldImg"/>
          </p:nvPr>
        </p:nvSpPr>
        <p:spPr>
          <a:xfrm>
            <a:off x="132923" y="686475"/>
            <a:ext cx="65922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6bfdb754d_0_10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98" name="Google Shape;198;g346bfdb754d_0_102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9" name="Google Shape;199;g346bfdb754d_0_102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6bfdb754d_0_10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06" name="Google Shape;206;g346bfdb754d_0_109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7" name="Google Shape;207;g346bfdb754d_0_109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6bfdb754d_0_11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175" lIns="90375" spcFirstLastPara="1" rIns="90375" wrap="square" tIns="45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14" name="Google Shape;214;g346bfdb754d_0_116:notes"/>
          <p:cNvSpPr/>
          <p:nvPr>
            <p:ph idx="2" type="sldImg"/>
          </p:nvPr>
        </p:nvSpPr>
        <p:spPr>
          <a:xfrm>
            <a:off x="134456" y="685056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5" name="Google Shape;215;g346bfdb754d_0_116:notes"/>
          <p:cNvSpPr txBox="1"/>
          <p:nvPr>
            <p:ph idx="1" type="body"/>
          </p:nvPr>
        </p:nvSpPr>
        <p:spPr>
          <a:xfrm>
            <a:off x="685493" y="4342944"/>
            <a:ext cx="5487000" cy="41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175" lIns="90375" spcFirstLastPara="1" rIns="90375" wrap="square" tIns="4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e3d54357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e3d54357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0" name="Google Shape;60;p14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SECTION_HEADER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5137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hyperlink" Target="https://drive.google.com/file/d/1zYZocCcxKGZ4M8r7k_166twQafnFGLtw/view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Bem Vindos!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Cronograma de Aula Atualizado</a:t>
            </a:r>
            <a:endParaRPr/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5"/>
            <a:ext cx="4715550" cy="335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175" y="1215775"/>
            <a:ext cx="4014424" cy="3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Estruturas de Controle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457200" y="900113"/>
            <a:ext cx="8229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SEQUENCIAL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ESTRUTURAS CONDICIONAIS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Condicional Simples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Condicional Composta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Seleção entre duas ou mais Seqüências de Comandos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REPETIÇÃO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Repetição com Teste no Início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Repetição com Teste no Final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Repetição Contada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While</a:t>
            </a:r>
            <a:endParaRPr/>
          </a:p>
        </p:txBody>
      </p:sp>
      <p:sp>
        <p:nvSpPr>
          <p:cNvPr id="98" name="Google Shape;98;p19"/>
          <p:cNvSpPr txBox="1"/>
          <p:nvPr>
            <p:ph idx="4294967295" type="body"/>
          </p:nvPr>
        </p:nvSpPr>
        <p:spPr>
          <a:xfrm>
            <a:off x="457200" y="1200150"/>
            <a:ext cx="82296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1º avalia condição </a:t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condição é verdadeira, executa comandos do bloco</a:t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término do bloco, volta a avaliar condição</a:t>
            </a:r>
            <a:endParaRPr sz="1700"/>
          </a:p>
          <a:p>
            <a:pPr indent="-33655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repete o processo até que condição seja falsa</a:t>
            </a:r>
            <a:endParaRPr sz="1700"/>
          </a:p>
        </p:txBody>
      </p:sp>
      <p:sp>
        <p:nvSpPr>
          <p:cNvPr id="99" name="Google Shape;99;p19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275" y="1296590"/>
            <a:ext cx="1581151" cy="1304926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09"/>
              </a:srgbClr>
            </a:outerShdw>
          </a:effectLst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25" y="1200173"/>
            <a:ext cx="2931675" cy="109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Do-While</a:t>
            </a:r>
            <a:endParaRPr/>
          </a:p>
        </p:txBody>
      </p:sp>
      <p:sp>
        <p:nvSpPr>
          <p:cNvPr id="108" name="Google Shape;108;p20"/>
          <p:cNvSpPr txBox="1"/>
          <p:nvPr>
            <p:ph idx="4294967295" type="body"/>
          </p:nvPr>
        </p:nvSpPr>
        <p:spPr>
          <a:xfrm>
            <a:off x="685800" y="2549275"/>
            <a:ext cx="8108700" cy="22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1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do...while</a:t>
            </a: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utilizado sempre que o bloco de comandos deve ser executado ao menos uma vez</a:t>
            </a:r>
            <a:endParaRPr sz="1500"/>
          </a:p>
          <a:p>
            <a:pPr indent="-32385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1º executa comandos</a:t>
            </a:r>
            <a:endParaRPr sz="1500"/>
          </a:p>
          <a:p>
            <a:pPr indent="-32385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2º avalia condição:</a:t>
            </a:r>
            <a:endParaRPr sz="1500"/>
          </a:p>
          <a:p>
            <a:pPr indent="-26670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verdadeiro, executa novamente os comandos do bloco; senão encerra laço</a:t>
            </a:r>
            <a:endParaRPr sz="1100"/>
          </a:p>
        </p:txBody>
      </p:sp>
      <p:sp>
        <p:nvSpPr>
          <p:cNvPr id="109" name="Google Shape;109;p2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5662" y="1063375"/>
            <a:ext cx="1581149" cy="1485901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09"/>
              </a:srgbClr>
            </a:outerShdw>
          </a:effectLst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625" y="1377625"/>
            <a:ext cx="3547825" cy="8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For</a:t>
            </a:r>
            <a:endParaRPr/>
          </a:p>
        </p:txBody>
      </p:sp>
      <p:sp>
        <p:nvSpPr>
          <p:cNvPr id="118" name="Google Shape;118;p21"/>
          <p:cNvSpPr txBox="1"/>
          <p:nvPr>
            <p:ph idx="4294967295" type="body"/>
          </p:nvPr>
        </p:nvSpPr>
        <p:spPr>
          <a:xfrm>
            <a:off x="457200" y="1200150"/>
            <a:ext cx="8229600" cy="3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4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termos de while, equivale a: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2275" y="1200153"/>
            <a:ext cx="1914526" cy="1885950"/>
          </a:xfrm>
          <a:prstGeom prst="rect">
            <a:avLst/>
          </a:prstGeom>
          <a:noFill/>
          <a:ln>
            <a:noFill/>
          </a:ln>
          <a:effectLst>
            <a:outerShdw blurRad="63500" dir="2700000" dist="139700">
              <a:srgbClr val="333333">
                <a:alpha val="64709"/>
              </a:srgbClr>
            </a:outerShdw>
          </a:effectLst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300" y="1147575"/>
            <a:ext cx="4464325" cy="100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300" y="3027250"/>
            <a:ext cx="2259950" cy="14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For</a:t>
            </a:r>
            <a:endParaRPr/>
          </a:p>
        </p:txBody>
      </p:sp>
      <p:sp>
        <p:nvSpPr>
          <p:cNvPr id="129" name="Google Shape;129;p22"/>
          <p:cNvSpPr txBox="1"/>
          <p:nvPr>
            <p:ph idx="4294967295" type="body"/>
          </p:nvPr>
        </p:nvSpPr>
        <p:spPr>
          <a:xfrm>
            <a:off x="457200" y="1200150"/>
            <a:ext cx="82296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1º executa </a:t>
            </a:r>
            <a:r>
              <a:rPr b="0" i="1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pré_cmd</a:t>
            </a: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" sz="29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inicialização</a:t>
            </a: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que permite iniciar variáveis</a:t>
            </a:r>
            <a:endParaRPr sz="1500"/>
          </a:p>
          <a:p>
            <a:pPr indent="-32385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2º avalia </a:t>
            </a:r>
            <a:r>
              <a:rPr b="0" i="1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</a:t>
            </a: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" sz="29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condição</a:t>
            </a: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se verdadeiro, executa comandos do bloco, senão encerra laço</a:t>
            </a:r>
            <a:endParaRPr sz="1500"/>
          </a:p>
          <a:p>
            <a:pPr indent="-32385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término do bloco, executa </a:t>
            </a:r>
            <a:r>
              <a:rPr b="0" i="1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pós_cmd</a:t>
            </a: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" sz="29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incremento</a:t>
            </a: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500"/>
          </a:p>
          <a:p>
            <a:pPr indent="-32385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reavalia teste</a:t>
            </a:r>
            <a:endParaRPr sz="1500"/>
          </a:p>
          <a:p>
            <a:pPr indent="-32385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en" sz="2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repete o processo até que teste seja falso</a:t>
            </a:r>
            <a:endParaRPr sz="1500"/>
          </a:p>
        </p:txBody>
      </p:sp>
      <p:sp>
        <p:nvSpPr>
          <p:cNvPr id="130" name="Google Shape;130;p2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For</a:t>
            </a:r>
            <a:endParaRPr/>
          </a:p>
        </p:txBody>
      </p:sp>
      <p:sp>
        <p:nvSpPr>
          <p:cNvPr id="137" name="Google Shape;137;p23"/>
          <p:cNvSpPr txBox="1"/>
          <p:nvPr>
            <p:ph idx="4294967295" type="body"/>
          </p:nvPr>
        </p:nvSpPr>
        <p:spPr>
          <a:xfrm>
            <a:off x="457200" y="1200150"/>
            <a:ext cx="82296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0" i="0" lang="en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Escreve a tabuada do 2 na tela</a:t>
            </a:r>
            <a:endParaRPr sz="1100"/>
          </a:p>
        </p:txBody>
      </p:sp>
      <p:sp>
        <p:nvSpPr>
          <p:cNvPr id="138" name="Google Shape;138;p23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300" y="1744325"/>
            <a:ext cx="5995400" cy="24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 txBox="1"/>
          <p:nvPr/>
        </p:nvSpPr>
        <p:spPr>
          <a:xfrm>
            <a:off x="1605000" y="4125858"/>
            <a:ext cx="5934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</a:t>
            </a:r>
            <a:r>
              <a:rPr lang="en" u="sng">
                <a:solidFill>
                  <a:schemeClr val="hlink"/>
                </a:solidFill>
                <a:hlinkClick r:id="rId4"/>
              </a:rPr>
              <a:t>tabuada_2.c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For</a:t>
            </a:r>
            <a:endParaRPr/>
          </a:p>
        </p:txBody>
      </p:sp>
      <p:sp>
        <p:nvSpPr>
          <p:cNvPr id="147" name="Google Shape;147;p24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04323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Podemos omitir qualquer um dos elementos (inicialização, condição ou incremento) do for.</a:t>
            </a:r>
            <a:endParaRPr/>
          </a:p>
          <a:p>
            <a:pPr indent="-304323" lvl="0" marL="3429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exemplo: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8888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8888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8888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8888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1459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é um loop infinito porque será executado para sempre (não existindo a condição, ela será sempre considerada verdadeira), a não ser que ele seja interrompido. </a:t>
            </a:r>
            <a:endParaRPr/>
          </a:p>
          <a:p>
            <a:pPr indent="-251459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interromper um loop como este usamos o comando break. 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725" y="2038963"/>
            <a:ext cx="3898450" cy="106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457200" y="900132"/>
            <a:ext cx="8229600" cy="40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.1)	Ler x e y e calcular x</a:t>
            </a:r>
            <a:r>
              <a:rPr b="0" baseline="3000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 usar funções de potência da linguagem C.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600" lvl="0" marL="60960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.2) 	Faça um programa para calcular o valor da seguinte série:</a:t>
            </a:r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1887" y="3942500"/>
            <a:ext cx="3780233" cy="91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457200" y="900130"/>
            <a:ext cx="8229600" cy="3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.3)    Crie um programa que receba um valor positivo inteiro e imprime os divisores desse valor.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600" lvl="0" marL="609600" rtl="0" algn="l">
              <a:lnSpc>
                <a:spcPct val="10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.4)		Criar um programa em C que determina os números de 1 a 5000 que são quadrados perfeitos (a raiz é um número inteiro). Não é permitido o uso de comandos do C para potência e raiz.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200150"/>
            <a:ext cx="8229600" cy="3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5.5) 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Calcule o máximo divisor comum (m.d.c.) e o mínimo múltiplo comum (m.m.c.) de 3 números fornecidos pelo usuário..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457200" y="900113"/>
            <a:ext cx="8229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5.6)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Desenvolver um programa para calcular o somatório dado abaixo, sabendo que N e P devem ser informado pelo usuário.</a:t>
            </a:r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1812" y="2571750"/>
            <a:ext cx="1768075" cy="896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82" name="Google Shape;182;p29"/>
          <p:cNvSpPr txBox="1"/>
          <p:nvPr>
            <p:ph idx="4294967295" type="body"/>
          </p:nvPr>
        </p:nvSpPr>
        <p:spPr>
          <a:xfrm>
            <a:off x="457200" y="1200150"/>
            <a:ext cx="8229600" cy="3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5.7)</a:t>
            </a: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Crie uma função que recebe um inteiro e exibe uma “seta”. Obs: A linha central da seta deverá ter tamanho n. </a:t>
            </a:r>
            <a:endParaRPr sz="12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Ex. para n = 3:</a:t>
            </a:r>
            <a:endParaRPr sz="12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*</a:t>
            </a:r>
            <a:endParaRPr sz="12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*   *</a:t>
            </a:r>
            <a:endParaRPr sz="12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*   *   *</a:t>
            </a:r>
            <a:endParaRPr sz="12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*   *</a:t>
            </a:r>
            <a:endParaRPr sz="12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*</a:t>
            </a:r>
            <a:endParaRPr sz="1200"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457200" y="154483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457200" y="900130"/>
            <a:ext cx="8229600" cy="3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5.8) 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Faça um programa que leia um valor inteiro e calcule o seu fatorial.</a:t>
            </a:r>
            <a:endParaRPr/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5.9) 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Calcular e escrever o valor do número π , com n termos, usando a série π= 4 − 4/3 + 4/5 - 4/7 + 4/9 - 4/11...</a:t>
            </a:r>
            <a:endParaRPr/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95" name="Google Shape;195;p31"/>
          <p:cNvSpPr txBox="1"/>
          <p:nvPr>
            <p:ph idx="4294967295" type="body"/>
          </p:nvPr>
        </p:nvSpPr>
        <p:spPr>
          <a:xfrm>
            <a:off x="457200" y="1043001"/>
            <a:ext cx="8229600" cy="3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0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5.10) 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 uma função que receba como argumento um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real e um número inteiro e retorne a raiz quadrada do número real através de Newton:</a:t>
            </a:r>
            <a:endParaRPr sz="10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0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</a:t>
            </a:r>
            <a:r>
              <a:rPr b="0" i="0" lang="en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(R</a:t>
            </a:r>
            <a:r>
              <a:rPr b="0" i="0" lang="en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(E/R</a:t>
            </a:r>
            <a:r>
              <a:rPr b="0" i="0" lang="en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))/2</a:t>
            </a:r>
            <a:endParaRPr sz="10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  R</a:t>
            </a:r>
            <a:r>
              <a:rPr b="0" i="0" lang="en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E/2</a:t>
            </a:r>
            <a:endParaRPr sz="10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para  E = entrada, R = raiz quadrada</a:t>
            </a:r>
            <a:endParaRPr sz="1000"/>
          </a:p>
          <a:p>
            <a:pPr indent="-742950" lvl="0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 n = número de iterações</a:t>
            </a:r>
            <a:endParaRPr sz="1000"/>
          </a:p>
          <a:p>
            <a:pPr indent="-742950" lvl="0" marL="74295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3429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comandos: break e continue</a:t>
            </a:r>
            <a:endParaRPr/>
          </a:p>
        </p:txBody>
      </p:sp>
      <p:sp>
        <p:nvSpPr>
          <p:cNvPr id="202" name="Google Shape;202;p32"/>
          <p:cNvSpPr txBox="1"/>
          <p:nvPr>
            <p:ph idx="4294967295" type="body"/>
          </p:nvPr>
        </p:nvSpPr>
        <p:spPr>
          <a:xfrm>
            <a:off x="457200" y="1125140"/>
            <a:ext cx="8229600" cy="3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 comando “break” serve para interromper a execução de um loop (estrutura de repetição). </a:t>
            </a:r>
            <a:endParaRPr sz="14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 comando “continue” serve para fazer com que a iteração atual seja cancelada, e o loop prossiga para próxima iteração.</a:t>
            </a:r>
            <a:endParaRPr sz="14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 seja, o “break” faz todo o laço parar. Já o “continue”, faz somente com que a iteração atual pare, pulando pra próxima.</a:t>
            </a:r>
            <a:endParaRPr sz="14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break</a:t>
            </a:r>
            <a:endParaRPr/>
          </a:p>
        </p:txBody>
      </p:sp>
      <p:sp>
        <p:nvSpPr>
          <p:cNvPr id="210" name="Google Shape;210;p33"/>
          <p:cNvSpPr txBox="1"/>
          <p:nvPr>
            <p:ph idx="4294967295" type="body"/>
          </p:nvPr>
        </p:nvSpPr>
        <p:spPr>
          <a:xfrm>
            <a:off x="457200" y="1125140"/>
            <a:ext cx="8229600" cy="3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 i=1; i &lt;=10; i++) {</a:t>
            </a:r>
            <a:endParaRPr sz="12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printf("2 x %d = %d\n", i, 2*i);</a:t>
            </a:r>
            <a:endParaRPr sz="12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if (i==5) break;</a:t>
            </a:r>
            <a:endParaRPr sz="12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}</a:t>
            </a:r>
            <a:endParaRPr sz="12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while (i &lt;=10) {</a:t>
            </a:r>
            <a:endParaRPr sz="12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printf("2 x %d = %d\n", i, 2*i);</a:t>
            </a:r>
            <a:endParaRPr sz="12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i++;	</a:t>
            </a:r>
            <a:endParaRPr sz="12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if (i==5) break;</a:t>
            </a:r>
            <a:endParaRPr sz="12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}</a:t>
            </a:r>
            <a:endParaRPr sz="1200"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continue</a:t>
            </a:r>
            <a:endParaRPr/>
          </a:p>
        </p:txBody>
      </p:sp>
      <p:sp>
        <p:nvSpPr>
          <p:cNvPr id="218" name="Google Shape;218;p34"/>
          <p:cNvSpPr txBox="1"/>
          <p:nvPr>
            <p:ph idx="4294967295" type="body"/>
          </p:nvPr>
        </p:nvSpPr>
        <p:spPr>
          <a:xfrm>
            <a:off x="457200" y="1125140"/>
            <a:ext cx="8229600" cy="3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 i=1; i &lt;=10; i++) {</a:t>
            </a:r>
            <a:endParaRPr sz="11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0" i="0" lang="en" sz="21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	   if (i==5) continue;</a:t>
            </a:r>
            <a:endParaRPr sz="11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printf("2 x %d = %d\n", i, 2*i);</a:t>
            </a:r>
            <a:endParaRPr sz="11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}</a:t>
            </a:r>
            <a:endParaRPr sz="11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while (i &lt;=10) {</a:t>
            </a:r>
            <a:endParaRPr sz="11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i++;	</a:t>
            </a:r>
            <a:endParaRPr sz="11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" sz="21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if (i==5) continue;</a:t>
            </a:r>
            <a:endParaRPr sz="11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printf("2 x %d = %d\n", i, 2*i);</a:t>
            </a:r>
            <a:endParaRPr sz="1100"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}</a:t>
            </a:r>
            <a:endParaRPr sz="1100"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4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225" name="Google Shape;22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 pela atenção!!</a:t>
            </a:r>
            <a:endParaRPr/>
          </a:p>
        </p:txBody>
      </p:sp>
      <p:sp>
        <p:nvSpPr>
          <p:cNvPr id="226" name="Google Shape;22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