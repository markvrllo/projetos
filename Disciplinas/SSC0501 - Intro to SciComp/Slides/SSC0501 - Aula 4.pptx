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46a015dbf0_0_0:notes"/>
          <p:cNvSpPr txBox="1"/>
          <p:nvPr>
            <p:ph idx="1" type="body"/>
          </p:nvPr>
        </p:nvSpPr>
        <p:spPr>
          <a:xfrm>
            <a:off x="913991" y="4342944"/>
            <a:ext cx="5030100" cy="41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46a015dbf0_0_0:notes"/>
          <p:cNvSpPr/>
          <p:nvPr>
            <p:ph idx="2" type="sldImg"/>
          </p:nvPr>
        </p:nvSpPr>
        <p:spPr>
          <a:xfrm>
            <a:off x="132923" y="686475"/>
            <a:ext cx="6592200" cy="3428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46a015dbf0_0_6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175" lIns="90375" spcFirstLastPara="1" rIns="90375" wrap="square" tIns="451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/>
          </a:p>
        </p:txBody>
      </p:sp>
      <p:sp>
        <p:nvSpPr>
          <p:cNvPr id="86" name="Google Shape;86;g346a015dbf0_0_6:notes"/>
          <p:cNvSpPr/>
          <p:nvPr>
            <p:ph idx="2" type="sldImg"/>
          </p:nvPr>
        </p:nvSpPr>
        <p:spPr>
          <a:xfrm>
            <a:off x="134456" y="685056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7" name="Google Shape;87;g346a015dbf0_0_6:notes"/>
          <p:cNvSpPr txBox="1"/>
          <p:nvPr>
            <p:ph idx="1" type="body"/>
          </p:nvPr>
        </p:nvSpPr>
        <p:spPr>
          <a:xfrm>
            <a:off x="685493" y="4342944"/>
            <a:ext cx="5487000" cy="4116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175" lIns="90375" spcFirstLastPara="1" rIns="90375" wrap="square" tIns="45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46a015dbf0_0_14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175" lIns="90375" spcFirstLastPara="1" rIns="90375" wrap="square" tIns="451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/>
          </a:p>
        </p:txBody>
      </p:sp>
      <p:sp>
        <p:nvSpPr>
          <p:cNvPr id="96" name="Google Shape;96;g346a015dbf0_0_14:notes"/>
          <p:cNvSpPr/>
          <p:nvPr>
            <p:ph idx="2" type="sldImg"/>
          </p:nvPr>
        </p:nvSpPr>
        <p:spPr>
          <a:xfrm>
            <a:off x="134456" y="685056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7" name="Google Shape;97;g346a015dbf0_0_14:notes"/>
          <p:cNvSpPr txBox="1"/>
          <p:nvPr>
            <p:ph idx="1" type="body"/>
          </p:nvPr>
        </p:nvSpPr>
        <p:spPr>
          <a:xfrm>
            <a:off x="685493" y="4342944"/>
            <a:ext cx="5487000" cy="4116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175" lIns="90375" spcFirstLastPara="1" rIns="90375" wrap="square" tIns="45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46a015dbf0_0_21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175" lIns="90375" spcFirstLastPara="1" rIns="90375" wrap="square" tIns="451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/>
          </a:p>
        </p:txBody>
      </p:sp>
      <p:sp>
        <p:nvSpPr>
          <p:cNvPr id="106" name="Google Shape;106;g346a015dbf0_0_21:notes"/>
          <p:cNvSpPr/>
          <p:nvPr>
            <p:ph idx="2" type="sldImg"/>
          </p:nvPr>
        </p:nvSpPr>
        <p:spPr>
          <a:xfrm>
            <a:off x="134456" y="685056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7" name="Google Shape;107;g346a015dbf0_0_21:notes"/>
          <p:cNvSpPr txBox="1"/>
          <p:nvPr>
            <p:ph idx="1" type="body"/>
          </p:nvPr>
        </p:nvSpPr>
        <p:spPr>
          <a:xfrm>
            <a:off x="685493" y="4342944"/>
            <a:ext cx="5487000" cy="4116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175" lIns="90375" spcFirstLastPara="1" rIns="90375" wrap="square" tIns="45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46a015dbf0_0_28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175" lIns="90375" spcFirstLastPara="1" rIns="90375" wrap="square" tIns="451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/>
          </a:p>
        </p:txBody>
      </p:sp>
      <p:sp>
        <p:nvSpPr>
          <p:cNvPr id="114" name="Google Shape;114;g346a015dbf0_0_28:notes"/>
          <p:cNvSpPr txBox="1"/>
          <p:nvPr>
            <p:ph idx="1" type="body"/>
          </p:nvPr>
        </p:nvSpPr>
        <p:spPr>
          <a:xfrm>
            <a:off x="913991" y="4347199"/>
            <a:ext cx="5030100" cy="3856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950" lIns="89925" spcFirstLastPara="1" rIns="89925" wrap="square" tIns="44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46a015dbf0_0_28:notes"/>
          <p:cNvSpPr/>
          <p:nvPr>
            <p:ph idx="2" type="sldImg"/>
          </p:nvPr>
        </p:nvSpPr>
        <p:spPr>
          <a:xfrm>
            <a:off x="346834" y="797105"/>
            <a:ext cx="6168900" cy="3209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46a015dbf0_0_35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175" lIns="90375" spcFirstLastPara="1" rIns="90375" wrap="square" tIns="451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/>
          </a:p>
        </p:txBody>
      </p:sp>
      <p:sp>
        <p:nvSpPr>
          <p:cNvPr id="122" name="Google Shape;122;g346a015dbf0_0_35:notes"/>
          <p:cNvSpPr txBox="1"/>
          <p:nvPr>
            <p:ph idx="1" type="body"/>
          </p:nvPr>
        </p:nvSpPr>
        <p:spPr>
          <a:xfrm>
            <a:off x="913991" y="4347199"/>
            <a:ext cx="5030100" cy="3856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950" lIns="89925" spcFirstLastPara="1" rIns="89925" wrap="square" tIns="44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46a015dbf0_0_35:notes"/>
          <p:cNvSpPr/>
          <p:nvPr>
            <p:ph idx="2" type="sldImg"/>
          </p:nvPr>
        </p:nvSpPr>
        <p:spPr>
          <a:xfrm>
            <a:off x="346834" y="797105"/>
            <a:ext cx="6168900" cy="3209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46a015dbf0_0_43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175" lIns="90375" spcFirstLastPara="1" rIns="90375" wrap="square" tIns="451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/>
          </a:p>
        </p:txBody>
      </p:sp>
      <p:sp>
        <p:nvSpPr>
          <p:cNvPr id="131" name="Google Shape;131;g346a015dbf0_0_43:notes"/>
          <p:cNvSpPr/>
          <p:nvPr>
            <p:ph idx="2" type="sldImg"/>
          </p:nvPr>
        </p:nvSpPr>
        <p:spPr>
          <a:xfrm>
            <a:off x="134456" y="685056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32" name="Google Shape;132;g346a015dbf0_0_43:notes"/>
          <p:cNvSpPr txBox="1"/>
          <p:nvPr>
            <p:ph idx="1" type="body"/>
          </p:nvPr>
        </p:nvSpPr>
        <p:spPr>
          <a:xfrm>
            <a:off x="685493" y="4342944"/>
            <a:ext cx="5487000" cy="4116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175" lIns="90375" spcFirstLastPara="1" rIns="90375" wrap="square" tIns="45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46a015dbf0_0_50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175" lIns="90375" spcFirstLastPara="1" rIns="90375" wrap="square" tIns="451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/>
          </a:p>
        </p:txBody>
      </p:sp>
      <p:sp>
        <p:nvSpPr>
          <p:cNvPr id="141" name="Google Shape;141;g346a015dbf0_0_50:notes"/>
          <p:cNvSpPr txBox="1"/>
          <p:nvPr>
            <p:ph idx="1" type="body"/>
          </p:nvPr>
        </p:nvSpPr>
        <p:spPr>
          <a:xfrm>
            <a:off x="913991" y="4347199"/>
            <a:ext cx="5030100" cy="3856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950" lIns="89925" spcFirstLastPara="1" rIns="89925" wrap="square" tIns="44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46a015dbf0_0_50:notes"/>
          <p:cNvSpPr/>
          <p:nvPr>
            <p:ph idx="2" type="sldImg"/>
          </p:nvPr>
        </p:nvSpPr>
        <p:spPr>
          <a:xfrm>
            <a:off x="346834" y="797105"/>
            <a:ext cx="6168900" cy="3209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46a015dbf0_0_57:notes"/>
          <p:cNvSpPr txBox="1"/>
          <p:nvPr>
            <p:ph idx="1" type="body"/>
          </p:nvPr>
        </p:nvSpPr>
        <p:spPr>
          <a:xfrm>
            <a:off x="913991" y="4342944"/>
            <a:ext cx="5030100" cy="41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46a015dbf0_0_57:notes"/>
          <p:cNvSpPr/>
          <p:nvPr>
            <p:ph idx="2" type="sldImg"/>
          </p:nvPr>
        </p:nvSpPr>
        <p:spPr>
          <a:xfrm>
            <a:off x="132923" y="686475"/>
            <a:ext cx="6592200" cy="3428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46a015dbf0_0_63:notes"/>
          <p:cNvSpPr txBox="1"/>
          <p:nvPr>
            <p:ph idx="1" type="body"/>
          </p:nvPr>
        </p:nvSpPr>
        <p:spPr>
          <a:xfrm>
            <a:off x="913991" y="4342944"/>
            <a:ext cx="5030100" cy="41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46a015dbf0_0_63:notes"/>
          <p:cNvSpPr/>
          <p:nvPr>
            <p:ph idx="2" type="sldImg"/>
          </p:nvPr>
        </p:nvSpPr>
        <p:spPr>
          <a:xfrm>
            <a:off x="132923" y="686475"/>
            <a:ext cx="6592200" cy="3428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46a015dbf0_0_69:notes"/>
          <p:cNvSpPr txBox="1"/>
          <p:nvPr>
            <p:ph idx="1" type="body"/>
          </p:nvPr>
        </p:nvSpPr>
        <p:spPr>
          <a:xfrm>
            <a:off x="913991" y="4342944"/>
            <a:ext cx="5030100" cy="41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46a015dbf0_0_69:notes"/>
          <p:cNvSpPr/>
          <p:nvPr>
            <p:ph idx="2" type="sldImg"/>
          </p:nvPr>
        </p:nvSpPr>
        <p:spPr>
          <a:xfrm>
            <a:off x="132923" y="686475"/>
            <a:ext cx="6592200" cy="3428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6a015dbf0_0_75:notes"/>
          <p:cNvSpPr txBox="1"/>
          <p:nvPr>
            <p:ph idx="1" type="body"/>
          </p:nvPr>
        </p:nvSpPr>
        <p:spPr>
          <a:xfrm>
            <a:off x="913991" y="4342944"/>
            <a:ext cx="5030100" cy="41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46a015dbf0_0_75:notes"/>
          <p:cNvSpPr/>
          <p:nvPr>
            <p:ph idx="2" type="sldImg"/>
          </p:nvPr>
        </p:nvSpPr>
        <p:spPr>
          <a:xfrm>
            <a:off x="132923" y="686475"/>
            <a:ext cx="6592200" cy="3428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e3d543570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e3d543570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457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 sz="1800"/>
            </a:lvl9pPr>
          </a:lstStyle>
          <a:p/>
        </p:txBody>
      </p:sp>
      <p:sp>
        <p:nvSpPr>
          <p:cNvPr id="60" name="Google Shape;60;p14"/>
          <p:cNvSpPr txBox="1"/>
          <p:nvPr>
            <p:ph idx="2" type="body"/>
          </p:nvPr>
        </p:nvSpPr>
        <p:spPr>
          <a:xfrm>
            <a:off x="4648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 sz="1800"/>
            </a:lvl9pPr>
          </a:lstStyle>
          <a:p/>
        </p:txBody>
      </p:sp>
      <p:sp>
        <p:nvSpPr>
          <p:cNvPr id="61" name="Google Shape;61;p14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>
  <p:cSld name="SECTION_HEADER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722313" y="3305175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722313" y="2180035"/>
            <a:ext cx="77724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200"/>
              </a:spcBef>
              <a:spcAft>
                <a:spcPts val="120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51371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hyperlink" Target="https://drive.google.com/file/d/10NbM1-N4vb-ikAACCiUzyHWdMgwYn44Q/view?usp=drive_link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runcodes.icmc.usp.br/offerings/view/83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runcodes.icmc.usp.br/offerings/view/83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runcodes.icmc.usp.br/offerings/view/83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runcodes.icmc.usp.br/offerings/view/83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SSC0501 - Introdução à Ciência de Computação I</a:t>
            </a:r>
            <a:endParaRPr/>
          </a:p>
        </p:txBody>
      </p:sp>
      <p:sp>
        <p:nvSpPr>
          <p:cNvPr id="75" name="Google Shape;75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Bem Vindos!</a:t>
            </a:r>
            <a:endParaRPr/>
          </a:p>
        </p:txBody>
      </p:sp>
      <p:sp>
        <p:nvSpPr>
          <p:cNvPr id="76" name="Google Shape;7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457200" y="154483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Estruturas de Controle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457200" y="900132"/>
            <a:ext cx="8229600" cy="38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ESTRUTURA SEQUENCIAL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ESTRUTURAS CONDICIONAIS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Estrutura Condicional Simples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Estrutura Condicional Composta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Seleção entre duas ou mais Seqüências de Comandos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i="0" lang="en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ESTRUTURA DE REPETIÇÃO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1" i="0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Repetição com Teste no Início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1" i="0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Repetição com Teste no Final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1" i="0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Repetição Contada</a:t>
            </a:r>
            <a:endParaRPr/>
          </a:p>
        </p:txBody>
      </p:sp>
      <p:sp>
        <p:nvSpPr>
          <p:cNvPr id="83" name="Google Shape;83;p17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idx="4294967295"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Comando While</a:t>
            </a:r>
            <a:endParaRPr/>
          </a:p>
        </p:txBody>
      </p:sp>
      <p:sp>
        <p:nvSpPr>
          <p:cNvPr id="90" name="Google Shape;90;p18"/>
          <p:cNvSpPr txBox="1"/>
          <p:nvPr>
            <p:ph idx="4294967295" type="body"/>
          </p:nvPr>
        </p:nvSpPr>
        <p:spPr>
          <a:xfrm>
            <a:off x="457200" y="1200150"/>
            <a:ext cx="8229600" cy="3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1700"/>
          </a:p>
          <a:p>
            <a:pPr indent="0" lvl="0" marL="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1700"/>
          </a:p>
          <a:p>
            <a:pPr indent="0" lvl="0" marL="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1700"/>
          </a:p>
          <a:p>
            <a:pPr indent="0" lvl="0" marL="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1700"/>
          </a:p>
          <a:p>
            <a:pPr indent="0" lvl="0" marL="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1700"/>
          </a:p>
          <a:p>
            <a:pPr indent="-33655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b="0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1º avalia condição </a:t>
            </a:r>
            <a:endParaRPr sz="1700"/>
          </a:p>
          <a:p>
            <a:pPr indent="-33655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b="0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condição é verdadeira, executa comandos do bloco</a:t>
            </a:r>
            <a:endParaRPr sz="1700"/>
          </a:p>
          <a:p>
            <a:pPr indent="-33655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b="0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ao término do bloco, volta a avaliar condição</a:t>
            </a:r>
            <a:endParaRPr sz="1700"/>
          </a:p>
          <a:p>
            <a:pPr indent="-33655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b="0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repete o processo até que condição seja falsa</a:t>
            </a:r>
            <a:endParaRPr sz="1700"/>
          </a:p>
        </p:txBody>
      </p:sp>
      <p:sp>
        <p:nvSpPr>
          <p:cNvPr id="91" name="Google Shape;91;p18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0275" y="1296590"/>
            <a:ext cx="1581151" cy="1304926"/>
          </a:xfrm>
          <a:prstGeom prst="rect">
            <a:avLst/>
          </a:prstGeom>
          <a:noFill/>
          <a:ln>
            <a:noFill/>
          </a:ln>
          <a:effectLst>
            <a:outerShdw blurRad="63500" dir="2700000" dist="139700">
              <a:srgbClr val="333333">
                <a:alpha val="64709"/>
              </a:srgbClr>
            </a:outerShdw>
          </a:effectLst>
        </p:spPr>
      </p:pic>
      <p:pic>
        <p:nvPicPr>
          <p:cNvPr id="93" name="Google Shape;9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5225" y="1200173"/>
            <a:ext cx="2931675" cy="109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idx="4294967295"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Comando While</a:t>
            </a:r>
            <a:endParaRPr/>
          </a:p>
        </p:txBody>
      </p:sp>
      <p:sp>
        <p:nvSpPr>
          <p:cNvPr id="100" name="Google Shape;100;p19"/>
          <p:cNvSpPr txBox="1"/>
          <p:nvPr>
            <p:ph idx="4294967295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comando while que tem a seguinte forma geral: </a:t>
            </a:r>
            <a:endParaRPr sz="800"/>
          </a:p>
          <a:p>
            <a:pPr indent="0" lvl="1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seria equivalente a: </a:t>
            </a:r>
            <a:endParaRPr sz="1200"/>
          </a:p>
          <a:p>
            <a:pPr indent="0" lvl="1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800"/>
          </a:p>
        </p:txBody>
      </p:sp>
      <p:sp>
        <p:nvSpPr>
          <p:cNvPr id="101" name="Google Shape;101;p19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102" name="Google Shape;102;p19"/>
          <p:cNvPicPr preferRelativeResize="0"/>
          <p:nvPr/>
        </p:nvPicPr>
        <p:blipFill rotWithShape="1">
          <a:blip r:embed="rId3">
            <a:alphaModFix/>
          </a:blip>
          <a:srcRect b="13178" l="0" r="9747" t="9073"/>
          <a:stretch/>
        </p:blipFill>
        <p:spPr>
          <a:xfrm>
            <a:off x="933100" y="1626450"/>
            <a:ext cx="3261300" cy="97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7275" y="3091925"/>
            <a:ext cx="5157200" cy="121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idx="4294967295"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Leitura de caracteres</a:t>
            </a:r>
            <a:endParaRPr/>
          </a:p>
        </p:txBody>
      </p:sp>
      <p:sp>
        <p:nvSpPr>
          <p:cNvPr id="110" name="Google Shape;110;p20"/>
          <p:cNvSpPr txBox="1"/>
          <p:nvPr>
            <p:ph idx="4294967295" type="body"/>
          </p:nvPr>
        </p:nvSpPr>
        <p:spPr>
          <a:xfrm>
            <a:off x="457200" y="1229915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 ch;</a:t>
            </a:r>
            <a:endParaRPr sz="1100"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ch=getchar();	// lê o caracter, imprime e 	</a:t>
            </a:r>
            <a:endParaRPr sz="1100"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// espera pela tecla &lt;Enter&gt;</a:t>
            </a:r>
            <a:endParaRPr sz="1100"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ch=getche();		// lê o caracter, imprime e 	</a:t>
            </a:r>
            <a:endParaRPr sz="1100"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// </a:t>
            </a:r>
            <a:r>
              <a:rPr b="1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não</a:t>
            </a: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espera pela tecla &lt;Enter&gt;</a:t>
            </a:r>
            <a:endParaRPr sz="1100"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ch=getch();		// lê o caracter, </a:t>
            </a:r>
            <a:r>
              <a:rPr b="1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não</a:t>
            </a: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imprime e 	</a:t>
            </a:r>
            <a:endParaRPr sz="1100"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// </a:t>
            </a:r>
            <a:r>
              <a:rPr b="1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não</a:t>
            </a: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espera pela tecla &lt;Enter&gt;</a:t>
            </a:r>
            <a:endParaRPr sz="1100"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1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0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idx="4294967295"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 - Exercício</a:t>
            </a:r>
            <a:endParaRPr/>
          </a:p>
        </p:txBody>
      </p:sp>
      <p:sp>
        <p:nvSpPr>
          <p:cNvPr id="118" name="Google Shape;118;p21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395287" y="1285875"/>
            <a:ext cx="80850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0" i="0" lang="en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Crie um programa que continue lendo teclas 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até que 	a tecla “s” seja digitada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idx="4294967295"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 - Exemplo</a:t>
            </a:r>
            <a:endParaRPr/>
          </a:p>
        </p:txBody>
      </p:sp>
      <p:sp>
        <p:nvSpPr>
          <p:cNvPr id="126" name="Google Shape;126;p22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127" name="Google Shape;12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4950" y="1357990"/>
            <a:ext cx="5934075" cy="311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2"/>
          <p:cNvSpPr txBox="1"/>
          <p:nvPr/>
        </p:nvSpPr>
        <p:spPr>
          <a:xfrm>
            <a:off x="1604925" y="4416700"/>
            <a:ext cx="59340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Exemplo: </a:t>
            </a:r>
            <a:r>
              <a:rPr lang="en" u="sng">
                <a:solidFill>
                  <a:schemeClr val="hlink"/>
                </a:solidFill>
                <a:hlinkClick r:id="rId4"/>
              </a:rPr>
              <a:t>while_ates.c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idx="4294967295"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Comando Do-While</a:t>
            </a:r>
            <a:endParaRPr/>
          </a:p>
        </p:txBody>
      </p:sp>
      <p:sp>
        <p:nvSpPr>
          <p:cNvPr id="135" name="Google Shape;135;p23"/>
          <p:cNvSpPr txBox="1"/>
          <p:nvPr>
            <p:ph idx="4294967295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comando do-while que tem a seguinte forma geral: 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seria equivalente a: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6" name="Google Shape;136;p23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137" name="Google Shape;13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3725" y="1873875"/>
            <a:ext cx="3284250" cy="7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3725" y="3374750"/>
            <a:ext cx="7036593" cy="8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/>
          <p:nvPr>
            <p:ph idx="4294967295"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 While - Exercício</a:t>
            </a:r>
            <a:endParaRPr/>
          </a:p>
        </p:txBody>
      </p:sp>
      <p:sp>
        <p:nvSpPr>
          <p:cNvPr id="145" name="Google Shape;145;p24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46" name="Google Shape;146;p24"/>
          <p:cNvSpPr txBox="1"/>
          <p:nvPr/>
        </p:nvSpPr>
        <p:spPr>
          <a:xfrm>
            <a:off x="71437" y="1285875"/>
            <a:ext cx="88821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0" i="0" lang="en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Modifique o programa que continue lendo teclas 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até que 	a tecla “s” seja digitada usando do-while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idx="4294967295"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Exercícios</a:t>
            </a:r>
            <a:endParaRPr/>
          </a:p>
        </p:txBody>
      </p:sp>
      <p:sp>
        <p:nvSpPr>
          <p:cNvPr id="152" name="Google Shape;152;p25"/>
          <p:cNvSpPr txBox="1"/>
          <p:nvPr>
            <p:ph idx="4294967295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.1)	Elabore um programa que faça leitura de vários notas, até que se digite um número negativo. O programa tem que retornar a maior e a menor nota lida.</a:t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Entrada: sequencia de números inteiros.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Saída: maior e menor número da sequência.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5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54" name="Google Shape;154;p25"/>
          <p:cNvSpPr txBox="1"/>
          <p:nvPr/>
        </p:nvSpPr>
        <p:spPr>
          <a:xfrm>
            <a:off x="1015200" y="4594650"/>
            <a:ext cx="711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Submeter no runcodes: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https://runcodes.icmc.usp.br/offerings/view/83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idx="4294967295"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Exercícios</a:t>
            </a:r>
            <a:endParaRPr/>
          </a:p>
        </p:txBody>
      </p:sp>
      <p:sp>
        <p:nvSpPr>
          <p:cNvPr id="160" name="Google Shape;160;p26"/>
          <p:cNvSpPr txBox="1"/>
          <p:nvPr>
            <p:ph idx="4294967295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.2)		Crie um programa que lê as notas de uma determinada prova, até que seja digitada uma nota negativa :</a:t>
            </a:r>
            <a:endParaRPr sz="1200"/>
          </a:p>
          <a:p>
            <a:pPr indent="-495300" lvl="1" marL="9906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lphaLcParenR"/>
            </a:pPr>
            <a:r>
              <a:rPr b="0" i="0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 e escreva quantos alunos tiveram nota baixa (nota &lt; 5.0)</a:t>
            </a:r>
            <a:endParaRPr sz="800"/>
          </a:p>
          <a:p>
            <a:pPr indent="-495300" lvl="1" marL="9906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lphaLcParenR"/>
            </a:pPr>
            <a:r>
              <a:rPr b="0" i="0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 e escreva quantos alunos tiveram nota alta ( nota &gt;= 5.0)</a:t>
            </a:r>
            <a:endParaRPr sz="800"/>
          </a:p>
          <a:p>
            <a:pPr indent="-495300" lvl="1" marL="9906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lphaLcParenR"/>
            </a:pPr>
            <a:r>
              <a:rPr b="0" i="0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calcule a média geral</a:t>
            </a:r>
            <a:endParaRPr sz="800"/>
          </a:p>
          <a:p>
            <a:pPr indent="-495300" lvl="1" marL="9906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lphaLcParenR"/>
            </a:pPr>
            <a:r>
              <a:rPr b="0" i="0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calcule a porcentagem dos alunos que obtiveram nota maior ou igual a 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6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62" name="Google Shape;162;p26"/>
          <p:cNvSpPr txBox="1"/>
          <p:nvPr/>
        </p:nvSpPr>
        <p:spPr>
          <a:xfrm>
            <a:off x="1015200" y="4594650"/>
            <a:ext cx="711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Submeter no runcodes: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https://runcodes.icmc.usp.br/offerings/view/83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 txBox="1"/>
          <p:nvPr>
            <p:ph type="title"/>
          </p:nvPr>
        </p:nvSpPr>
        <p:spPr>
          <a:xfrm>
            <a:off x="457200" y="154483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Exercícios</a:t>
            </a:r>
            <a:endParaRPr/>
          </a:p>
        </p:txBody>
      </p:sp>
      <p:sp>
        <p:nvSpPr>
          <p:cNvPr id="168" name="Google Shape;168;p27"/>
          <p:cNvSpPr txBox="1"/>
          <p:nvPr>
            <p:ph idx="1" type="body"/>
          </p:nvPr>
        </p:nvSpPr>
        <p:spPr>
          <a:xfrm>
            <a:off x="457200" y="900113"/>
            <a:ext cx="8229600" cy="25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.3) Ler x e y (inteiros) e depois exibir a soma dos números de x a y. </a:t>
            </a:r>
            <a:endParaRPr/>
          </a:p>
          <a:p>
            <a:pPr indent="-514350" lvl="0" marL="51435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- y deve ser maior do que x</a:t>
            </a:r>
            <a:endParaRPr/>
          </a:p>
          <a:p>
            <a:pPr indent="-514350" lvl="0" marL="51435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- Incluir os valores de x e y na soma.</a:t>
            </a:r>
            <a:endParaRPr/>
          </a:p>
          <a:p>
            <a:pPr indent="-514350" lvl="0" marL="51435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51435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7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70" name="Google Shape;170;p27"/>
          <p:cNvSpPr txBox="1"/>
          <p:nvPr/>
        </p:nvSpPr>
        <p:spPr>
          <a:xfrm>
            <a:off x="1015200" y="4594650"/>
            <a:ext cx="711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Submeter no runcodes: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https://runcodes.icmc.usp.br/offerings/view/83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 txBox="1"/>
          <p:nvPr>
            <p:ph type="title"/>
          </p:nvPr>
        </p:nvSpPr>
        <p:spPr>
          <a:xfrm>
            <a:off x="457200" y="154483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Exercícios</a:t>
            </a:r>
            <a:endParaRPr/>
          </a:p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457200" y="900113"/>
            <a:ext cx="8229600" cy="25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.4)	Ler um ano inicial e um ano final e imprimir todos os anos bissextos desse intervalo em ordem crescente. </a:t>
            </a:r>
            <a:endParaRPr/>
          </a:p>
          <a:p>
            <a:pPr indent="-514350" lvl="0" marL="51435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Incluir o ano inicial e o ano final no intervalo.</a:t>
            </a:r>
            <a:endParaRPr/>
          </a:p>
          <a:p>
            <a:pPr indent="-311150" lvl="0" marL="51435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51435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8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78" name="Google Shape;178;p28"/>
          <p:cNvSpPr txBox="1"/>
          <p:nvPr/>
        </p:nvSpPr>
        <p:spPr>
          <a:xfrm>
            <a:off x="1015200" y="4594650"/>
            <a:ext cx="711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Submeter no runcodes: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https://runcodes.icmc.usp.br/offerings/view/83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SSC0501 - Introdução à Ciência de Computação I</a:t>
            </a:r>
            <a:endParaRPr/>
          </a:p>
        </p:txBody>
      </p:sp>
      <p:sp>
        <p:nvSpPr>
          <p:cNvPr id="184" name="Google Shape;184;p2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Obrigado pela atenção!!</a:t>
            </a:r>
            <a:endParaRPr/>
          </a:p>
        </p:txBody>
      </p:sp>
      <p:sp>
        <p:nvSpPr>
          <p:cNvPr id="185" name="Google Shape;185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