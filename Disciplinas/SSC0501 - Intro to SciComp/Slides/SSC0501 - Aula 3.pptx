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Tahoma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Tahoma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Tahoma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4472c416f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4472c416f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4472c416f_1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4472c416f_1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28dd7b17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28dd7b17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4472c416f_1_0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44472c416f_1_0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4472c416f_1_6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44472c416f_1_6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4472c416f_1_12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44472c416f_1_12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4472c416f_1_28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44472c416f_1_28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4472c416f_1_4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51" name="Google Shape;151;g344472c416f_1_46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" name="Google Shape;152;g344472c416f_1_46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4472c416f_1_5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59" name="Google Shape;159;g344472c416f_1_53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0" name="Google Shape;160;g344472c416f_1_53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472c416f_1_6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68" name="Google Shape;168;g344472c416f_1_60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9" name="Google Shape;169;g344472c416f_1_60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4472c416f_1_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77" name="Google Shape;177;g344472c416f_1_67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8" name="Google Shape;178;g344472c416f_1_67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472c416f_1_7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85" name="Google Shape;185;g344472c416f_1_74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6" name="Google Shape;186;g344472c416f_1_74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4472c416f_1_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94" name="Google Shape;194;g344472c416f_1_81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5" name="Google Shape;195;g344472c416f_1_81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4472c416f_1_8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03" name="Google Shape;203;g344472c416f_1_89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4" name="Google Shape;204;g344472c416f_1_89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4472c416f_1_9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12" name="Google Shape;212;g344472c416f_1_96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3" name="Google Shape;213;g344472c416f_1_96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4472c416f_1_1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21" name="Google Shape;221;g344472c416f_1_104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2" name="Google Shape;222;g344472c416f_1_104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4472c416f_1_11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30" name="Google Shape;230;g344472c416f_1_111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1" name="Google Shape;231;g344472c416f_1_111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4472c416f_1_11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39" name="Google Shape;239;g344472c416f_1_118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0" name="Google Shape;240;g344472c416f_1_118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4472c416f_1_12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48" name="Google Shape;248;g344472c416f_1_125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9" name="Google Shape;249;g344472c416f_1_125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4472c416f_1_34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56" name="Google Shape;256;g344472c416f_1_340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7" name="Google Shape;257;g344472c416f_1_340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4472c416f_1_132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44472c416f_1_132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4472c416f_1_144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44472c416f_1_144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4472c416f_1_150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44472c416f_1_150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4472c416f_1_156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44472c416f_1_156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28dd7b170_0_13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428dd7b170_0_13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4472c416f_1_16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302" name="Google Shape;302;g344472c416f_1_166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3" name="Google Shape;303;g344472c416f_1_166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4472c416f_1_17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312" name="Google Shape;312;g344472c416f_1_175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3" name="Google Shape;313;g344472c416f_1_175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44472c416f_1_18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320" name="Google Shape;320;g344472c416f_1_182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1" name="Google Shape;321;g344472c416f_1_182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4472c416f_1_189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44472c416f_1_189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28dd7b170_0_41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428dd7b170_0_41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4472c416f_1_195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44472c416f_1_195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4472c416f_1_207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44472c416f_1_207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e3d54357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e3d54357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28dd7b170_0_25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428dd7b170_0_25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28dd7b170_0_34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428dd7b170_0_34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5137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grazielleneves@usp.br" TargetMode="External"/><Relationship Id="rId4" Type="http://schemas.openxmlformats.org/officeDocument/2006/relationships/hyperlink" Target="mailto:matheus.m.santos@icmc.usp.br" TargetMode="External"/><Relationship Id="rId5" Type="http://schemas.openxmlformats.org/officeDocument/2006/relationships/hyperlink" Target="mailto:grazielleneves@usp.b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w3schools.com/c/index.ph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hyperlink" Target="https://drive.google.com/file/d/1vkOlijbCJHdO5zE_7tMxfzJ_34oY_8EI/view?usp=drive_link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hyperlink" Target="https://drive.google.com/file/d/1MT5V0WhmYjiW05wfotqBcMGmnb3W4Xqn/view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drive.google.com/file/d/1JBdokj2BCEny4rq3VDf-fiwMwFE5ghIu/view?usp=drive_link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file/d/1Mq_-eQqBLaVveYWfxbwus1SVT8MjtPLL/view?usp=drive_link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runcodes.icmc.usp.br/exercises/view/1112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runcodes.icmc.usp.br/exercises/view/1113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runcodes.icmc.usp.br/exercises/view/1113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runcodes.icmc.usp.br/exercises/view/1115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runcodes.icmc.usp.br/exercises/view/1114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runcodes.icmc.usp.br/exercises/view/1113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Bem Vindos!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/>
              <a:t>Monitora da disciplina:</a:t>
            </a:r>
            <a:r>
              <a:rPr lang="en"/>
              <a:t> Grazielle Tomaz Neves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Agendar atendimento com 24h de anteced</a:t>
            </a:r>
            <a:r>
              <a:rPr lang="en"/>
              <a:t>ência através do e-mail: </a:t>
            </a:r>
            <a:r>
              <a:rPr lang="en" u="sng">
                <a:solidFill>
                  <a:schemeClr val="hlink"/>
                </a:solidFill>
                <a:hlinkClick r:id="rId3"/>
              </a:rPr>
              <a:t>grazielleneves@usp.br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Dúvidas sobre trabalhos e exercícios, enviar e-mail para </a:t>
            </a:r>
            <a:r>
              <a:rPr lang="en">
                <a:solidFill>
                  <a:schemeClr val="dk1"/>
                </a:solidFill>
              </a:rPr>
              <a:t>Grazielle e para o Prof. Matheus.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Copiar a mensagem para os e-mail: </a:t>
            </a:r>
            <a:r>
              <a:rPr lang="en" u="sng">
                <a:solidFill>
                  <a:schemeClr val="hlink"/>
                </a:solidFill>
                <a:hlinkClick r:id="rId4"/>
              </a:rPr>
              <a:t>matheus.m.santos@icmc.usp.br</a:t>
            </a:r>
            <a:r>
              <a:rPr lang="en">
                <a:solidFill>
                  <a:schemeClr val="dk1"/>
                </a:solidFill>
              </a:rPr>
              <a:t> e </a:t>
            </a:r>
            <a:r>
              <a:rPr lang="en" u="sng">
                <a:solidFill>
                  <a:schemeClr val="hlink"/>
                </a:solidFill>
                <a:hlinkClick r:id="rId5"/>
              </a:rPr>
              <a:t>grazielleneves@usp.br</a:t>
            </a:r>
            <a:r>
              <a:rPr lang="en">
                <a:solidFill>
                  <a:schemeClr val="dk1"/>
                </a:solidFill>
              </a:rPr>
              <a:t>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Informes 2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online para práticar e aprender C:</a:t>
            </a:r>
            <a:b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https://www.w3schools.com/c/index.php</a:t>
            </a: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código é compilado e </a:t>
            </a: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executado</a:t>
            </a: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forma online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pode utilizar inclusive o celular para </a:t>
            </a: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praticar</a:t>
            </a: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Cronograma de Aula Atualizado</a:t>
            </a:r>
            <a:endParaRPr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5"/>
            <a:ext cx="4715550" cy="335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175" y="1215775"/>
            <a:ext cx="4014424" cy="3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de Controle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457200" y="900132"/>
            <a:ext cx="82296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SEQUENCIAL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CONDICIONAIS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 Simples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 Composta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entre duas ou mais Seqüências de Comandos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com Teste no Início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com Teste no Final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Contada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de Decisão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Classificados em três tipos: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Comando Condicional Simples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Comando Condicional Composto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entre duas ou mais seqüências de comandos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Comando Condicional Simples</a:t>
            </a:r>
            <a:endParaRPr/>
          </a:p>
        </p:txBody>
      </p:sp>
      <p:sp>
        <p:nvSpPr>
          <p:cNvPr id="118" name="Google Shape;118;p22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decisão que permite a escolha do grupo de ações a ser executado quando determinada condição é satisfeita.</a:t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3929062" y="3020615"/>
            <a:ext cx="1571625" cy="566737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condição</a:t>
            </a: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900"/>
          </a:p>
        </p:txBody>
      </p:sp>
      <p:cxnSp>
        <p:nvCxnSpPr>
          <p:cNvPr id="121" name="Google Shape;121;p22"/>
          <p:cNvCxnSpPr/>
          <p:nvPr/>
        </p:nvCxnSpPr>
        <p:spPr>
          <a:xfrm rot="5400000">
            <a:off x="4615062" y="2919300"/>
            <a:ext cx="2013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22" name="Google Shape;122;p22"/>
          <p:cNvCxnSpPr/>
          <p:nvPr/>
        </p:nvCxnSpPr>
        <p:spPr>
          <a:xfrm rot="5400000">
            <a:off x="4586774" y="4689074"/>
            <a:ext cx="2547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123" name="Google Shape;123;p22"/>
          <p:cNvSpPr/>
          <p:nvPr/>
        </p:nvSpPr>
        <p:spPr>
          <a:xfrm>
            <a:off x="4643437" y="4455319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2643187" y="3705225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 flipH="1">
            <a:off x="3357562" y="3303984"/>
            <a:ext cx="571500" cy="401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26" name="Google Shape;126;p22"/>
          <p:cNvCxnSpPr>
            <a:stCxn id="120" idx="3"/>
          </p:cNvCxnSpPr>
          <p:nvPr/>
        </p:nvCxnSpPr>
        <p:spPr>
          <a:xfrm flipH="1">
            <a:off x="4786387" y="3303984"/>
            <a:ext cx="714300" cy="1204800"/>
          </a:xfrm>
          <a:prstGeom prst="bentConnector4">
            <a:avLst>
              <a:gd fmla="val -33337" name="adj1"/>
              <a:gd fmla="val 61760" name="adj2"/>
            </a:avLst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27" name="Google Shape;127;p22"/>
          <p:cNvCxnSpPr>
            <a:stCxn id="124" idx="2"/>
          </p:cNvCxnSpPr>
          <p:nvPr/>
        </p:nvCxnSpPr>
        <p:spPr>
          <a:xfrm flipH="1" rot="-5400000">
            <a:off x="3828412" y="3693956"/>
            <a:ext cx="3441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128" name="Google Shape;128;p22"/>
          <p:cNvSpPr txBox="1"/>
          <p:nvPr/>
        </p:nvSpPr>
        <p:spPr>
          <a:xfrm>
            <a:off x="3298882" y="3020616"/>
            <a:ext cx="5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5541509" y="3028610"/>
            <a:ext cx="52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Comando Condicional Composto</a:t>
            </a:r>
            <a:endParaRPr/>
          </a:p>
        </p:txBody>
      </p:sp>
      <p:sp>
        <p:nvSpPr>
          <p:cNvPr id="135" name="Google Shape;135;p23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decisão que permite a escolha entre dois grupos de ações a serem executado dependendo de se uma condição é ou não satisfeita.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3929062" y="3192065"/>
            <a:ext cx="1571625" cy="566737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condição</a:t>
            </a: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900"/>
          </a:p>
        </p:txBody>
      </p:sp>
      <p:cxnSp>
        <p:nvCxnSpPr>
          <p:cNvPr id="138" name="Google Shape;138;p23"/>
          <p:cNvCxnSpPr/>
          <p:nvPr/>
        </p:nvCxnSpPr>
        <p:spPr>
          <a:xfrm rot="5400000">
            <a:off x="4615062" y="3090750"/>
            <a:ext cx="2013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39" name="Google Shape;139;p23"/>
          <p:cNvCxnSpPr/>
          <p:nvPr/>
        </p:nvCxnSpPr>
        <p:spPr>
          <a:xfrm rot="5400000">
            <a:off x="4586774" y="4860524"/>
            <a:ext cx="2547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140" name="Google Shape;140;p23"/>
          <p:cNvSpPr/>
          <p:nvPr/>
        </p:nvSpPr>
        <p:spPr>
          <a:xfrm>
            <a:off x="4643437" y="4626769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2643187" y="3876675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5429250" y="3876675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" name="Google Shape;143;p23"/>
          <p:cNvCxnSpPr/>
          <p:nvPr/>
        </p:nvCxnSpPr>
        <p:spPr>
          <a:xfrm flipH="1">
            <a:off x="3357562" y="3475434"/>
            <a:ext cx="571500" cy="401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44" name="Google Shape;144;p23"/>
          <p:cNvCxnSpPr/>
          <p:nvPr/>
        </p:nvCxnSpPr>
        <p:spPr>
          <a:xfrm>
            <a:off x="5500687" y="3475434"/>
            <a:ext cx="642900" cy="401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45" name="Google Shape;145;p23"/>
          <p:cNvCxnSpPr>
            <a:stCxn id="142" idx="2"/>
          </p:cNvCxnSpPr>
          <p:nvPr/>
        </p:nvCxnSpPr>
        <p:spPr>
          <a:xfrm rot="5400000">
            <a:off x="5292975" y="3829706"/>
            <a:ext cx="344100" cy="13572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46" name="Google Shape;146;p23"/>
          <p:cNvCxnSpPr>
            <a:stCxn id="141" idx="2"/>
          </p:cNvCxnSpPr>
          <p:nvPr/>
        </p:nvCxnSpPr>
        <p:spPr>
          <a:xfrm flipH="1" rot="-5400000">
            <a:off x="3828412" y="3865406"/>
            <a:ext cx="3441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147" name="Google Shape;147;p23"/>
          <p:cNvSpPr txBox="1"/>
          <p:nvPr/>
        </p:nvSpPr>
        <p:spPr>
          <a:xfrm>
            <a:off x="3429000" y="3200060"/>
            <a:ext cx="5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5572125" y="3200060"/>
            <a:ext cx="52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IF</a:t>
            </a:r>
            <a:endParaRPr/>
          </a:p>
        </p:txBody>
      </p:sp>
      <p:sp>
        <p:nvSpPr>
          <p:cNvPr id="155" name="Google Shape;155;p24"/>
          <p:cNvSpPr txBox="1"/>
          <p:nvPr>
            <p:ph idx="4294967295" type="body"/>
          </p:nvPr>
        </p:nvSpPr>
        <p:spPr>
          <a:xfrm>
            <a:off x="457200" y="1200150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1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 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expressão lógica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){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comando ou bloco de comandos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if ( num == 0 ){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		   printf("O numero digitado eh zero");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		}</a:t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- IF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913" y="991953"/>
            <a:ext cx="5642163" cy="377532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/>
        </p:nvSpPr>
        <p:spPr>
          <a:xfrm>
            <a:off x="2778400" y="4668948"/>
            <a:ext cx="3980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Código: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Exemplo if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IF-ELSE</a:t>
            </a:r>
            <a:endParaRPr/>
          </a:p>
        </p:txBody>
      </p:sp>
      <p:sp>
        <p:nvSpPr>
          <p:cNvPr id="172" name="Google Shape;172;p26"/>
          <p:cNvSpPr txBox="1"/>
          <p:nvPr>
            <p:ph idx="4294967295" type="body"/>
          </p:nvPr>
        </p:nvSpPr>
        <p:spPr>
          <a:xfrm>
            <a:off x="457200" y="1200150"/>
            <a:ext cx="8229600" cy="3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pensar no comando </a:t>
            </a:r>
            <a:r>
              <a:rPr b="1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como sendo um complemento do comando </a:t>
            </a:r>
            <a:r>
              <a:rPr b="1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 comando </a:t>
            </a:r>
            <a:r>
              <a:rPr b="1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completo tem a seguinte forma geral:</a:t>
            </a:r>
            <a:endParaRPr sz="1200"/>
          </a:p>
        </p:txBody>
      </p:sp>
      <p:sp>
        <p:nvSpPr>
          <p:cNvPr id="173" name="Google Shape;173;p26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750" y="2541113"/>
            <a:ext cx="456247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IF-ELSE</a:t>
            </a:r>
            <a:endParaRPr/>
          </a:p>
        </p:txBody>
      </p:sp>
      <p:sp>
        <p:nvSpPr>
          <p:cNvPr id="181" name="Google Shape;181;p27"/>
          <p:cNvSpPr txBox="1"/>
          <p:nvPr>
            <p:ph idx="4294967295" type="body"/>
          </p:nvPr>
        </p:nvSpPr>
        <p:spPr>
          <a:xfrm>
            <a:off x="457200" y="1200150"/>
            <a:ext cx="8229600" cy="3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b="0" i="0" lang="en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expressão da condição será avaliada:</a:t>
            </a:r>
            <a:endParaRPr sz="1700"/>
          </a:p>
          <a:p>
            <a:pPr indent="-2794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ela for </a:t>
            </a:r>
            <a:r>
              <a:rPr b="0" i="0" lang="en" sz="2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diferente de zero</a:t>
            </a: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b="0" i="0" lang="en" sz="2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seqüência_comandos_1 </a:t>
            </a: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será executada. </a:t>
            </a:r>
            <a:endParaRPr sz="1300"/>
          </a:p>
          <a:p>
            <a:pPr indent="-27940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for zero a </a:t>
            </a:r>
            <a:r>
              <a:rPr b="0" i="0" lang="en" sz="2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seqüência_comandos_2</a:t>
            </a: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será executada. </a:t>
            </a:r>
            <a:endParaRPr sz="1300"/>
          </a:p>
          <a:p>
            <a:pPr indent="-33655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b="0" i="0" lang="en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importante nunca esquecer que, quando usamos a estrutura </a:t>
            </a:r>
            <a:r>
              <a:rPr b="1" i="0" lang="en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estamos garantindo que uma das duas declarações será executada. </a:t>
            </a:r>
            <a:endParaRPr sz="1700"/>
          </a:p>
        </p:txBody>
      </p:sp>
      <p:sp>
        <p:nvSpPr>
          <p:cNvPr id="182" name="Google Shape;182;p27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IF – ELSE</a:t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450" y="968991"/>
            <a:ext cx="6215105" cy="377532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2778400" y="4668948"/>
            <a:ext cx="3980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Código: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Exemplo if else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Aninhamento de IF</a:t>
            </a:r>
            <a:endParaRPr/>
          </a:p>
        </p:txBody>
      </p:sp>
      <p:sp>
        <p:nvSpPr>
          <p:cNvPr id="198" name="Google Shape;198;p29"/>
          <p:cNvSpPr txBox="1"/>
          <p:nvPr>
            <p:ph idx="4294967295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0517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possível aninhar construções do tipo if-else em diversos níveis:</a:t>
            </a:r>
            <a:endParaRPr/>
          </a:p>
          <a:p>
            <a:pPr indent="-275272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aninhado é simplesmente um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da declaração de um outro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mais externo.</a:t>
            </a:r>
            <a:endParaRPr/>
          </a:p>
          <a:p>
            <a:pPr indent="-275272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único cuidado que devemos ter é o de saber exatamente a qual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determinado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está ligado.</a:t>
            </a:r>
            <a:endParaRPr/>
          </a:p>
        </p:txBody>
      </p:sp>
      <p:sp>
        <p:nvSpPr>
          <p:cNvPr id="199" name="Google Shape;199;p2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975" y="1215790"/>
            <a:ext cx="3597683" cy="339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Aninhamento de IF</a:t>
            </a:r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400" y="991953"/>
            <a:ext cx="5395206" cy="377532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2778400" y="4668948"/>
            <a:ext cx="3980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Código: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Exemplo alinhamneto if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Aninhamento de IF’s</a:t>
            </a:r>
            <a:endParaRPr/>
          </a:p>
        </p:txBody>
      </p:sp>
      <p:sp>
        <p:nvSpPr>
          <p:cNvPr id="216" name="Google Shape;216;p31"/>
          <p:cNvSpPr txBox="1"/>
          <p:nvPr>
            <p:ph idx="4294967295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sempre a correspondência entre </a:t>
            </a:r>
            <a:r>
              <a:rPr b="0" i="1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if’s</a:t>
            </a: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1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else’s</a:t>
            </a:r>
            <a:endParaRPr sz="1300"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" sz="2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que neste caso, a definição de um bloco de comandos garante a correta interpretação do aninhamento dos comandos</a:t>
            </a:r>
            <a:endParaRPr sz="1300"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825" y="1215790"/>
            <a:ext cx="2860205" cy="339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Encadeamento IF-ELSE-IF</a:t>
            </a:r>
            <a:endParaRPr/>
          </a:p>
        </p:txBody>
      </p:sp>
      <p:sp>
        <p:nvSpPr>
          <p:cNvPr id="225" name="Google Shape;225;p32"/>
          <p:cNvSpPr txBox="1"/>
          <p:nvPr>
            <p:ph idx="4294967295" type="body"/>
          </p:nvPr>
        </p:nvSpPr>
        <p:spPr>
          <a:xfrm>
            <a:off x="457200" y="3758125"/>
            <a:ext cx="82296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encadeamento apenas um dos </a:t>
            </a:r>
            <a:r>
              <a:rPr b="0" i="1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comandos será executado: o primeiro cujo teste for verdadeiro</a:t>
            </a:r>
            <a:endParaRPr sz="1600"/>
          </a:p>
        </p:txBody>
      </p:sp>
      <p:sp>
        <p:nvSpPr>
          <p:cNvPr id="226" name="Google Shape;226;p3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1491590"/>
            <a:ext cx="52101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Encadeamento IF-ELSE-IF</a:t>
            </a:r>
            <a:endParaRPr/>
          </a:p>
        </p:txBody>
      </p:sp>
      <p:sp>
        <p:nvSpPr>
          <p:cNvPr id="234" name="Google Shape;234;p33"/>
          <p:cNvSpPr txBox="1"/>
          <p:nvPr>
            <p:ph idx="4294967295" type="body"/>
          </p:nvPr>
        </p:nvSpPr>
        <p:spPr>
          <a:xfrm>
            <a:off x="457200" y="1200150"/>
            <a:ext cx="8229600" cy="3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estrutura </a:t>
            </a:r>
            <a:r>
              <a:rPr b="1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if-else-if</a:t>
            </a: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apenas uma extensão da estrutura </a:t>
            </a:r>
            <a:r>
              <a:rPr b="1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if-else</a:t>
            </a: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Sua forma geral é: </a:t>
            </a:r>
            <a:endParaRPr sz="1100"/>
          </a:p>
        </p:txBody>
      </p:sp>
      <p:sp>
        <p:nvSpPr>
          <p:cNvPr id="235" name="Google Shape;235;p3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484" y="1760421"/>
            <a:ext cx="3907026" cy="30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ELSE-IF</a:t>
            </a:r>
            <a:endParaRPr/>
          </a:p>
        </p:txBody>
      </p:sp>
      <p:sp>
        <p:nvSpPr>
          <p:cNvPr id="243" name="Google Shape;243;p3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44" name="Google Shape;2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324" y="1063375"/>
            <a:ext cx="5371351" cy="349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 txBox="1"/>
          <p:nvPr/>
        </p:nvSpPr>
        <p:spPr>
          <a:xfrm>
            <a:off x="2581950" y="4478573"/>
            <a:ext cx="3980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Código: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Exemplo else if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Encadeamento IF-ELSE-IF</a:t>
            </a:r>
            <a:endParaRPr/>
          </a:p>
        </p:txBody>
      </p:sp>
      <p:sp>
        <p:nvSpPr>
          <p:cNvPr id="252" name="Google Shape;252;p35"/>
          <p:cNvSpPr txBox="1"/>
          <p:nvPr>
            <p:ph idx="4294967295" type="body"/>
          </p:nvPr>
        </p:nvSpPr>
        <p:spPr>
          <a:xfrm>
            <a:off x="744537" y="1032272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escrever o nome de um dígito ‘0’→“zero”, ‘1’→“um”, etc.</a:t>
            </a:r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Encadeamento IF-ELSE-IF</a:t>
            </a:r>
            <a:endParaRPr/>
          </a:p>
        </p:txBody>
      </p:sp>
      <p:sp>
        <p:nvSpPr>
          <p:cNvPr id="260" name="Google Shape;260;p36"/>
          <p:cNvSpPr txBox="1"/>
          <p:nvPr>
            <p:ph idx="4294967295" type="body"/>
          </p:nvPr>
        </p:nvSpPr>
        <p:spPr>
          <a:xfrm>
            <a:off x="744537" y="1032272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escrever o nome de um dígito ‘0’→“zero”, ‘1’→“um”, etc.</a:t>
            </a:r>
            <a:endParaRPr/>
          </a:p>
        </p:txBody>
      </p:sp>
      <p:sp>
        <p:nvSpPr>
          <p:cNvPr id="261" name="Google Shape;261;p36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62" name="Google Shape;2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975" y="2228350"/>
            <a:ext cx="55340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268" name="Google Shape;268;p37"/>
          <p:cNvSpPr txBox="1"/>
          <p:nvPr>
            <p:ph idx="4294967295" type="body"/>
          </p:nvPr>
        </p:nvSpPr>
        <p:spPr>
          <a:xfrm>
            <a:off x="357187" y="1178719"/>
            <a:ext cx="8501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.1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Leia a distância em Km e a quantidade de litros de gasolina consumidos por um carro em um percurso, calcule o consumo em Km/l e escreva uma mensagem de acordo com a tabela abaixo:</a:t>
            </a:r>
            <a:endParaRPr sz="10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CONSUMO (Km/l) MENSAGEM</a:t>
            </a:r>
            <a:endParaRPr sz="10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menor que 8 	Venda o carro!</a:t>
            </a:r>
            <a:endParaRPr sz="10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entre 8 e 12 	Econômico!</a:t>
            </a:r>
            <a:endParaRPr sz="10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maior que 12 	Super econômico!</a:t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0" name="Google Shape;270;p37"/>
          <p:cNvSpPr txBox="1"/>
          <p:nvPr/>
        </p:nvSpPr>
        <p:spPr>
          <a:xfrm>
            <a:off x="357175" y="4604355"/>
            <a:ext cx="79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Submeter no runcodes: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https://runcodes.icmc.usp.br/exercises/view/1112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276" name="Google Shape;276;p38"/>
          <p:cNvSpPr txBox="1"/>
          <p:nvPr>
            <p:ph idx="4294967295" type="body"/>
          </p:nvPr>
        </p:nvSpPr>
        <p:spPr>
          <a:xfrm>
            <a:off x="357187" y="1178719"/>
            <a:ext cx="8501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nforme se um dado ano é ou não bissexto. Obs: um ano é bissexto se ele for divisível por 400 ou se ele for divisível por 4 e</a:t>
            </a: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por 100.</a:t>
            </a:r>
            <a:endParaRPr sz="1300"/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7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Obs: &amp;&amp; -&gt; E    lógico</a:t>
            </a:r>
            <a:endParaRPr sz="1300"/>
          </a:p>
          <a:p>
            <a:pPr indent="-514350" lvl="2" marL="13144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||   -&gt; OU lógico</a:t>
            </a:r>
            <a:endParaRPr sz="900"/>
          </a:p>
        </p:txBody>
      </p:sp>
      <p:sp>
        <p:nvSpPr>
          <p:cNvPr id="277" name="Google Shape;277;p3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8" name="Google Shape;278;p38"/>
          <p:cNvSpPr txBox="1"/>
          <p:nvPr/>
        </p:nvSpPr>
        <p:spPr>
          <a:xfrm>
            <a:off x="357175" y="4604355"/>
            <a:ext cx="79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Submeter no runcodes: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https://runcodes.icmc.usp.br/exercises/view/1113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284" name="Google Shape;284;p39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Escrever um programa que leia 3 valores inteiros A, B e C distintos, e os escreva em ordem crescente. Se n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ão forem distintos, informe que não são.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86" name="Google Shape;286;p39"/>
          <p:cNvSpPr txBox="1"/>
          <p:nvPr/>
        </p:nvSpPr>
        <p:spPr>
          <a:xfrm>
            <a:off x="357175" y="4604355"/>
            <a:ext cx="79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Submeter no runcodes: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https://runcodes.icmc.usp.br/exercises/view/1113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297" name="Google Shape;297;p41"/>
          <p:cNvSpPr txBox="1"/>
          <p:nvPr>
            <p:ph idx="4294967295" type="body"/>
          </p:nvPr>
        </p:nvSpPr>
        <p:spPr>
          <a:xfrm>
            <a:off x="457200" y="1200150"/>
            <a:ext cx="82296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3.4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Dado as medidas dos 3 lados de um triângulo, e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labore um programa que </a:t>
            </a: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verifique se os lados informados podem formar um triângulo válido. O programa deve exibir "Triangulo Valido" ou "Triangulo Invalido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99" name="Google Shape;299;p41"/>
          <p:cNvSpPr txBox="1"/>
          <p:nvPr/>
        </p:nvSpPr>
        <p:spPr>
          <a:xfrm>
            <a:off x="357175" y="4604355"/>
            <a:ext cx="79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Submeter no runcodes: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https://runcodes.icmc.usp.br/exercises/view/1115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Switch</a:t>
            </a:r>
            <a:endParaRPr/>
          </a:p>
        </p:txBody>
      </p:sp>
      <p:sp>
        <p:nvSpPr>
          <p:cNvPr id="306" name="Google Shape;306;p4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07" name="Google Shape;30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7462" y="1225153"/>
            <a:ext cx="2419350" cy="2114549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09"/>
              </a:srgbClr>
            </a:outerShdw>
          </a:effectLst>
        </p:spPr>
      </p:pic>
      <p:sp>
        <p:nvSpPr>
          <p:cNvPr id="308" name="Google Shape;308;p42"/>
          <p:cNvSpPr txBox="1"/>
          <p:nvPr/>
        </p:nvSpPr>
        <p:spPr>
          <a:xfrm>
            <a:off x="4060875" y="3574950"/>
            <a:ext cx="4949700" cy="1086600"/>
          </a:xfrm>
          <a:prstGeom prst="rect">
            <a:avLst/>
          </a:prstGeom>
          <a:gradFill>
            <a:gsLst>
              <a:gs pos="0">
                <a:srgbClr val="DAFDA7"/>
              </a:gs>
              <a:gs pos="35000">
                <a:srgbClr val="E4FDC2"/>
              </a:gs>
              <a:gs pos="100000">
                <a:srgbClr val="F5FFE6"/>
              </a:gs>
            </a:gsLst>
            <a:lin ang="16200038" scaled="0"/>
          </a:gradFill>
          <a:ln cap="flat" cmpd="sng" w="9525">
            <a:solidFill>
              <a:srgbClr val="98B95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0" lang="en" sz="2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 </a:t>
            </a:r>
            <a:r>
              <a:rPr b="1" i="0" lang="en" sz="2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" sz="2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é próprio para se testar uma variável em relação  a diversos valores pré-estabelecidos. </a:t>
            </a:r>
            <a:endParaRPr/>
          </a:p>
        </p:txBody>
      </p:sp>
      <p:pic>
        <p:nvPicPr>
          <p:cNvPr id="309" name="Google Shape;30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600" y="1339975"/>
            <a:ext cx="3214700" cy="30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Switch</a:t>
            </a:r>
            <a:endParaRPr/>
          </a:p>
        </p:txBody>
      </p:sp>
      <p:sp>
        <p:nvSpPr>
          <p:cNvPr id="316" name="Google Shape;316;p43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expressão </a:t>
            </a:r>
            <a:r>
              <a:rPr b="0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valor1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avaliada e o valor obtido é comparado com os valores associados às cláusulas </a:t>
            </a:r>
            <a:r>
              <a:rPr b="0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seqüência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o valor associado a uma cláusula é igual ao valor do </a:t>
            </a:r>
            <a:r>
              <a:rPr b="1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respectivos comandos são executados até encontrar um </a:t>
            </a:r>
            <a:r>
              <a:rPr b="1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b="1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não existir um </a:t>
            </a:r>
            <a:r>
              <a:rPr b="1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1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cláusula selecionada, os comandos das cláusulas seguintes são executados em ordem até encontrar um </a:t>
            </a:r>
            <a:r>
              <a:rPr b="1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1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esgotarem-se as cláusulas do </a:t>
            </a:r>
            <a:r>
              <a:rPr b="1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1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nenhuma das cláusulas contém o valor de seleção, a cláusula </a:t>
            </a:r>
            <a:r>
              <a:rPr b="1" i="1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 existir, é executada</a:t>
            </a:r>
            <a:endParaRPr/>
          </a:p>
        </p:txBody>
      </p:sp>
      <p:sp>
        <p:nvSpPr>
          <p:cNvPr id="317" name="Google Shape;317;p4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Switch</a:t>
            </a:r>
            <a:endParaRPr/>
          </a:p>
        </p:txBody>
      </p:sp>
      <p:sp>
        <p:nvSpPr>
          <p:cNvPr id="324" name="Google Shape;324;p44"/>
          <p:cNvSpPr txBox="1"/>
          <p:nvPr>
            <p:ph idx="4294967295" type="body"/>
          </p:nvPr>
        </p:nvSpPr>
        <p:spPr>
          <a:xfrm>
            <a:off x="457200" y="971550"/>
            <a:ext cx="8229600" cy="4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operacao ) {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200" u="none">
                <a:solidFill>
                  <a:srgbClr val="8064A2"/>
                </a:solidFill>
                <a:latin typeface="Calibri"/>
                <a:ea typeface="Calibri"/>
                <a:cs typeface="Calibri"/>
                <a:sym typeface="Calibri"/>
              </a:rPr>
              <a:t>‘+'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printf(</a:t>
            </a:r>
            <a:r>
              <a:rPr b="0" i="0" lang="en" sz="2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“Mais.\n"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200" u="none">
                <a:solidFill>
                  <a:srgbClr val="8064A2"/>
                </a:solidFill>
                <a:latin typeface="Calibri"/>
                <a:ea typeface="Calibri"/>
                <a:cs typeface="Calibri"/>
                <a:sym typeface="Calibri"/>
              </a:rPr>
              <a:t>‘-'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printf(</a:t>
            </a:r>
            <a:r>
              <a:rPr b="0" i="0" lang="en" sz="2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“Menos.\n"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200" u="none">
                <a:solidFill>
                  <a:srgbClr val="8064A2"/>
                </a:solidFill>
                <a:latin typeface="Calibri"/>
                <a:ea typeface="Calibri"/>
                <a:cs typeface="Calibri"/>
                <a:sym typeface="Calibri"/>
              </a:rPr>
              <a:t>‘*'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printf(</a:t>
            </a:r>
            <a:r>
              <a:rPr b="0" i="0" lang="en" sz="2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“Vezes.\n"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200" u="none">
                <a:solidFill>
                  <a:srgbClr val="8064A2"/>
                </a:solidFill>
                <a:latin typeface="Calibri"/>
                <a:ea typeface="Calibri"/>
                <a:cs typeface="Calibri"/>
                <a:sym typeface="Calibri"/>
              </a:rPr>
              <a:t>‘/'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printf(</a:t>
            </a:r>
            <a:r>
              <a:rPr b="0" i="0" lang="en" sz="2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“Dividido.\n"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printf(</a:t>
            </a:r>
            <a:r>
              <a:rPr b="0" i="0" lang="en" sz="2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"Nao e operacao.\n"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600"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600"/>
          </a:p>
        </p:txBody>
      </p:sp>
      <p:sp>
        <p:nvSpPr>
          <p:cNvPr id="325" name="Google Shape;325;p4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31" name="Google Shape;331;p45"/>
          <p:cNvSpPr txBox="1"/>
          <p:nvPr>
            <p:ph idx="1" type="body"/>
          </p:nvPr>
        </p:nvSpPr>
        <p:spPr>
          <a:xfrm>
            <a:off x="457200" y="900132"/>
            <a:ext cx="8229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Faça um programa que simule uma calculadora básica, provendo a leitura de </a:t>
            </a: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b="0" i="0" lang="en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valores inteiros, seguido da operação.</a:t>
            </a:r>
            <a:endParaRPr sz="1500"/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500"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500"/>
          </a:p>
        </p:txBody>
      </p:sp>
      <p:sp>
        <p:nvSpPr>
          <p:cNvPr id="332" name="Google Shape;332;p45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3" name="Google Shape;333;p45"/>
          <p:cNvSpPr txBox="1"/>
          <p:nvPr/>
        </p:nvSpPr>
        <p:spPr>
          <a:xfrm>
            <a:off x="357175" y="4604355"/>
            <a:ext cx="79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Submeter no runcodes: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https://runcodes.icmc.usp.br/exercises/view/1114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39" name="Google Shape;339;p46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Escrever um programa que leia 3 valores inteiros A, B e C distintos, e os escreva em ordem crescente. Se n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ão forem distintos, informe que não são.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41" name="Google Shape;341;p46"/>
          <p:cNvSpPr txBox="1"/>
          <p:nvPr/>
        </p:nvSpPr>
        <p:spPr>
          <a:xfrm>
            <a:off x="357175" y="4604355"/>
            <a:ext cx="79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Submeter no runcodes: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https://runcodes.icmc.usp.br/exercises/view/1113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47" name="Google Shape;347;p47"/>
          <p:cNvSpPr txBox="1"/>
          <p:nvPr>
            <p:ph idx="4294967295" type="body"/>
          </p:nvPr>
        </p:nvSpPr>
        <p:spPr>
          <a:xfrm>
            <a:off x="357187" y="1178719"/>
            <a:ext cx="8501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 Faça um programa que leia uma data qualquer (dia, mês e ano) e calcule a data do próximo dia. Considerar que fevereiro tem 28 dias.</a:t>
            </a:r>
            <a:endParaRPr/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54" name="Google Shape;354;p48"/>
          <p:cNvSpPr txBox="1"/>
          <p:nvPr>
            <p:ph idx="4294967295" type="body"/>
          </p:nvPr>
        </p:nvSpPr>
        <p:spPr>
          <a:xfrm>
            <a:off x="357187" y="1178719"/>
            <a:ext cx="8401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3.7)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Ler 4 números inteiros e calcular a soma dos que forem par.</a:t>
            </a:r>
            <a:endParaRPr sz="1400"/>
          </a:p>
        </p:txBody>
      </p:sp>
      <p:sp>
        <p:nvSpPr>
          <p:cNvPr id="355" name="Google Shape;355;p4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361" name="Google Shape;361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 pela atenção!!</a:t>
            </a:r>
            <a:endParaRPr/>
          </a:p>
        </p:txBody>
      </p:sp>
      <p:sp>
        <p:nvSpPr>
          <p:cNvPr id="362" name="Google Shape;36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68" name="Google Shape;368;p50"/>
          <p:cNvSpPr txBox="1"/>
          <p:nvPr>
            <p:ph idx="4294967295" type="body"/>
          </p:nvPr>
        </p:nvSpPr>
        <p:spPr>
          <a:xfrm>
            <a:off x="457200" y="1200150"/>
            <a:ext cx="82296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3.4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Dado as medidas dos 3 lados de um triângulo, elabore um programa que imprima qual é o tipo do triângulo. </a:t>
            </a:r>
            <a:endParaRPr sz="1300"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 que: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Equilátero: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todos os lados iguais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Isósceles: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dois lados iguais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Escaleno: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todos os lados diferentes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Inválido: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não formar um triângulo válido (em um triângulo valido a soma de dois lados deve ser maior que o terceiro)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5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1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375" name="Google Shape;375;p51"/>
          <p:cNvSpPr txBox="1"/>
          <p:nvPr>
            <p:ph idx="4294967295" type="body"/>
          </p:nvPr>
        </p:nvSpPr>
        <p:spPr>
          <a:xfrm>
            <a:off x="357175" y="1178726"/>
            <a:ext cx="8501100" cy="38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3.8) </a:t>
            </a: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aluno da disciplina X é considerado aprovado se sua</a:t>
            </a: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média final for maior ou igual a 6. A média final é calculada como: 70% da média aritmética das duas maiores notas de provas, de um total de 3 provas + 30% da média aritmética das notas de 2 exercícios.</a:t>
            </a:r>
            <a:b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O programa deve informar</a:t>
            </a:r>
            <a:b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a) quais são as duas maiores notas de provas</a:t>
            </a:r>
            <a:b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b) se o aluno foi aprovado ou não</a:t>
            </a:r>
            <a:b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c) a média final do aluno</a:t>
            </a:r>
            <a:endParaRPr sz="1600"/>
          </a:p>
          <a:p>
            <a:pPr indent="-3619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