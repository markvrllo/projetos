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f33ca397b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f33ca397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f33ca397b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f33ca397b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f33ca397b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f33ca397b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f33ca397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f33ca397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f33ca397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f33ca397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f33ca397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f33ca397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f33ca397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f33ca397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f33ca397b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f33ca397b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f33ca397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f33ca397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f33ca397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f33ca397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f33ca397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f33ca397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f33ca397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f33ca397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f33ca397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f33ca397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3d543570a_0_11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e3d543570a_0_11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f33ca397b_0_197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3f33ca397b_0_197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f33ca397b_0_545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3f33ca397b_0_545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f33ca397b_0_191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3f33ca397b_0_191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f33ca397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3f33ca397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f33ca397b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3f33ca397b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f33ca397b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f33ca397b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f33ca397b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3f33ca397b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f33ca397b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f33ca397b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f33ca397b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f33ca397b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3f33ca397b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3f33ca397b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3f33ca397b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3f33ca397b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e3d543570a_0_17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2e3d543570a_0_17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e3d543570a_0_23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2e3d543570a_0_23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e3d543570a_0_35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2e3d543570a_0_35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e3d543570a_0_58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2e3d543570a_0_58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3d543570a_0_92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2e3d543570a_0_92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e3d543570a_0_124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2e3d543570a_0_124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3d543570a_0_143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2e3d543570a_0_143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e3d543570a_0_162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2e3d543570a_0_162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e3d543570a_0_177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2e3d543570a_0_177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e3d543570a_0_211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2e3d543570a_0_211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e3d543570a_0_254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2e3d543570a_0_254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e3d543570a_0_259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2e3d543570a_0_259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3f33ca397b_0_246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3f33ca397b_0_246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e3d543570a_0_265:notes"/>
          <p:cNvSpPr txBox="1"/>
          <p:nvPr/>
        </p:nvSpPr>
        <p:spPr>
          <a:xfrm>
            <a:off x="3885615" y="8687914"/>
            <a:ext cx="2972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0" name="Google Shape;710;g2e3d543570a_0_265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11" name="Google Shape;711;g2e3d543570a_0_265:notes"/>
          <p:cNvSpPr txBox="1"/>
          <p:nvPr>
            <p:ph idx="1" type="body"/>
          </p:nvPr>
        </p:nvSpPr>
        <p:spPr>
          <a:xfrm>
            <a:off x="913216" y="4343222"/>
            <a:ext cx="50316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e3d543570a_0_291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1) </a:t>
            </a:r>
            <a:r>
              <a:rPr b="1" lang="en">
                <a:solidFill>
                  <a:schemeClr val="dk1"/>
                </a:solidFill>
              </a:rPr>
              <a:t>Ler cuidadosamente a especificação do problema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leitura detalhada do problema é fundamental para evitar interpretações erradas e garantir que todos os requisitos sejam considerados.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Deve-se identificar as restrições, condições especiais e critérios de sucesso para a solução.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2) Levantar e analisar todas as saídas exigidas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Definir claramente quais são os resultados esperados.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Determinar o formato e tipo de dado das saídas (ex.: números inteiros, listas, gráficos, etc.).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Identificar como a saída será apresentada ao usuário.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3) Levantar e analisar todas as entradas citadas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Identificar os dados que serão fornecidos pelo usuário ou por outra parte do sistema.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Analisar se há restrições sobre os valores de entrada (ex.: apenas números positivos, textos de tamanho limitado, etc.).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Verificar a necessidade de validação das entradas para evitar erros no processamento.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2e3d543570a_0_291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3d543570a_0_296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4) Verificar a necessidade de gerar valores internamente e definir variáveis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Alguns algoritmos exigem variáveis auxiliares para armazenar resultados intermediários.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Definir os valores iniciais de cada variável para evitar comportamento inesperado.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Avaliar se há necessidade de estruturas de dados como listas, pilhas ou filas para organizar os valores internos.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5) Levantar e analisar todas as operações e transformações necessárias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Identificar quais cálculos e manipulações de dados serão necessários para transformar as entradas nas saídas desejadas.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Definir a lógica de processamento, como laços de repetição, condições e chamadas a funções auxiliares.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Escolher as melhores estruturas de dados e técnicas para garantir eficiência e clareza.</a:t>
            </a:r>
            <a:endParaRPr/>
          </a:p>
        </p:txBody>
      </p:sp>
      <p:sp>
        <p:nvSpPr>
          <p:cNvPr id="725" name="Google Shape;725;g2e3d543570a_0_296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e3d543570a_0_301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6) Testar cada passo do algoritmo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Verificar se cada transformação intermediária está produzindo os resultados corretos.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Utilizar valores de teste previsíveis para conferir se o algoritmo se comporta conforme esperado.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Considerar casos extremos e entradas inválidas para garantir robustez.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7) Reavaliar e integrar as partes do algoritmo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Após testar partes individuais, montar a versão final do algoritmo.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Reavaliar a clareza e a eficiência do código.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Caso necessário, refatorar o algoritmo para torná-lo mais eficiente e legível.</a:t>
            </a:r>
            <a:endParaRPr/>
          </a:p>
        </p:txBody>
      </p:sp>
      <p:sp>
        <p:nvSpPr>
          <p:cNvPr id="732" name="Google Shape;732;g2e3d543570a_0_301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e3d543570a_0_306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2e3d543570a_0_306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e3d543570a_0_312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2e3d543570a_0_312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e3d543570a_0_318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2e3d543570a_0_318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e3d543570a_0_324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2e3d543570a_0_324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e3d543570a_0_331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2e3d543570a_0_331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e3d543570a_0_338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2e3d543570a_0_338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e3d543570a_0_344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2e3d543570a_0_344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3f33ca397b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3f33ca397b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e3d543570a_0_362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2e3d543570a_0_362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e3d543570a_0_368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2e3d543570a_0_368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e3d543570a_0_417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2e3d543570a_0_417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e3d543570a_0_423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50" name="Google Shape;850;g2e3d543570a_0_423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2e3d543570a_0_423:notes"/>
          <p:cNvSpPr txBox="1"/>
          <p:nvPr/>
        </p:nvSpPr>
        <p:spPr>
          <a:xfrm>
            <a:off x="3883998" y="8684971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e3d543570a_0_430:notes"/>
          <p:cNvSpPr txBox="1"/>
          <p:nvPr>
            <p:ph idx="1" type="body"/>
          </p:nvPr>
        </p:nvSpPr>
        <p:spPr>
          <a:xfrm>
            <a:off x="685316" y="4343222"/>
            <a:ext cx="54873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2e3d543570a_0_430:notes"/>
          <p:cNvSpPr/>
          <p:nvPr>
            <p:ph idx="2" type="sldImg"/>
          </p:nvPr>
        </p:nvSpPr>
        <p:spPr>
          <a:xfrm>
            <a:off x="81096" y="685617"/>
            <a:ext cx="66957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e3d54357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e3d54357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5137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matheus.m.santos@icmc.usp.br" TargetMode="External"/><Relationship Id="rId4" Type="http://schemas.openxmlformats.org/officeDocument/2006/relationships/hyperlink" Target="https://calendar.app.google/3tVdFLZSqYNmj6qv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disciplinas.usp.br/course/view.php?id=125886" TargetMode="External"/><Relationship Id="rId4" Type="http://schemas.openxmlformats.org/officeDocument/2006/relationships/hyperlink" Target="https://edisciplinas.usp.br/enrol/index.php?id=12657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icmc.usp.br/institucional/estrutura-administrativa/sti/servicos" TargetMode="External"/><Relationship Id="rId4" Type="http://schemas.openxmlformats.org/officeDocument/2006/relationships/hyperlink" Target="mailto:atendimento@icmc.usp.b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Prof. Matheus Machado dos Santos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Emial: </a:t>
            </a:r>
            <a:r>
              <a:rPr lang="en" u="sng">
                <a:solidFill>
                  <a:schemeClr val="hlink"/>
                </a:solidFill>
                <a:hlinkClick r:id="rId3"/>
              </a:rPr>
              <a:t>matheus.m.santos@icmc.usp.br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Atendimentos: terças-feiras das </a:t>
            </a:r>
            <a:r>
              <a:rPr lang="en"/>
              <a:t>18h</a:t>
            </a:r>
            <a:r>
              <a:rPr lang="en"/>
              <a:t> </a:t>
            </a:r>
            <a:r>
              <a:rPr lang="en"/>
              <a:t>às</a:t>
            </a:r>
            <a:r>
              <a:rPr lang="en"/>
              <a:t> 20h.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Agendamento de atendimento por e-mail ou google calendar (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Disciplinas alinhadas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SSC0501 Introdução à Ciência de Computação I - </a:t>
            </a:r>
            <a:br>
              <a:rPr lang="en" sz="1700"/>
            </a:br>
            <a:r>
              <a:rPr lang="en" sz="1700"/>
              <a:t>Professor Matheus Machado. (Esta disciplina)</a:t>
            </a:r>
            <a:br>
              <a:rPr lang="en" sz="1700"/>
            </a:br>
            <a:r>
              <a:rPr lang="en" sz="1700" u="sng">
                <a:solidFill>
                  <a:schemeClr val="hlink"/>
                </a:solidFill>
                <a:hlinkClick r:id="rId3"/>
              </a:rPr>
              <a:t>https://edisciplinas.usp.br/course/view.php?id=125886</a:t>
            </a:r>
            <a:r>
              <a:rPr lang="en" sz="1700"/>
              <a:t>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SSC0502 Laboratório de Introdução à Ciência da Computação I - </a:t>
            </a:r>
            <a:br>
              <a:rPr lang="en" sz="1700"/>
            </a:br>
            <a:r>
              <a:rPr lang="en" sz="1700"/>
              <a:t>Professor Danilo Hernane Spatti</a:t>
            </a:r>
            <a:br>
              <a:rPr lang="en" sz="1700"/>
            </a:br>
            <a:r>
              <a:rPr lang="en" sz="1700" u="sng">
                <a:solidFill>
                  <a:schemeClr val="hlink"/>
                </a:solidFill>
                <a:hlinkClick r:id="rId4"/>
              </a:rPr>
              <a:t>https://edisciplinas.usp.br/enrol/index.php?id=126578</a:t>
            </a:r>
            <a:r>
              <a:rPr lang="en" sz="1700"/>
              <a:t> </a:t>
            </a:r>
            <a:endParaRPr sz="1700"/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Cronograma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5"/>
            <a:ext cx="4715550" cy="335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175" y="1215775"/>
            <a:ext cx="4014424" cy="3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Informes: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</a:t>
            </a:r>
            <a:r>
              <a:rPr lang="en"/>
              <a:t>órios: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1-102: Laboratório de Graduação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1-105: Laboratório Pro-Aluno (com monitor para auxiliar com dúvidas sobre programação). Formas de agendamento de </a:t>
            </a:r>
            <a:r>
              <a:rPr lang="en"/>
              <a:t>horário</a:t>
            </a:r>
            <a:r>
              <a:rPr lang="en"/>
              <a:t> com o monitor disponível na página do ICMC/STI.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1-004: Laboratório SAP (corredor a esquerda de quem entra no bloco 1). Previsão de reforma mais para o fim do semestre.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Todas as informações estão disponíveis na página do ICMC/STI: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https://www.icmc.usp.br/institucional/estrutura-administrativa/sti/servicos</a:t>
            </a:r>
            <a:r>
              <a:rPr lang="en"/>
              <a:t> </a:t>
            </a:r>
            <a:br>
              <a:rPr lang="en"/>
            </a:br>
            <a:br>
              <a:rPr lang="en"/>
            </a:br>
            <a:r>
              <a:rPr lang="en"/>
              <a:t>Informações mais </a:t>
            </a:r>
            <a:r>
              <a:rPr lang="en"/>
              <a:t>específicas</a:t>
            </a:r>
            <a:r>
              <a:rPr lang="en"/>
              <a:t> ou pedidos especiais podem ser encaminhados diretamente ao STI pelo email: </a:t>
            </a:r>
            <a:r>
              <a:rPr lang="en" u="sng">
                <a:solidFill>
                  <a:schemeClr val="hlink"/>
                </a:solidFill>
                <a:hlinkClick r:id="rId4"/>
              </a:rPr>
              <a:t>atendimento@icmc.usp.br</a:t>
            </a:r>
            <a:r>
              <a:rPr lang="en"/>
              <a:t> 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676" y="0"/>
            <a:ext cx="596002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64499" y="1314104"/>
            <a:ext cx="3200700" cy="133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6812550" y="26445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4152100" y="3378125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171850" y="17335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0" y="162850"/>
            <a:ext cx="30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Laboratório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Graduação 1-102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405425" y="1656738"/>
            <a:ext cx="2104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Onde estamos</a:t>
            </a:r>
            <a:endParaRPr sz="1800"/>
          </a:p>
        </p:txBody>
      </p:sp>
      <p:sp>
        <p:nvSpPr>
          <p:cNvPr id="109" name="Google Shape;109;p20"/>
          <p:cNvSpPr/>
          <p:nvPr/>
        </p:nvSpPr>
        <p:spPr>
          <a:xfrm>
            <a:off x="171850" y="22372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405425" y="21604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Laboratório de Graduação</a:t>
            </a:r>
            <a:endParaRPr sz="1800"/>
          </a:p>
        </p:txBody>
      </p:sp>
      <p:sp>
        <p:nvSpPr>
          <p:cNvPr id="111" name="Google Shape;111;p20"/>
          <p:cNvSpPr txBox="1"/>
          <p:nvPr/>
        </p:nvSpPr>
        <p:spPr>
          <a:xfrm>
            <a:off x="139602" y="12423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Legenda:</a:t>
            </a:r>
            <a:endParaRPr sz="1800"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64499" y="1314104"/>
            <a:ext cx="3200700" cy="133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171850" y="17335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0" y="162850"/>
            <a:ext cx="30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Laboratório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Graduação 1-102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405425" y="1656738"/>
            <a:ext cx="2104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Onde estamos</a:t>
            </a:r>
            <a:endParaRPr sz="1800"/>
          </a:p>
        </p:txBody>
      </p:sp>
      <p:sp>
        <p:nvSpPr>
          <p:cNvPr id="121" name="Google Shape;121;p21"/>
          <p:cNvSpPr/>
          <p:nvPr/>
        </p:nvSpPr>
        <p:spPr>
          <a:xfrm>
            <a:off x="171850" y="22372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405425" y="21604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Laboratório de Graduação</a:t>
            </a:r>
            <a:endParaRPr sz="1800"/>
          </a:p>
        </p:txBody>
      </p:sp>
      <p:sp>
        <p:nvSpPr>
          <p:cNvPr id="123" name="Google Shape;123;p21"/>
          <p:cNvSpPr txBox="1"/>
          <p:nvPr/>
        </p:nvSpPr>
        <p:spPr>
          <a:xfrm>
            <a:off x="139602" y="12423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Legenda:</a:t>
            </a:r>
            <a:endParaRPr sz="1800"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57129" l="5242" r="3749" t="3532"/>
          <a:stretch/>
        </p:blipFill>
        <p:spPr>
          <a:xfrm>
            <a:off x="3353750" y="72550"/>
            <a:ext cx="5643350" cy="338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3">
            <a:alphaModFix/>
          </a:blip>
          <a:srcRect b="11834" l="7526" r="4032" t="44203"/>
          <a:stretch/>
        </p:blipFill>
        <p:spPr>
          <a:xfrm>
            <a:off x="162637" y="2789425"/>
            <a:ext cx="2977026" cy="20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5411425" y="1487100"/>
            <a:ext cx="411900" cy="4113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64525" y="3329575"/>
            <a:ext cx="3200700" cy="1371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>
            <a:off x="64499" y="1314104"/>
            <a:ext cx="3200700" cy="133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171850" y="17335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type="title"/>
          </p:nvPr>
        </p:nvSpPr>
        <p:spPr>
          <a:xfrm>
            <a:off x="0" y="162850"/>
            <a:ext cx="30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Laboratório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Graduação 1-102</a:t>
            </a:r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405425" y="1656738"/>
            <a:ext cx="2104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Onde estamos</a:t>
            </a:r>
            <a:endParaRPr sz="1800"/>
          </a:p>
        </p:txBody>
      </p:sp>
      <p:sp>
        <p:nvSpPr>
          <p:cNvPr id="137" name="Google Shape;137;p22"/>
          <p:cNvSpPr/>
          <p:nvPr/>
        </p:nvSpPr>
        <p:spPr>
          <a:xfrm>
            <a:off x="171850" y="22372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405425" y="21604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Laboratório de Graduação</a:t>
            </a:r>
            <a:endParaRPr sz="1800"/>
          </a:p>
        </p:txBody>
      </p:sp>
      <p:sp>
        <p:nvSpPr>
          <p:cNvPr id="139" name="Google Shape;139;p22"/>
          <p:cNvSpPr txBox="1"/>
          <p:nvPr/>
        </p:nvSpPr>
        <p:spPr>
          <a:xfrm>
            <a:off x="139602" y="12423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Legenda:</a:t>
            </a:r>
            <a:endParaRPr sz="1800"/>
          </a:p>
        </p:txBody>
      </p:sp>
      <p:pic>
        <p:nvPicPr>
          <p:cNvPr id="140" name="Google Shape;140;p22" title="20250311_141436.jpg"/>
          <p:cNvPicPr preferRelativeResize="0"/>
          <p:nvPr/>
        </p:nvPicPr>
        <p:blipFill rotWithShape="1">
          <a:blip r:embed="rId3">
            <a:alphaModFix/>
          </a:blip>
          <a:srcRect b="0" l="0" r="0" t="19510"/>
          <a:stretch/>
        </p:blipFill>
        <p:spPr>
          <a:xfrm>
            <a:off x="4709050" y="86475"/>
            <a:ext cx="2852500" cy="49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5596850" y="124625"/>
            <a:ext cx="411900" cy="4113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64499" y="1314104"/>
            <a:ext cx="3200700" cy="133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171850" y="17335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0" y="162850"/>
            <a:ext cx="30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Laboratório </a:t>
            </a:r>
            <a:r>
              <a:rPr b="1" lang="en"/>
              <a:t>Pro Aluno 1-105</a:t>
            </a:r>
            <a:endParaRPr b="1"/>
          </a:p>
        </p:txBody>
      </p:sp>
      <p:sp>
        <p:nvSpPr>
          <p:cNvPr id="150" name="Google Shape;150;p23"/>
          <p:cNvSpPr txBox="1"/>
          <p:nvPr/>
        </p:nvSpPr>
        <p:spPr>
          <a:xfrm>
            <a:off x="405425" y="1656738"/>
            <a:ext cx="2104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Onde estamos</a:t>
            </a:r>
            <a:endParaRPr sz="1800"/>
          </a:p>
        </p:txBody>
      </p:sp>
      <p:sp>
        <p:nvSpPr>
          <p:cNvPr id="151" name="Google Shape;151;p23"/>
          <p:cNvSpPr/>
          <p:nvPr/>
        </p:nvSpPr>
        <p:spPr>
          <a:xfrm>
            <a:off x="171850" y="2237200"/>
            <a:ext cx="274200" cy="2739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405425" y="21604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Laboratório de Graduação</a:t>
            </a:r>
            <a:endParaRPr sz="1800"/>
          </a:p>
        </p:txBody>
      </p:sp>
      <p:sp>
        <p:nvSpPr>
          <p:cNvPr id="153" name="Google Shape;153;p23"/>
          <p:cNvSpPr txBox="1"/>
          <p:nvPr/>
        </p:nvSpPr>
        <p:spPr>
          <a:xfrm>
            <a:off x="139602" y="1242350"/>
            <a:ext cx="3023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Legenda:</a:t>
            </a:r>
            <a:endParaRPr sz="1800"/>
          </a:p>
        </p:txBody>
      </p:sp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57129" l="5242" r="3749" t="3532"/>
          <a:stretch/>
        </p:blipFill>
        <p:spPr>
          <a:xfrm>
            <a:off x="3353750" y="72550"/>
            <a:ext cx="5643350" cy="338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11834" l="7526" r="4032" t="44203"/>
          <a:stretch/>
        </p:blipFill>
        <p:spPr>
          <a:xfrm>
            <a:off x="162637" y="2789425"/>
            <a:ext cx="2977026" cy="20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/>
          <p:nvPr/>
        </p:nvSpPr>
        <p:spPr>
          <a:xfrm>
            <a:off x="4887400" y="2789425"/>
            <a:ext cx="411900" cy="411300"/>
          </a:xfrm>
          <a:prstGeom prst="mathMultiply">
            <a:avLst>
              <a:gd fmla="val 11863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64525" y="3574299"/>
            <a:ext cx="3200700" cy="1371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Duas provas + trabalho</a:t>
            </a:r>
            <a:br>
              <a:rPr lang="en"/>
            </a:br>
            <a:r>
              <a:rPr b="1" lang="en"/>
              <a:t>PI</a:t>
            </a:r>
            <a:r>
              <a:rPr lang="en"/>
              <a:t> - Prova Intermediária (PI) - Peso 20% - </a:t>
            </a:r>
            <a:r>
              <a:rPr b="1" lang="en"/>
              <a:t>2 maio</a:t>
            </a:r>
            <a:br>
              <a:rPr lang="en"/>
            </a:br>
            <a:r>
              <a:rPr b="1" lang="en"/>
              <a:t>PF</a:t>
            </a:r>
            <a:r>
              <a:rPr lang="en"/>
              <a:t> - Prova Final (PF) - Peso 40% - </a:t>
            </a:r>
            <a:r>
              <a:rPr b="1" lang="en"/>
              <a:t>20 junho</a:t>
            </a:r>
            <a:br>
              <a:rPr lang="en"/>
            </a:br>
            <a:r>
              <a:rPr b="1" lang="en"/>
              <a:t>TP</a:t>
            </a:r>
            <a:r>
              <a:rPr lang="en"/>
              <a:t> – Trabalho Prático Final (TP) / Exercícios - Peso 40% - </a:t>
            </a:r>
            <a:r>
              <a:rPr b="1" lang="en"/>
              <a:t>1 julho</a:t>
            </a:r>
            <a:br>
              <a:rPr lang="en"/>
            </a:br>
            <a:r>
              <a:rPr lang="en"/>
              <a:t>Tipo das Provas:</a:t>
            </a:r>
            <a:br>
              <a:rPr lang="en"/>
            </a:br>
            <a:r>
              <a:rPr lang="en"/>
              <a:t>- Avaliação Individual</a:t>
            </a:r>
            <a:br>
              <a:rPr lang="en"/>
            </a:br>
            <a:r>
              <a:rPr lang="en"/>
              <a:t>- Prova Prática em Laboratório</a:t>
            </a:r>
            <a:br>
              <a:rPr lang="en"/>
            </a:br>
            <a:r>
              <a:rPr lang="en"/>
              <a:t>- Possivelmente Com Consulta ao Material Individual (apenas material impresso)</a:t>
            </a:r>
            <a:br>
              <a:rPr lang="en"/>
            </a:br>
            <a:r>
              <a:rPr b="1" lang="en"/>
              <a:t>Exercícios </a:t>
            </a:r>
            <a:r>
              <a:rPr lang="en"/>
              <a:t>- Ponto Extra junto ao Trabalho Prático</a:t>
            </a:r>
            <a:br>
              <a:rPr lang="en"/>
            </a:br>
            <a:r>
              <a:rPr b="1" lang="en"/>
              <a:t>SUB</a:t>
            </a:r>
            <a:r>
              <a:rPr lang="en"/>
              <a:t> - Prova Substitutiva (Substitui imperativamente PI ou PF) - </a:t>
            </a:r>
            <a:r>
              <a:rPr b="1" lang="en"/>
              <a:t>27 junho</a:t>
            </a:r>
            <a:br>
              <a:rPr lang="en"/>
            </a:br>
            <a:r>
              <a:rPr b="1" lang="en"/>
              <a:t>Nota Final</a:t>
            </a:r>
            <a:r>
              <a:rPr lang="en"/>
              <a:t> = ( 0.2 * PI + 0.4 * PF + 0.4 * TP)</a:t>
            </a:r>
            <a:br>
              <a:rPr lang="en"/>
            </a:br>
            <a:r>
              <a:rPr b="1" lang="en"/>
              <a:t>RECuperação:</a:t>
            </a:r>
            <a:r>
              <a:rPr lang="en"/>
              <a:t> São adotadas as normas do ICMC / SSC para recuperação.</a:t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Duas provas + trabalho</a:t>
            </a:r>
            <a:br>
              <a:rPr lang="en"/>
            </a:br>
            <a:r>
              <a:rPr b="1" lang="en"/>
              <a:t>PI</a:t>
            </a:r>
            <a:r>
              <a:rPr lang="en"/>
              <a:t> - Prova Intermediária (PI) - Peso 20% - </a:t>
            </a:r>
            <a:r>
              <a:rPr b="1" lang="en"/>
              <a:t>2 maio</a:t>
            </a:r>
            <a:br>
              <a:rPr lang="en"/>
            </a:br>
            <a:r>
              <a:rPr b="1" lang="en"/>
              <a:t>PF</a:t>
            </a:r>
            <a:r>
              <a:rPr lang="en"/>
              <a:t> - Prova Final (PF) - Peso 40% - </a:t>
            </a:r>
            <a:r>
              <a:rPr b="1" lang="en"/>
              <a:t>20 junho</a:t>
            </a:r>
            <a:br>
              <a:rPr lang="en"/>
            </a:br>
            <a:r>
              <a:rPr b="1" lang="en"/>
              <a:t>TP</a:t>
            </a:r>
            <a:r>
              <a:rPr lang="en"/>
              <a:t> – Trabalho Prático Final (TP) / Exercícios - Peso 40% - </a:t>
            </a:r>
            <a:r>
              <a:rPr b="1" lang="en"/>
              <a:t>1 julho</a:t>
            </a:r>
            <a:br>
              <a:rPr lang="en"/>
            </a:br>
            <a:r>
              <a:rPr lang="en"/>
              <a:t>Tipo das Provas:</a:t>
            </a:r>
            <a:br>
              <a:rPr lang="en"/>
            </a:br>
            <a:r>
              <a:rPr lang="en"/>
              <a:t>- Avaliação Individual</a:t>
            </a:r>
            <a:br>
              <a:rPr lang="en"/>
            </a:br>
            <a:r>
              <a:rPr b="1" lang="en">
                <a:solidFill>
                  <a:srgbClr val="FF0000"/>
                </a:solidFill>
              </a:rPr>
              <a:t>- Prova Prática em Laboratório</a:t>
            </a:r>
            <a:br>
              <a:rPr lang="en"/>
            </a:br>
            <a:r>
              <a:rPr lang="en"/>
              <a:t>- Possivelmente Com Consulta ao Material Individual (apenas material impresso)</a:t>
            </a:r>
            <a:br>
              <a:rPr lang="en"/>
            </a:br>
            <a:r>
              <a:rPr b="1" lang="en"/>
              <a:t>Exercícios </a:t>
            </a:r>
            <a:r>
              <a:rPr lang="en"/>
              <a:t>- </a:t>
            </a:r>
            <a:r>
              <a:rPr b="1" lang="en"/>
              <a:t>Ponto Extra</a:t>
            </a:r>
            <a:r>
              <a:rPr lang="en"/>
              <a:t> junto ao Trabalho Prático</a:t>
            </a:r>
            <a:br>
              <a:rPr lang="en"/>
            </a:br>
            <a:r>
              <a:rPr b="1" lang="en"/>
              <a:t>SUB</a:t>
            </a:r>
            <a:r>
              <a:rPr lang="en"/>
              <a:t> - Prova Substitutiva (Substitui imperativamente PI ou PF) - </a:t>
            </a:r>
            <a:r>
              <a:rPr b="1" lang="en"/>
              <a:t>27 junho</a:t>
            </a:r>
            <a:br>
              <a:rPr lang="en"/>
            </a:br>
            <a:r>
              <a:rPr b="1" lang="en"/>
              <a:t>Nota Final</a:t>
            </a:r>
            <a:r>
              <a:rPr lang="en"/>
              <a:t> = ( 0.2 * PI + 0.4 * PF + 0.4 * TP)</a:t>
            </a:r>
            <a:br>
              <a:rPr lang="en"/>
            </a:br>
            <a:r>
              <a:rPr b="1" lang="en"/>
              <a:t>RECuperação:</a:t>
            </a:r>
            <a:r>
              <a:rPr lang="en"/>
              <a:t> São adotadas as normas do ICMC / SSC para recuperação.</a:t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4192200" y="1757500"/>
            <a:ext cx="4232400" cy="943200"/>
          </a:xfrm>
          <a:prstGeom prst="wedgeRoundRectCallout">
            <a:avLst>
              <a:gd fmla="val -60286" name="adj1"/>
              <a:gd fmla="val 76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Devido a </a:t>
            </a:r>
            <a:r>
              <a:rPr lang="en"/>
              <a:t>indisponibilidade</a:t>
            </a:r>
            <a:r>
              <a:rPr lang="en"/>
              <a:t> de laborat</a:t>
            </a:r>
            <a:r>
              <a:rPr lang="en"/>
              <a:t>ório, nossas duas provas serão em sala de aula.</a:t>
            </a:r>
            <a:endParaRPr/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Duas provas + trabalho</a:t>
            </a:r>
            <a:br>
              <a:rPr lang="en"/>
            </a:br>
            <a:r>
              <a:rPr b="1" lang="en"/>
              <a:t>PI</a:t>
            </a:r>
            <a:r>
              <a:rPr lang="en"/>
              <a:t> - Prova Intermediária (PI) - Peso 20% - </a:t>
            </a:r>
            <a:r>
              <a:rPr b="1" lang="en"/>
              <a:t>2 maio</a:t>
            </a:r>
            <a:br>
              <a:rPr lang="en"/>
            </a:br>
            <a:r>
              <a:rPr b="1" lang="en"/>
              <a:t>PF</a:t>
            </a:r>
            <a:r>
              <a:rPr lang="en"/>
              <a:t> - Prova Final (PF) - Peso 40% - </a:t>
            </a:r>
            <a:r>
              <a:rPr b="1" lang="en"/>
              <a:t>20 junho</a:t>
            </a:r>
            <a:br>
              <a:rPr lang="en"/>
            </a:br>
            <a:r>
              <a:rPr b="1" lang="en"/>
              <a:t>TP</a:t>
            </a:r>
            <a:r>
              <a:rPr lang="en"/>
              <a:t> – Trabalho Prático Final (TP) / Exercícios - Peso 40% - </a:t>
            </a:r>
            <a:r>
              <a:rPr b="1" lang="en"/>
              <a:t>1 julho</a:t>
            </a:r>
            <a:br>
              <a:rPr lang="en"/>
            </a:br>
            <a:r>
              <a:rPr lang="en"/>
              <a:t>Tipo das Provas:</a:t>
            </a:r>
            <a:br>
              <a:rPr lang="en"/>
            </a:br>
            <a:r>
              <a:rPr lang="en"/>
              <a:t>- Avaliação Individual</a:t>
            </a:r>
            <a:br>
              <a:rPr lang="en"/>
            </a:br>
            <a:r>
              <a:rPr b="1" lang="en">
                <a:solidFill>
                  <a:srgbClr val="FF0000"/>
                </a:solidFill>
              </a:rPr>
              <a:t>- Prova em Sala de Aula (Quizzes, Desenvolvimento e An</a:t>
            </a:r>
            <a:r>
              <a:rPr b="1" lang="en">
                <a:solidFill>
                  <a:srgbClr val="FF0000"/>
                </a:solidFill>
              </a:rPr>
              <a:t>álise de Códigos)</a:t>
            </a:r>
            <a:br>
              <a:rPr lang="en"/>
            </a:br>
            <a:r>
              <a:rPr lang="en"/>
              <a:t>- Possivelmente Com Consulta ao Material Individual (apenas material impresso)</a:t>
            </a:r>
            <a:br>
              <a:rPr lang="en"/>
            </a:br>
            <a:r>
              <a:rPr b="1" lang="en"/>
              <a:t>Exercícios </a:t>
            </a:r>
            <a:r>
              <a:rPr lang="en"/>
              <a:t>- </a:t>
            </a:r>
            <a:r>
              <a:rPr b="1" lang="en"/>
              <a:t>Ponto Extra</a:t>
            </a:r>
            <a:r>
              <a:rPr lang="en"/>
              <a:t> junto ao Trabalho Prático</a:t>
            </a:r>
            <a:br>
              <a:rPr lang="en"/>
            </a:br>
            <a:r>
              <a:rPr b="1" lang="en"/>
              <a:t>SUB</a:t>
            </a:r>
            <a:r>
              <a:rPr lang="en"/>
              <a:t> - Prova Substitutiva (Substitui imperativamente PI ou PF) - </a:t>
            </a:r>
            <a:r>
              <a:rPr b="1" lang="en"/>
              <a:t>27 junho</a:t>
            </a:r>
            <a:br>
              <a:rPr lang="en"/>
            </a:br>
            <a:r>
              <a:rPr b="1" lang="en"/>
              <a:t>Nota Final</a:t>
            </a:r>
            <a:r>
              <a:rPr lang="en"/>
              <a:t> = ( 0.2 * PI + 0.4 * PF + 0.4 * TP)</a:t>
            </a:r>
            <a:br>
              <a:rPr lang="en"/>
            </a:br>
            <a:r>
              <a:rPr b="1" lang="en"/>
              <a:t>RECuperação:</a:t>
            </a:r>
            <a:r>
              <a:rPr lang="en"/>
              <a:t> São adotadas as normas do ICMC / SSC para recuperação.</a:t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Avaliação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Duas provas + trabalho</a:t>
            </a:r>
            <a:br>
              <a:rPr lang="en"/>
            </a:br>
            <a:r>
              <a:rPr b="1" lang="en"/>
              <a:t>PI</a:t>
            </a:r>
            <a:r>
              <a:rPr lang="en"/>
              <a:t> - Prova Intermediária (PI) - Peso 20% - </a:t>
            </a:r>
            <a:r>
              <a:rPr b="1" lang="en"/>
              <a:t>2 maio</a:t>
            </a:r>
            <a:br>
              <a:rPr lang="en"/>
            </a:br>
            <a:r>
              <a:rPr b="1" lang="en"/>
              <a:t>PF</a:t>
            </a:r>
            <a:r>
              <a:rPr lang="en"/>
              <a:t> - Prova Final (PF) - Peso 40% - </a:t>
            </a:r>
            <a:r>
              <a:rPr b="1" lang="en"/>
              <a:t>20 junho</a:t>
            </a:r>
            <a:br>
              <a:rPr lang="en"/>
            </a:br>
            <a:r>
              <a:rPr b="1" lang="en"/>
              <a:t>TP</a:t>
            </a:r>
            <a:r>
              <a:rPr lang="en"/>
              <a:t> – Trabalho Prático Final (TP) / Exercícios - Peso 40% - </a:t>
            </a:r>
            <a:r>
              <a:rPr b="1" lang="en"/>
              <a:t>1 julho</a:t>
            </a:r>
            <a:br>
              <a:rPr lang="en"/>
            </a:br>
            <a:r>
              <a:rPr lang="en"/>
              <a:t>Tipo das Provas:</a:t>
            </a:r>
            <a:br>
              <a:rPr lang="en"/>
            </a:br>
            <a:r>
              <a:rPr lang="en"/>
              <a:t>- Avaliação Individual</a:t>
            </a:r>
            <a:br>
              <a:rPr lang="en"/>
            </a:br>
            <a:r>
              <a:rPr lang="en">
                <a:solidFill>
                  <a:schemeClr val="dk1"/>
                </a:solidFill>
              </a:rPr>
              <a:t>- Prova em Sala de Aula (Quizzes, Desenvolvimento e Análise de Códigos)</a:t>
            </a:r>
            <a:br>
              <a:rPr lang="en"/>
            </a:br>
            <a:r>
              <a:rPr lang="en"/>
              <a:t>- Possivelmente Com Consulta ao Material Individual (apenas material impresso)</a:t>
            </a:r>
            <a:br>
              <a:rPr lang="en"/>
            </a:br>
            <a:r>
              <a:rPr b="1" lang="en"/>
              <a:t>Exercícios </a:t>
            </a:r>
            <a:r>
              <a:rPr lang="en"/>
              <a:t>- </a:t>
            </a:r>
            <a:r>
              <a:rPr b="1" lang="en"/>
              <a:t>Ponto Extra</a:t>
            </a:r>
            <a:r>
              <a:rPr lang="en"/>
              <a:t> junto ao Trabalho Prático</a:t>
            </a:r>
            <a:br>
              <a:rPr lang="en"/>
            </a:br>
            <a:r>
              <a:rPr b="1" lang="en"/>
              <a:t>SUB</a:t>
            </a:r>
            <a:r>
              <a:rPr lang="en"/>
              <a:t> - Prova Substitutiva (Substitui imperativamente PI ou PF) - </a:t>
            </a:r>
            <a:r>
              <a:rPr b="1" lang="en"/>
              <a:t>27 junho</a:t>
            </a:r>
            <a:br>
              <a:rPr lang="en"/>
            </a:br>
            <a:r>
              <a:rPr b="1" lang="en"/>
              <a:t>Nota Final</a:t>
            </a:r>
            <a:r>
              <a:rPr lang="en"/>
              <a:t> = ( 0.2 * PI + 0.4 * PF + 0.4 * TP)</a:t>
            </a:r>
            <a:br>
              <a:rPr lang="en"/>
            </a:br>
            <a:r>
              <a:rPr b="1" lang="en"/>
              <a:t>RECuperação:</a:t>
            </a:r>
            <a:r>
              <a:rPr lang="en"/>
              <a:t> São adotadas as normas do ICMC / SSC para recuperação.</a:t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2455800" y="2644300"/>
            <a:ext cx="4232400" cy="943200"/>
          </a:xfrm>
          <a:prstGeom prst="wedgeRoundRectCallout">
            <a:avLst>
              <a:gd fmla="val -45736" name="adj1"/>
              <a:gd fmla="val -8675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 pr</a:t>
            </a:r>
            <a:r>
              <a:rPr lang="en"/>
              <a:t>ático mantido, em conjunto com a disciplina de Laboratório de Introdução a Ciências de Computação, Prof. Danilo Spatti</a:t>
            </a:r>
            <a:endParaRPr/>
          </a:p>
        </p:txBody>
      </p:sp>
      <p:sp>
        <p:nvSpPr>
          <p:cNvPr id="188" name="Google Shape;18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</a:t>
            </a:r>
            <a:r>
              <a:rPr lang="en"/>
              <a:t>ém conseguiu instalar e usar o Code::Blocks?</a:t>
            </a:r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125" y="1201225"/>
            <a:ext cx="6305749" cy="37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Básicos do Computador </a:t>
            </a:r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338" y="1063378"/>
            <a:ext cx="3775323" cy="377532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Básicos do Computador </a:t>
            </a:r>
            <a:endParaRPr/>
          </a:p>
        </p:txBody>
      </p:sp>
      <p:sp>
        <p:nvSpPr>
          <p:cNvPr id="209" name="Google Shape;209;p3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8020" l="0" r="0" t="9715"/>
          <a:stretch/>
        </p:blipFill>
        <p:spPr>
          <a:xfrm>
            <a:off x="1427561" y="1991425"/>
            <a:ext cx="1377034" cy="113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050" y="3907526"/>
            <a:ext cx="1286051" cy="12860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 txBox="1"/>
          <p:nvPr/>
        </p:nvSpPr>
        <p:spPr>
          <a:xfrm>
            <a:off x="858700" y="987175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Memória</a:t>
            </a:r>
            <a:endParaRPr sz="1800"/>
          </a:p>
        </p:txBody>
      </p:sp>
      <p:sp>
        <p:nvSpPr>
          <p:cNvPr id="213" name="Google Shape;213;p30"/>
          <p:cNvSpPr txBox="1"/>
          <p:nvPr/>
        </p:nvSpPr>
        <p:spPr>
          <a:xfrm>
            <a:off x="528275" y="1489300"/>
            <a:ext cx="3095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Memória Prim</a:t>
            </a:r>
            <a:r>
              <a:rPr lang="en" sz="1800"/>
              <a:t>ária</a:t>
            </a:r>
            <a:r>
              <a:rPr lang="en" sz="1800"/>
              <a:t> RAM (Vol</a:t>
            </a:r>
            <a:r>
              <a:rPr lang="en" sz="1800"/>
              <a:t>átil)</a:t>
            </a:r>
            <a:endParaRPr sz="1800"/>
          </a:p>
        </p:txBody>
      </p:sp>
      <p:sp>
        <p:nvSpPr>
          <p:cNvPr id="214" name="Google Shape;214;p30"/>
          <p:cNvSpPr txBox="1"/>
          <p:nvPr/>
        </p:nvSpPr>
        <p:spPr>
          <a:xfrm>
            <a:off x="858700" y="3298025"/>
            <a:ext cx="24348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Memória Secund</a:t>
            </a:r>
            <a:r>
              <a:rPr lang="en" sz="1800"/>
              <a:t>ária</a:t>
            </a:r>
            <a:r>
              <a:rPr lang="en" sz="1800"/>
              <a:t> RAM (N</a:t>
            </a:r>
            <a:r>
              <a:rPr lang="en" sz="1800"/>
              <a:t>ão Volátil)</a:t>
            </a:r>
            <a:endParaRPr sz="1800"/>
          </a:p>
        </p:txBody>
      </p:sp>
      <p:sp>
        <p:nvSpPr>
          <p:cNvPr id="215" name="Google Shape;215;p30"/>
          <p:cNvSpPr txBox="1"/>
          <p:nvPr/>
        </p:nvSpPr>
        <p:spPr>
          <a:xfrm>
            <a:off x="3406275" y="987175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Processamento</a:t>
            </a:r>
            <a:endParaRPr sz="1800"/>
          </a:p>
        </p:txBody>
      </p:sp>
      <p:sp>
        <p:nvSpPr>
          <p:cNvPr id="216" name="Google Shape;216;p30"/>
          <p:cNvSpPr txBox="1"/>
          <p:nvPr/>
        </p:nvSpPr>
        <p:spPr>
          <a:xfrm>
            <a:off x="5953850" y="987175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Entrada e Saída</a:t>
            </a:r>
            <a:endParaRPr sz="1800"/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049" y="2583212"/>
            <a:ext cx="1415500" cy="1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312" y="1932850"/>
            <a:ext cx="1185875" cy="11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3163" y="3450425"/>
            <a:ext cx="1185875" cy="11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13275" y="1998100"/>
            <a:ext cx="1840151" cy="1840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30"/>
          <p:cNvCxnSpPr/>
          <p:nvPr/>
        </p:nvCxnSpPr>
        <p:spPr>
          <a:xfrm>
            <a:off x="3490800" y="975500"/>
            <a:ext cx="0" cy="4135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0"/>
          <p:cNvCxnSpPr/>
          <p:nvPr/>
        </p:nvCxnSpPr>
        <p:spPr>
          <a:xfrm>
            <a:off x="5955838" y="975500"/>
            <a:ext cx="0" cy="4135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0"/>
          <p:cNvCxnSpPr/>
          <p:nvPr/>
        </p:nvCxnSpPr>
        <p:spPr>
          <a:xfrm>
            <a:off x="193475" y="1410825"/>
            <a:ext cx="8650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0"/>
          <p:cNvSpPr txBox="1"/>
          <p:nvPr/>
        </p:nvSpPr>
        <p:spPr>
          <a:xfrm>
            <a:off x="3422399" y="2272612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Processador</a:t>
            </a:r>
            <a:endParaRPr sz="1800"/>
          </a:p>
        </p:txBody>
      </p:sp>
      <p:sp>
        <p:nvSpPr>
          <p:cNvPr id="225" name="Google Shape;225;p30"/>
          <p:cNvSpPr txBox="1"/>
          <p:nvPr/>
        </p:nvSpPr>
        <p:spPr>
          <a:xfrm>
            <a:off x="5950150" y="1731150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Teclado</a:t>
            </a:r>
            <a:endParaRPr sz="1800"/>
          </a:p>
        </p:txBody>
      </p:sp>
      <p:sp>
        <p:nvSpPr>
          <p:cNvPr id="226" name="Google Shape;226;p30"/>
          <p:cNvSpPr txBox="1"/>
          <p:nvPr/>
        </p:nvSpPr>
        <p:spPr>
          <a:xfrm>
            <a:off x="5950150" y="3207406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Monitor</a:t>
            </a:r>
            <a:endParaRPr sz="1800"/>
          </a:p>
        </p:txBody>
      </p:sp>
      <p:sp>
        <p:nvSpPr>
          <p:cNvPr id="227" name="Google Shape;227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Básicos do Computador </a:t>
            </a:r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8020" l="0" r="0" t="9715"/>
          <a:stretch/>
        </p:blipFill>
        <p:spPr>
          <a:xfrm>
            <a:off x="1427561" y="1991425"/>
            <a:ext cx="1377034" cy="113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050" y="3907526"/>
            <a:ext cx="1286051" cy="1286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858700" y="987175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Memória</a:t>
            </a:r>
            <a:endParaRPr sz="1800"/>
          </a:p>
        </p:txBody>
      </p:sp>
      <p:sp>
        <p:nvSpPr>
          <p:cNvPr id="237" name="Google Shape;237;p31"/>
          <p:cNvSpPr txBox="1"/>
          <p:nvPr/>
        </p:nvSpPr>
        <p:spPr>
          <a:xfrm>
            <a:off x="528275" y="1489300"/>
            <a:ext cx="3095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Memória Primária RAM (Volátil)</a:t>
            </a:r>
            <a:endParaRPr sz="1800"/>
          </a:p>
        </p:txBody>
      </p:sp>
      <p:sp>
        <p:nvSpPr>
          <p:cNvPr id="238" name="Google Shape;238;p31"/>
          <p:cNvSpPr txBox="1"/>
          <p:nvPr/>
        </p:nvSpPr>
        <p:spPr>
          <a:xfrm>
            <a:off x="858700" y="3298025"/>
            <a:ext cx="24348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Memória Secundária RAM (Não Volátil)</a:t>
            </a:r>
            <a:endParaRPr sz="1800"/>
          </a:p>
        </p:txBody>
      </p:sp>
      <p:sp>
        <p:nvSpPr>
          <p:cNvPr id="239" name="Google Shape;239;p31"/>
          <p:cNvSpPr txBox="1"/>
          <p:nvPr/>
        </p:nvSpPr>
        <p:spPr>
          <a:xfrm>
            <a:off x="3406275" y="987175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Processamento</a:t>
            </a:r>
            <a:endParaRPr sz="1800"/>
          </a:p>
        </p:txBody>
      </p:sp>
      <p:sp>
        <p:nvSpPr>
          <p:cNvPr id="240" name="Google Shape;240;p31"/>
          <p:cNvSpPr txBox="1"/>
          <p:nvPr/>
        </p:nvSpPr>
        <p:spPr>
          <a:xfrm>
            <a:off x="5953850" y="987175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Entrada e Saída</a:t>
            </a:r>
            <a:endParaRPr sz="1800"/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049" y="2583212"/>
            <a:ext cx="1415500" cy="1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312" y="1932850"/>
            <a:ext cx="1185875" cy="11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3163" y="3450425"/>
            <a:ext cx="1185875" cy="11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13275" y="1998100"/>
            <a:ext cx="1840151" cy="1840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31"/>
          <p:cNvCxnSpPr/>
          <p:nvPr/>
        </p:nvCxnSpPr>
        <p:spPr>
          <a:xfrm>
            <a:off x="3490800" y="975500"/>
            <a:ext cx="0" cy="4135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1"/>
          <p:cNvCxnSpPr/>
          <p:nvPr/>
        </p:nvCxnSpPr>
        <p:spPr>
          <a:xfrm>
            <a:off x="5955838" y="975500"/>
            <a:ext cx="0" cy="4135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1"/>
          <p:cNvCxnSpPr/>
          <p:nvPr/>
        </p:nvCxnSpPr>
        <p:spPr>
          <a:xfrm>
            <a:off x="193475" y="1410825"/>
            <a:ext cx="8650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1"/>
          <p:cNvSpPr txBox="1"/>
          <p:nvPr/>
        </p:nvSpPr>
        <p:spPr>
          <a:xfrm>
            <a:off x="3422399" y="2272612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Processador</a:t>
            </a:r>
            <a:endParaRPr sz="1800"/>
          </a:p>
        </p:txBody>
      </p:sp>
      <p:sp>
        <p:nvSpPr>
          <p:cNvPr id="249" name="Google Shape;249;p31"/>
          <p:cNvSpPr txBox="1"/>
          <p:nvPr/>
        </p:nvSpPr>
        <p:spPr>
          <a:xfrm>
            <a:off x="5950150" y="1731150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Teclado</a:t>
            </a:r>
            <a:endParaRPr sz="1800"/>
          </a:p>
        </p:txBody>
      </p:sp>
      <p:sp>
        <p:nvSpPr>
          <p:cNvPr id="250" name="Google Shape;250;p31"/>
          <p:cNvSpPr txBox="1"/>
          <p:nvPr/>
        </p:nvSpPr>
        <p:spPr>
          <a:xfrm>
            <a:off x="5950150" y="3207406"/>
            <a:ext cx="24348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Monitor</a:t>
            </a:r>
            <a:endParaRPr sz="1800"/>
          </a:p>
        </p:txBody>
      </p:sp>
      <p:sp>
        <p:nvSpPr>
          <p:cNvPr id="251" name="Google Shape;251;p31"/>
          <p:cNvSpPr/>
          <p:nvPr/>
        </p:nvSpPr>
        <p:spPr>
          <a:xfrm rot="-1027742">
            <a:off x="423063" y="2750770"/>
            <a:ext cx="8191317" cy="99221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4CCCC"/>
                </a:solidFill>
                <a:latin typeface="Arial"/>
              </a:rPr>
              <a:t>HARDWARE!</a:t>
            </a:r>
          </a:p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Básicos do Computador </a:t>
            </a:r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364575" y="1200150"/>
            <a:ext cx="8415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Arial"/>
              <a:buChar char="•"/>
            </a:pPr>
            <a:r>
              <a:rPr b="0" i="0" lang="en" sz="31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HARDWARE: </a:t>
            </a:r>
            <a:r>
              <a:rPr b="0" i="0" lang="en" sz="3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equipamento propriamente dito.</a:t>
            </a:r>
            <a:endParaRPr sz="1700"/>
          </a:p>
          <a:p>
            <a:pPr indent="-279400" lvl="1" marL="74295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–"/>
            </a:pPr>
            <a:r>
              <a:rPr b="0" i="0" lang="en" sz="2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Inclui</a:t>
            </a:r>
            <a:r>
              <a:rPr b="0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periféricos de entrada e saída; a máquina e seus elementos físicos: carcaças, placas, fios, componentes em geral</a:t>
            </a:r>
            <a:endParaRPr sz="1300"/>
          </a:p>
          <a:p>
            <a:pPr indent="-336550" lvl="0" marL="34290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Arial"/>
              <a:buChar char="•"/>
            </a:pPr>
            <a:r>
              <a:rPr b="0" i="0" lang="en" sz="31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SOFTWARE:  </a:t>
            </a:r>
            <a:r>
              <a:rPr b="0" i="0" lang="en" sz="3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Constituído pelos </a:t>
            </a:r>
            <a:r>
              <a:rPr b="1" i="0" lang="en" sz="3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programas</a:t>
            </a:r>
            <a:r>
              <a:rPr b="0" i="0" lang="en" sz="3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permitem atender às necessidades do usuário</a:t>
            </a:r>
            <a:endParaRPr sz="1700"/>
          </a:p>
        </p:txBody>
      </p:sp>
      <p:sp>
        <p:nvSpPr>
          <p:cNvPr id="259" name="Google Shape;259;p3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60" name="Google Shape;260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onstrução</a:t>
            </a:r>
            <a:r>
              <a:rPr lang="en"/>
              <a:t> de um </a:t>
            </a:r>
            <a:r>
              <a:rPr b="1" lang="en"/>
              <a:t>programa</a:t>
            </a:r>
            <a:r>
              <a:rPr lang="en"/>
              <a:t> usando linguagem C</a:t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3621362" y="1103125"/>
            <a:ext cx="15003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Compilador (Tradutor)</a:t>
            </a:r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5764487" y="1103125"/>
            <a:ext cx="1214400" cy="928800"/>
          </a:xfrm>
          <a:prstGeom prst="rect">
            <a:avLst/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Objeto</a:t>
            </a: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3621362" y="2531875"/>
            <a:ext cx="15003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Linker</a:t>
            </a:r>
            <a:endParaRPr/>
          </a:p>
        </p:txBody>
      </p:sp>
      <p:sp>
        <p:nvSpPr>
          <p:cNvPr id="269" name="Google Shape;269;p33"/>
          <p:cNvSpPr/>
          <p:nvPr/>
        </p:nvSpPr>
        <p:spPr>
          <a:xfrm>
            <a:off x="3692800" y="4103500"/>
            <a:ext cx="14289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Executável</a:t>
            </a:r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1835425" y="2531875"/>
            <a:ext cx="1214400" cy="928800"/>
          </a:xfrm>
          <a:prstGeom prst="rect">
            <a:avLst/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Subrotinas Compiladas Independentemente</a:t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3192737" y="1388875"/>
            <a:ext cx="357300" cy="357300"/>
          </a:xfrm>
          <a:prstGeom prst="rightArrow">
            <a:avLst>
              <a:gd fmla="val 10800" name="adj1"/>
              <a:gd fmla="val 50000" name="adj2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5264425" y="1460312"/>
            <a:ext cx="357300" cy="357300"/>
          </a:xfrm>
          <a:prstGeom prst="rightArrow">
            <a:avLst>
              <a:gd fmla="val 10800" name="adj1"/>
              <a:gd fmla="val 50000" name="adj2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3192737" y="2817625"/>
            <a:ext cx="357300" cy="357300"/>
          </a:xfrm>
          <a:prstGeom prst="rightArrow">
            <a:avLst>
              <a:gd fmla="val 10800" name="adj1"/>
              <a:gd fmla="val 50000" name="adj2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3"/>
          <p:cNvSpPr/>
          <p:nvPr/>
        </p:nvSpPr>
        <p:spPr>
          <a:xfrm rot="5400000">
            <a:off x="4192749" y="3603437"/>
            <a:ext cx="357300" cy="357300"/>
          </a:xfrm>
          <a:prstGeom prst="rightArrow">
            <a:avLst>
              <a:gd fmla="val 10800" name="adj1"/>
              <a:gd fmla="val 50000" name="adj2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3"/>
          <p:cNvSpPr/>
          <p:nvPr/>
        </p:nvSpPr>
        <p:spPr>
          <a:xfrm flipH="1" rot="-5400000">
            <a:off x="5264425" y="2103250"/>
            <a:ext cx="1071562" cy="1214437"/>
          </a:xfrm>
          <a:custGeom>
            <a:rect b="b" l="l" r="r" t="t"/>
            <a:pathLst>
              <a:path extrusionOk="0" h="1214437" w="1071562">
                <a:moveTo>
                  <a:pt x="0" y="1044519"/>
                </a:moveTo>
                <a:lnTo>
                  <a:pt x="756817" y="1044519"/>
                </a:lnTo>
                <a:lnTo>
                  <a:pt x="756817" y="257003"/>
                </a:lnTo>
                <a:lnTo>
                  <a:pt x="611990" y="257003"/>
                </a:lnTo>
                <a:lnTo>
                  <a:pt x="841776" y="0"/>
                </a:lnTo>
                <a:lnTo>
                  <a:pt x="1071562" y="257003"/>
                </a:lnTo>
                <a:lnTo>
                  <a:pt x="926735" y="257003"/>
                </a:lnTo>
                <a:lnTo>
                  <a:pt x="926735" y="1214437"/>
                </a:lnTo>
                <a:lnTo>
                  <a:pt x="0" y="1214437"/>
                </a:lnTo>
                <a:close/>
              </a:path>
            </a:pathLst>
          </a:cu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260" y="1139057"/>
            <a:ext cx="895860" cy="89586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/>
          <p:nvPr/>
        </p:nvSpPr>
        <p:spPr>
          <a:xfrm>
            <a:off x="1380910" y="897964"/>
            <a:ext cx="2292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Arquivo de Texto</a:t>
            </a:r>
            <a:endParaRPr sz="1800"/>
          </a:p>
        </p:txBody>
      </p:sp>
      <p:sp>
        <p:nvSpPr>
          <p:cNvPr id="278" name="Google Shape;278;p33"/>
          <p:cNvSpPr txBox="1"/>
          <p:nvPr/>
        </p:nvSpPr>
        <p:spPr>
          <a:xfrm>
            <a:off x="1563688" y="1871613"/>
            <a:ext cx="19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Código Fonte em linguagem C</a:t>
            </a:r>
            <a:endParaRPr sz="1300"/>
          </a:p>
        </p:txBody>
      </p:sp>
      <p:sp>
        <p:nvSpPr>
          <p:cNvPr id="279" name="Google Shape;279;p33"/>
          <p:cNvSpPr txBox="1"/>
          <p:nvPr/>
        </p:nvSpPr>
        <p:spPr>
          <a:xfrm>
            <a:off x="7121675" y="2728975"/>
            <a:ext cx="16284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Instruções Binárias</a:t>
            </a:r>
            <a:endParaRPr sz="1800"/>
          </a:p>
        </p:txBody>
      </p:sp>
      <p:cxnSp>
        <p:nvCxnSpPr>
          <p:cNvPr id="280" name="Google Shape;280;p33"/>
          <p:cNvCxnSpPr>
            <a:stCxn id="267" idx="3"/>
            <a:endCxn id="279" idx="0"/>
          </p:cNvCxnSpPr>
          <p:nvPr/>
        </p:nvCxnSpPr>
        <p:spPr>
          <a:xfrm>
            <a:off x="6978887" y="1567525"/>
            <a:ext cx="957000" cy="11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3"/>
          <p:cNvCxnSpPr>
            <a:stCxn id="269" idx="3"/>
            <a:endCxn id="279" idx="2"/>
          </p:cNvCxnSpPr>
          <p:nvPr/>
        </p:nvCxnSpPr>
        <p:spPr>
          <a:xfrm flipH="1" rot="10800000">
            <a:off x="5121700" y="3460600"/>
            <a:ext cx="2814300" cy="11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</a:t>
            </a:r>
            <a:endParaRPr/>
          </a:p>
        </p:txBody>
      </p:sp>
      <p:grpSp>
        <p:nvGrpSpPr>
          <p:cNvPr id="288" name="Google Shape;288;p34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289" name="Google Shape;289;p34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34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291" name="Google Shape;291;p34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292" name="Google Shape;29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34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294" name="Google Shape;294;p34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295" name="Google Shape;295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34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297" name="Google Shape;297;p34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298" name="Google Shape;298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34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sp>
        <p:nvSpPr>
          <p:cNvPr id="300" name="Google Shape;30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programa: </a:t>
            </a:r>
            <a:r>
              <a:rPr b="1" lang="en"/>
              <a:t>1 Carrega o programa</a:t>
            </a:r>
            <a:endParaRPr b="1"/>
          </a:p>
        </p:txBody>
      </p:sp>
      <p:grpSp>
        <p:nvGrpSpPr>
          <p:cNvPr id="306" name="Google Shape;306;p35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307" name="Google Shape;307;p35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35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309" name="Google Shape;309;p35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310" name="Google Shape;3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35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312" name="Google Shape;312;p35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313" name="Google Shape;313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35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315" name="Google Shape;315;p35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316" name="Google Shape;316;p3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35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cxnSp>
        <p:nvCxnSpPr>
          <p:cNvPr id="318" name="Google Shape;318;p35"/>
          <p:cNvCxnSpPr>
            <a:stCxn id="310" idx="3"/>
            <a:endCxn id="313" idx="1"/>
          </p:cNvCxnSpPr>
          <p:nvPr/>
        </p:nvCxnSpPr>
        <p:spPr>
          <a:xfrm flipH="1" rot="10800000">
            <a:off x="2075051" y="2440602"/>
            <a:ext cx="2814600" cy="195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" name="Google Shape;319;p35"/>
          <p:cNvSpPr/>
          <p:nvPr/>
        </p:nvSpPr>
        <p:spPr>
          <a:xfrm>
            <a:off x="2902736" y="2988481"/>
            <a:ext cx="14289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Executável</a:t>
            </a:r>
            <a:endParaRPr/>
          </a:p>
        </p:txBody>
      </p:sp>
      <p:sp>
        <p:nvSpPr>
          <p:cNvPr id="320" name="Google Shape;320;p35"/>
          <p:cNvSpPr txBox="1"/>
          <p:nvPr/>
        </p:nvSpPr>
        <p:spPr>
          <a:xfrm>
            <a:off x="2853375" y="2621650"/>
            <a:ext cx="152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0001010 1010 10 0101 010 0 1 11 010 1010</a:t>
            </a:r>
            <a:endParaRPr sz="900"/>
          </a:p>
        </p:txBody>
      </p:sp>
      <p:sp>
        <p:nvSpPr>
          <p:cNvPr id="321" name="Google Shape;32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programa: </a:t>
            </a:r>
            <a:r>
              <a:rPr b="1" lang="en"/>
              <a:t>1 Carrega o programa</a:t>
            </a:r>
            <a:endParaRPr b="1"/>
          </a:p>
        </p:txBody>
      </p:sp>
      <p:grpSp>
        <p:nvGrpSpPr>
          <p:cNvPr id="327" name="Google Shape;327;p36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328" name="Google Shape;328;p36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6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330" name="Google Shape;330;p36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331" name="Google Shape;33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36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333" name="Google Shape;333;p36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334" name="Google Shape;334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36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336" name="Google Shape;336;p36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337" name="Google Shape;337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36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cxnSp>
        <p:nvCxnSpPr>
          <p:cNvPr id="339" name="Google Shape;339;p36"/>
          <p:cNvCxnSpPr>
            <a:stCxn id="334" idx="1"/>
            <a:endCxn id="328" idx="3"/>
          </p:cNvCxnSpPr>
          <p:nvPr/>
        </p:nvCxnSpPr>
        <p:spPr>
          <a:xfrm rot="10800000">
            <a:off x="2379249" y="2182274"/>
            <a:ext cx="2510400" cy="25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6"/>
          <p:cNvSpPr/>
          <p:nvPr/>
        </p:nvSpPr>
        <p:spPr>
          <a:xfrm>
            <a:off x="3039786" y="1908206"/>
            <a:ext cx="14289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Executável</a:t>
            </a:r>
            <a:endParaRPr/>
          </a:p>
        </p:txBody>
      </p:sp>
      <p:sp>
        <p:nvSpPr>
          <p:cNvPr id="341" name="Google Shape;341;p36"/>
          <p:cNvSpPr txBox="1"/>
          <p:nvPr/>
        </p:nvSpPr>
        <p:spPr>
          <a:xfrm>
            <a:off x="2990425" y="1509100"/>
            <a:ext cx="152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0001010 1010 10 0101 010 0 1 11 010 1010</a:t>
            </a:r>
            <a:endParaRPr sz="900"/>
          </a:p>
        </p:txBody>
      </p:sp>
      <p:sp>
        <p:nvSpPr>
          <p:cNvPr id="342" name="Google Shape;34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programa: </a:t>
            </a:r>
            <a:r>
              <a:rPr b="1" lang="en"/>
              <a:t>2 Executa o programa</a:t>
            </a:r>
            <a:endParaRPr b="1"/>
          </a:p>
        </p:txBody>
      </p:sp>
      <p:grpSp>
        <p:nvGrpSpPr>
          <p:cNvPr id="348" name="Google Shape;348;p37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349" name="Google Shape;349;p37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37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351" name="Google Shape;351;p37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352" name="Google Shape;35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7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354" name="Google Shape;354;p37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355" name="Google Shape;355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37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357" name="Google Shape;357;p37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358" name="Google Shape;358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7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sp>
        <p:nvSpPr>
          <p:cNvPr id="360" name="Google Shape;36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programa: </a:t>
            </a:r>
            <a:r>
              <a:rPr b="1" lang="en"/>
              <a:t>2 Executa o programa</a:t>
            </a:r>
            <a:endParaRPr b="1"/>
          </a:p>
        </p:txBody>
      </p:sp>
      <p:grpSp>
        <p:nvGrpSpPr>
          <p:cNvPr id="366" name="Google Shape;366;p38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367" name="Google Shape;367;p38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8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369" name="Google Shape;369;p38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370" name="Google Shape;37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8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372" name="Google Shape;372;p38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373" name="Google Shape;373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38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375" name="Google Shape;375;p38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376" name="Google Shape;376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38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cxnSp>
        <p:nvCxnSpPr>
          <p:cNvPr id="378" name="Google Shape;378;p38"/>
          <p:cNvCxnSpPr>
            <a:stCxn id="367" idx="3"/>
            <a:endCxn id="373" idx="1"/>
          </p:cNvCxnSpPr>
          <p:nvPr/>
        </p:nvCxnSpPr>
        <p:spPr>
          <a:xfrm>
            <a:off x="2379296" y="2182199"/>
            <a:ext cx="2510400" cy="25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8"/>
          <p:cNvSpPr/>
          <p:nvPr/>
        </p:nvSpPr>
        <p:spPr>
          <a:xfrm>
            <a:off x="2846311" y="1936308"/>
            <a:ext cx="14289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Executável</a:t>
            </a:r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2796950" y="1533300"/>
            <a:ext cx="152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0001010 1010 10 0101 010 0 1 11 010 1010</a:t>
            </a:r>
            <a:endParaRPr sz="900"/>
          </a:p>
        </p:txBody>
      </p:sp>
      <p:sp>
        <p:nvSpPr>
          <p:cNvPr id="381" name="Google Shape;38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programa: </a:t>
            </a:r>
            <a:r>
              <a:rPr b="1" lang="en"/>
              <a:t>2 Executa o programa</a:t>
            </a:r>
            <a:endParaRPr b="1"/>
          </a:p>
        </p:txBody>
      </p:sp>
      <p:grpSp>
        <p:nvGrpSpPr>
          <p:cNvPr id="387" name="Google Shape;387;p39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388" name="Google Shape;388;p39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9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390" name="Google Shape;390;p39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391" name="Google Shape;3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9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393" name="Google Shape;393;p39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394" name="Google Shape;394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9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396" name="Google Shape;396;p39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397" name="Google Shape;397;p3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9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cxnSp>
        <p:nvCxnSpPr>
          <p:cNvPr id="399" name="Google Shape;399;p39"/>
          <p:cNvCxnSpPr>
            <a:stCxn id="388" idx="3"/>
            <a:endCxn id="394" idx="1"/>
          </p:cNvCxnSpPr>
          <p:nvPr/>
        </p:nvCxnSpPr>
        <p:spPr>
          <a:xfrm>
            <a:off x="2379296" y="2182199"/>
            <a:ext cx="2510400" cy="25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39"/>
          <p:cNvSpPr/>
          <p:nvPr/>
        </p:nvSpPr>
        <p:spPr>
          <a:xfrm>
            <a:off x="2846311" y="1936308"/>
            <a:ext cx="14289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Executável</a:t>
            </a:r>
            <a:endParaRPr/>
          </a:p>
        </p:txBody>
      </p:sp>
      <p:cxnSp>
        <p:nvCxnSpPr>
          <p:cNvPr id="401" name="Google Shape;401;p39"/>
          <p:cNvCxnSpPr>
            <a:stCxn id="394" idx="3"/>
            <a:endCxn id="397" idx="1"/>
          </p:cNvCxnSpPr>
          <p:nvPr/>
        </p:nvCxnSpPr>
        <p:spPr>
          <a:xfrm>
            <a:off x="6305148" y="2440574"/>
            <a:ext cx="1146900" cy="42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39"/>
          <p:cNvSpPr txBox="1"/>
          <p:nvPr/>
        </p:nvSpPr>
        <p:spPr>
          <a:xfrm>
            <a:off x="2796950" y="1533300"/>
            <a:ext cx="152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0001010 1010 10 0101 010 0 1 11 010 1010</a:t>
            </a:r>
            <a:endParaRPr sz="900"/>
          </a:p>
        </p:txBody>
      </p:sp>
      <p:sp>
        <p:nvSpPr>
          <p:cNvPr id="403" name="Google Shape;4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Execução de um programa: </a:t>
            </a:r>
            <a:r>
              <a:rPr b="1" lang="en"/>
              <a:t>2 Executa o programa</a:t>
            </a:r>
            <a:endParaRPr b="1"/>
          </a:p>
        </p:txBody>
      </p:sp>
      <p:grpSp>
        <p:nvGrpSpPr>
          <p:cNvPr id="409" name="Google Shape;409;p40"/>
          <p:cNvGrpSpPr/>
          <p:nvPr/>
        </p:nvGrpSpPr>
        <p:grpSpPr>
          <a:xfrm>
            <a:off x="102975" y="1125638"/>
            <a:ext cx="3095700" cy="1622962"/>
            <a:chOff x="1029325" y="948288"/>
            <a:chExt cx="3095700" cy="1622962"/>
          </a:xfrm>
        </p:grpSpPr>
        <p:pic>
          <p:nvPicPr>
            <p:cNvPr id="410" name="Google Shape;410;p40"/>
            <p:cNvPicPr preferRelativeResize="0"/>
            <p:nvPr/>
          </p:nvPicPr>
          <p:blipFill rotWithShape="1">
            <a:blip r:embed="rId3">
              <a:alphaModFix/>
            </a:blip>
            <a:srcRect b="8020" l="0" r="0" t="9715"/>
            <a:stretch/>
          </p:blipFill>
          <p:spPr>
            <a:xfrm>
              <a:off x="1928611" y="1438449"/>
              <a:ext cx="1377034" cy="113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40"/>
            <p:cNvSpPr txBox="1"/>
            <p:nvPr/>
          </p:nvSpPr>
          <p:spPr>
            <a:xfrm>
              <a:off x="1029325" y="948288"/>
              <a:ext cx="30957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Primária RAM (Volátil)</a:t>
              </a:r>
              <a:endParaRPr sz="1800"/>
            </a:p>
          </p:txBody>
        </p:sp>
      </p:grpSp>
      <p:grpSp>
        <p:nvGrpSpPr>
          <p:cNvPr id="412" name="Google Shape;412;p40"/>
          <p:cNvGrpSpPr/>
          <p:nvPr/>
        </p:nvGrpSpPr>
        <p:grpSpPr>
          <a:xfrm>
            <a:off x="174650" y="3141975"/>
            <a:ext cx="2434800" cy="1895552"/>
            <a:chOff x="311700" y="3004925"/>
            <a:chExt cx="2434800" cy="1895552"/>
          </a:xfrm>
        </p:grpSpPr>
        <p:pic>
          <p:nvPicPr>
            <p:cNvPr id="413" name="Google Shape;41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6050" y="3614426"/>
              <a:ext cx="1286051" cy="1286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40"/>
            <p:cNvSpPr txBox="1"/>
            <p:nvPr/>
          </p:nvSpPr>
          <p:spPr>
            <a:xfrm>
              <a:off x="311700" y="3004925"/>
              <a:ext cx="24348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Memória Secundária RAM (Não Volátil)</a:t>
              </a:r>
              <a:endParaRPr sz="1800"/>
            </a:p>
          </p:txBody>
        </p:sp>
      </p:grpSp>
      <p:grpSp>
        <p:nvGrpSpPr>
          <p:cNvPr id="415" name="Google Shape;415;p40"/>
          <p:cNvGrpSpPr/>
          <p:nvPr/>
        </p:nvGrpSpPr>
        <p:grpSpPr>
          <a:xfrm>
            <a:off x="4379999" y="1422224"/>
            <a:ext cx="2434800" cy="1726100"/>
            <a:chOff x="3422399" y="2272612"/>
            <a:chExt cx="2434800" cy="1726100"/>
          </a:xfrm>
        </p:grpSpPr>
        <p:pic>
          <p:nvPicPr>
            <p:cNvPr id="416" name="Google Shape;416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2049" y="2583212"/>
              <a:ext cx="1415500" cy="141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40"/>
            <p:cNvSpPr txBox="1"/>
            <p:nvPr/>
          </p:nvSpPr>
          <p:spPr>
            <a:xfrm>
              <a:off x="3422399" y="2272612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Processador</a:t>
              </a:r>
              <a:endParaRPr sz="1800"/>
            </a:p>
          </p:txBody>
        </p:sp>
      </p:grpSp>
      <p:grpSp>
        <p:nvGrpSpPr>
          <p:cNvPr id="418" name="Google Shape;418;p40"/>
          <p:cNvGrpSpPr/>
          <p:nvPr/>
        </p:nvGrpSpPr>
        <p:grpSpPr>
          <a:xfrm>
            <a:off x="6828900" y="2030356"/>
            <a:ext cx="2434800" cy="1428894"/>
            <a:chOff x="6828900" y="2030356"/>
            <a:chExt cx="2434800" cy="1428894"/>
          </a:xfrm>
        </p:grpSpPr>
        <p:pic>
          <p:nvPicPr>
            <p:cNvPr id="419" name="Google Shape;419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51913" y="2273375"/>
              <a:ext cx="1185875" cy="1185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40"/>
            <p:cNvSpPr txBox="1"/>
            <p:nvPr/>
          </p:nvSpPr>
          <p:spPr>
            <a:xfrm>
              <a:off x="6828900" y="2030356"/>
              <a:ext cx="24348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Monitor</a:t>
              </a:r>
              <a:endParaRPr sz="1800"/>
            </a:p>
          </p:txBody>
        </p:sp>
      </p:grpSp>
      <p:cxnSp>
        <p:nvCxnSpPr>
          <p:cNvPr id="421" name="Google Shape;421;p40"/>
          <p:cNvCxnSpPr>
            <a:stCxn id="410" idx="3"/>
            <a:endCxn id="416" idx="1"/>
          </p:cNvCxnSpPr>
          <p:nvPr/>
        </p:nvCxnSpPr>
        <p:spPr>
          <a:xfrm>
            <a:off x="2379296" y="2182199"/>
            <a:ext cx="2510400" cy="25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40"/>
          <p:cNvSpPr/>
          <p:nvPr/>
        </p:nvSpPr>
        <p:spPr>
          <a:xfrm>
            <a:off x="2846311" y="1936308"/>
            <a:ext cx="1428900" cy="928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2A1"/>
              </a:gs>
              <a:gs pos="35000">
                <a:srgbClr val="FFBEBD"/>
              </a:gs>
              <a:gs pos="100000">
                <a:srgbClr val="FFE5E5"/>
              </a:gs>
            </a:gsLst>
            <a:lin ang="16200038" scaled="0"/>
          </a:gradFill>
          <a:ln cap="flat" cmpd="sng" w="9525">
            <a:solidFill>
              <a:srgbClr val="BE4B4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Executável</a:t>
            </a:r>
            <a:endParaRPr/>
          </a:p>
        </p:txBody>
      </p:sp>
      <p:cxnSp>
        <p:nvCxnSpPr>
          <p:cNvPr id="423" name="Google Shape;423;p40"/>
          <p:cNvCxnSpPr>
            <a:stCxn id="416" idx="3"/>
            <a:endCxn id="419" idx="1"/>
          </p:cNvCxnSpPr>
          <p:nvPr/>
        </p:nvCxnSpPr>
        <p:spPr>
          <a:xfrm>
            <a:off x="6305148" y="2440574"/>
            <a:ext cx="1146900" cy="42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4" name="Google Shape;42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5400" y="3926975"/>
            <a:ext cx="1146900" cy="114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p40"/>
          <p:cNvCxnSpPr>
            <a:stCxn id="419" idx="2"/>
            <a:endCxn id="424" idx="0"/>
          </p:cNvCxnSpPr>
          <p:nvPr/>
        </p:nvCxnSpPr>
        <p:spPr>
          <a:xfrm>
            <a:off x="8044850" y="3459250"/>
            <a:ext cx="74100" cy="46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" name="Google Shape;426;p40"/>
          <p:cNvSpPr txBox="1"/>
          <p:nvPr/>
        </p:nvSpPr>
        <p:spPr>
          <a:xfrm>
            <a:off x="2796950" y="1533300"/>
            <a:ext cx="152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0001010 1010 10 0101 010 0 1 11 010 1010</a:t>
            </a:r>
            <a:endParaRPr sz="900"/>
          </a:p>
        </p:txBody>
      </p:sp>
      <p:sp>
        <p:nvSpPr>
          <p:cNvPr id="427" name="Google Shape;42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Algoritmos</a:t>
            </a:r>
            <a:endParaRPr/>
          </a:p>
        </p:txBody>
      </p:sp>
      <p:sp>
        <p:nvSpPr>
          <p:cNvPr id="433" name="Google Shape;433;p41"/>
          <p:cNvSpPr txBox="1"/>
          <p:nvPr>
            <p:ph idx="1" type="body"/>
          </p:nvPr>
        </p:nvSpPr>
        <p:spPr>
          <a:xfrm>
            <a:off x="457200" y="1006075"/>
            <a:ext cx="8229600" cy="3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Computador não tem senso próprio</a:t>
            </a:r>
            <a:endParaRPr sz="1700"/>
          </a:p>
          <a:p>
            <a:pPr indent="-27940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 receber instruções explícitas (algoritmos)</a:t>
            </a:r>
            <a:endParaRPr sz="1300"/>
          </a:p>
          <a:p>
            <a:pPr indent="-1333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" sz="2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algoritmo correto deve possuir 3 qualidades:</a:t>
            </a:r>
            <a:endParaRPr sz="1700"/>
          </a:p>
          <a:p>
            <a:pPr indent="-27940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arenR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passo do algoritmo deve ser uma instrução que possa ser realizada.</a:t>
            </a:r>
            <a:endParaRPr sz="1300"/>
          </a:p>
          <a:p>
            <a:pPr indent="-27940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arenR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ordem dos passos deve ser precisamente determinada.</a:t>
            </a:r>
            <a:endParaRPr sz="1300"/>
          </a:p>
          <a:p>
            <a:pPr indent="-27940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arenR"/>
            </a:pPr>
            <a:r>
              <a:rPr b="0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algoritmo deve ter fim.</a:t>
            </a:r>
            <a:endParaRPr sz="1300"/>
          </a:p>
        </p:txBody>
      </p:sp>
      <p:sp>
        <p:nvSpPr>
          <p:cNvPr id="434" name="Google Shape;434;p4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35" name="Google Shape;435;p4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</a:t>
            </a:r>
            <a:endParaRPr/>
          </a:p>
        </p:txBody>
      </p:sp>
      <p:sp>
        <p:nvSpPr>
          <p:cNvPr id="441" name="Google Shape;441;p4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para trocar pneu de um carro</a:t>
            </a:r>
            <a:endParaRPr/>
          </a:p>
        </p:txBody>
      </p:sp>
      <p:sp>
        <p:nvSpPr>
          <p:cNvPr id="442" name="Google Shape;442;p4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43" name="Google Shape;443;p42"/>
          <p:cNvSpPr/>
          <p:nvPr/>
        </p:nvSpPr>
        <p:spPr>
          <a:xfrm>
            <a:off x="2013012" y="2659075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</p:txBody>
      </p:sp>
      <p:sp>
        <p:nvSpPr>
          <p:cNvPr id="444" name="Google Shape;444;p42"/>
          <p:cNvSpPr/>
          <p:nvPr/>
        </p:nvSpPr>
        <p:spPr>
          <a:xfrm>
            <a:off x="2013012" y="3944950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445" name="Google Shape;445;p42"/>
          <p:cNvSpPr/>
          <p:nvPr/>
        </p:nvSpPr>
        <p:spPr>
          <a:xfrm>
            <a:off x="1798700" y="3194856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Trocar Pneu</a:t>
            </a:r>
            <a:endParaRPr/>
          </a:p>
        </p:txBody>
      </p:sp>
      <p:cxnSp>
        <p:nvCxnSpPr>
          <p:cNvPr id="446" name="Google Shape;446;p42"/>
          <p:cNvCxnSpPr/>
          <p:nvPr/>
        </p:nvCxnSpPr>
        <p:spPr>
          <a:xfrm rot="5400000">
            <a:off x="2357525" y="3040534"/>
            <a:ext cx="309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47" name="Google Shape;447;p42"/>
          <p:cNvCxnSpPr/>
          <p:nvPr/>
        </p:nvCxnSpPr>
        <p:spPr>
          <a:xfrm rot="5400000">
            <a:off x="2366524" y="3799488"/>
            <a:ext cx="291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448" name="Google Shape;448;p42"/>
          <p:cNvSpPr/>
          <p:nvPr/>
        </p:nvSpPr>
        <p:spPr>
          <a:xfrm>
            <a:off x="4496048" y="2488425"/>
            <a:ext cx="3727200" cy="1500000"/>
          </a:xfrm>
          <a:prstGeom prst="cloudCallout">
            <a:avLst>
              <a:gd fmla="val -39" name="adj1"/>
              <a:gd fmla="val 23344" name="adj2"/>
            </a:avLst>
          </a:prstGeom>
          <a:gradFill>
            <a:gsLst>
              <a:gs pos="0">
                <a:srgbClr val="DAFDA7"/>
              </a:gs>
              <a:gs pos="35000">
                <a:srgbClr val="E4FDC2"/>
              </a:gs>
              <a:gs pos="100000">
                <a:srgbClr val="F5FFE6"/>
              </a:gs>
            </a:gsLst>
            <a:lin ang="16200038" scaled="0"/>
          </a:gradFill>
          <a:ln cap="flat" cmpd="sng" w="9525">
            <a:solidFill>
              <a:srgbClr val="98B95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se o estepe estiver vazio!?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Isso demanda uma decisão entre dois cursos possíveis</a:t>
            </a:r>
            <a:endParaRPr/>
          </a:p>
        </p:txBody>
      </p:sp>
      <p:sp>
        <p:nvSpPr>
          <p:cNvPr id="449" name="Google Shape;449;p4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"/>
          <p:cNvSpPr/>
          <p:nvPr/>
        </p:nvSpPr>
        <p:spPr>
          <a:xfrm>
            <a:off x="1327287" y="2277725"/>
            <a:ext cx="3071812" cy="750094"/>
          </a:xfrm>
          <a:prstGeom prst="flowChartProcess">
            <a:avLst/>
          </a:prstGeom>
          <a:noFill/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</a:t>
            </a:r>
            <a:endParaRPr/>
          </a:p>
        </p:txBody>
      </p:sp>
      <p:sp>
        <p:nvSpPr>
          <p:cNvPr id="456" name="Google Shape;456;p4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para trocar pneu de um carro</a:t>
            </a:r>
            <a:endParaRPr/>
          </a:p>
        </p:txBody>
      </p:sp>
      <p:sp>
        <p:nvSpPr>
          <p:cNvPr id="457" name="Google Shape;457;p4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58" name="Google Shape;458;p43"/>
          <p:cNvSpPr/>
          <p:nvPr/>
        </p:nvSpPr>
        <p:spPr>
          <a:xfrm>
            <a:off x="2327412" y="1956256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</p:txBody>
      </p:sp>
      <p:sp>
        <p:nvSpPr>
          <p:cNvPr id="459" name="Google Shape;459;p43"/>
          <p:cNvSpPr/>
          <p:nvPr/>
        </p:nvSpPr>
        <p:spPr>
          <a:xfrm>
            <a:off x="2327412" y="4541012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460" name="Google Shape;460;p43"/>
          <p:cNvSpPr/>
          <p:nvPr/>
        </p:nvSpPr>
        <p:spPr>
          <a:xfrm>
            <a:off x="2041662" y="2406862"/>
            <a:ext cx="1571625" cy="566738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Estepe vazio?</a:t>
            </a:r>
            <a:endParaRPr/>
          </a:p>
        </p:txBody>
      </p:sp>
      <p:cxnSp>
        <p:nvCxnSpPr>
          <p:cNvPr id="461" name="Google Shape;461;p43"/>
          <p:cNvCxnSpPr/>
          <p:nvPr/>
        </p:nvCxnSpPr>
        <p:spPr>
          <a:xfrm rot="5400000">
            <a:off x="2726074" y="2283565"/>
            <a:ext cx="2013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62" name="Google Shape;462;p43"/>
          <p:cNvCxnSpPr/>
          <p:nvPr/>
        </p:nvCxnSpPr>
        <p:spPr>
          <a:xfrm rot="5400000">
            <a:off x="2699374" y="4412817"/>
            <a:ext cx="2547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463" name="Google Shape;463;p43"/>
          <p:cNvSpPr/>
          <p:nvPr/>
        </p:nvSpPr>
        <p:spPr>
          <a:xfrm>
            <a:off x="2756037" y="4177871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755787" y="3320621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7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Chamar o borracheiro</a:t>
            </a:r>
            <a:endParaRPr sz="1300"/>
          </a:p>
        </p:txBody>
      </p:sp>
      <p:sp>
        <p:nvSpPr>
          <p:cNvPr id="465" name="Google Shape;465;p43"/>
          <p:cNvSpPr/>
          <p:nvPr/>
        </p:nvSpPr>
        <p:spPr>
          <a:xfrm>
            <a:off x="3541850" y="3320621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7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Trocar Pneu</a:t>
            </a:r>
            <a:endParaRPr sz="1300"/>
          </a:p>
        </p:txBody>
      </p:sp>
      <p:cxnSp>
        <p:nvCxnSpPr>
          <p:cNvPr id="466" name="Google Shape;466;p43"/>
          <p:cNvCxnSpPr>
            <a:endCxn id="464" idx="0"/>
          </p:cNvCxnSpPr>
          <p:nvPr/>
        </p:nvCxnSpPr>
        <p:spPr>
          <a:xfrm rot="5400000">
            <a:off x="1451562" y="2710421"/>
            <a:ext cx="628800" cy="591600"/>
          </a:xfrm>
          <a:prstGeom prst="bentConnector3">
            <a:avLst>
              <a:gd fmla="val 1146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67" name="Google Shape;467;p43"/>
          <p:cNvCxnSpPr>
            <a:endCxn id="465" idx="0"/>
          </p:cNvCxnSpPr>
          <p:nvPr/>
        </p:nvCxnSpPr>
        <p:spPr>
          <a:xfrm>
            <a:off x="3613325" y="2693021"/>
            <a:ext cx="642900" cy="6276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68" name="Google Shape;468;p43"/>
          <p:cNvCxnSpPr/>
          <p:nvPr/>
        </p:nvCxnSpPr>
        <p:spPr>
          <a:xfrm flipH="1">
            <a:off x="2899024" y="3780202"/>
            <a:ext cx="1357200" cy="4515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69" name="Google Shape;469;p43"/>
          <p:cNvCxnSpPr/>
          <p:nvPr/>
        </p:nvCxnSpPr>
        <p:spPr>
          <a:xfrm>
            <a:off x="1470161" y="3780202"/>
            <a:ext cx="1285800" cy="4515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470" name="Google Shape;470;p43"/>
          <p:cNvSpPr/>
          <p:nvPr/>
        </p:nvSpPr>
        <p:spPr>
          <a:xfrm>
            <a:off x="5613537" y="1849100"/>
            <a:ext cx="2143200" cy="803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128" y="44852"/>
                </a:moveTo>
                <a:lnTo>
                  <a:pt x="-70049" y="33912"/>
                </a:lnTo>
                <a:lnTo>
                  <a:pt x="-132406" y="83143"/>
                </a:lnTo>
              </a:path>
            </a:pathLst>
          </a:custGeom>
          <a:gradFill>
            <a:gsLst>
              <a:gs pos="0">
                <a:srgbClr val="DAFDA7"/>
              </a:gs>
              <a:gs pos="35000">
                <a:srgbClr val="E4FDC2"/>
              </a:gs>
              <a:gs pos="100000">
                <a:srgbClr val="F5FFE6"/>
              </a:gs>
            </a:gsLst>
            <a:lin ang="16200038" scaled="0"/>
          </a:gradFill>
          <a:ln cap="flat" cmpd="sng" w="9525">
            <a:solidFill>
              <a:srgbClr val="98B95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condicional</a:t>
            </a:r>
            <a:endParaRPr/>
          </a:p>
        </p:txBody>
      </p:sp>
      <p:sp>
        <p:nvSpPr>
          <p:cNvPr id="471" name="Google Shape;471;p43"/>
          <p:cNvSpPr txBox="1"/>
          <p:nvPr/>
        </p:nvSpPr>
        <p:spPr>
          <a:xfrm>
            <a:off x="1541600" y="2365190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472" name="Google Shape;472;p43"/>
          <p:cNvSpPr txBox="1"/>
          <p:nvPr/>
        </p:nvSpPr>
        <p:spPr>
          <a:xfrm>
            <a:off x="3684725" y="2365190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473" name="Google Shape;473;p43"/>
          <p:cNvSpPr/>
          <p:nvPr/>
        </p:nvSpPr>
        <p:spPr>
          <a:xfrm>
            <a:off x="6185037" y="3295709"/>
            <a:ext cx="1571700" cy="117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58" y="0"/>
                </a:moveTo>
                <a:close/>
                <a:lnTo>
                  <a:pt x="-2658" y="120000"/>
                </a:lnTo>
              </a:path>
              <a:path extrusionOk="0" fill="none" h="120000" w="120000">
                <a:moveTo>
                  <a:pt x="-2658" y="32496"/>
                </a:moveTo>
                <a:lnTo>
                  <a:pt x="-93841" y="2652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certo que esse processo poderia ser melhor detalhado</a:t>
            </a:r>
            <a:endParaRPr/>
          </a:p>
        </p:txBody>
      </p:sp>
      <p:sp>
        <p:nvSpPr>
          <p:cNvPr id="474" name="Google Shape;474;p4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para trocar pneu de um carro</a:t>
            </a:r>
            <a:endParaRPr/>
          </a:p>
        </p:txBody>
      </p:sp>
      <p:sp>
        <p:nvSpPr>
          <p:cNvPr id="480" name="Google Shape;480;p44"/>
          <p:cNvSpPr/>
          <p:nvPr/>
        </p:nvSpPr>
        <p:spPr>
          <a:xfrm>
            <a:off x="3424362" y="2342332"/>
            <a:ext cx="1785937" cy="2357438"/>
          </a:xfrm>
          <a:prstGeom prst="flowChartProcess">
            <a:avLst/>
          </a:prstGeom>
          <a:solidFill>
            <a:schemeClr val="lt1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</a:t>
            </a:r>
            <a:endParaRPr/>
          </a:p>
        </p:txBody>
      </p:sp>
      <p:sp>
        <p:nvSpPr>
          <p:cNvPr id="482" name="Google Shape;482;p4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83" name="Google Shape;483;p44"/>
          <p:cNvSpPr/>
          <p:nvPr/>
        </p:nvSpPr>
        <p:spPr>
          <a:xfrm>
            <a:off x="2375024" y="1761307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 sz="1200"/>
          </a:p>
        </p:txBody>
      </p:sp>
      <p:sp>
        <p:nvSpPr>
          <p:cNvPr id="484" name="Google Shape;484;p44"/>
          <p:cNvSpPr/>
          <p:nvPr/>
        </p:nvSpPr>
        <p:spPr>
          <a:xfrm>
            <a:off x="2375024" y="4856932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485" name="Google Shape;485;p44"/>
          <p:cNvSpPr/>
          <p:nvPr/>
        </p:nvSpPr>
        <p:spPr>
          <a:xfrm>
            <a:off x="2089274" y="2136354"/>
            <a:ext cx="1571625" cy="482203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Estepe vazio?</a:t>
            </a:r>
            <a:endParaRPr sz="1200"/>
          </a:p>
        </p:txBody>
      </p:sp>
      <p:cxnSp>
        <p:nvCxnSpPr>
          <p:cNvPr id="486" name="Google Shape;486;p44"/>
          <p:cNvCxnSpPr/>
          <p:nvPr/>
        </p:nvCxnSpPr>
        <p:spPr>
          <a:xfrm rot="5400000">
            <a:off x="2800536" y="2061767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87" name="Google Shape;487;p44"/>
          <p:cNvCxnSpPr/>
          <p:nvPr/>
        </p:nvCxnSpPr>
        <p:spPr>
          <a:xfrm rot="5400000">
            <a:off x="2800536" y="4782344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488" name="Google Shape;488;p44"/>
          <p:cNvSpPr/>
          <p:nvPr/>
        </p:nvSpPr>
        <p:spPr>
          <a:xfrm>
            <a:off x="2803649" y="4600948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4"/>
          <p:cNvSpPr/>
          <p:nvPr/>
        </p:nvSpPr>
        <p:spPr>
          <a:xfrm>
            <a:off x="803399" y="3047182"/>
            <a:ext cx="1428750" cy="375047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Chamar o borracheiro</a:t>
            </a:r>
            <a:endParaRPr/>
          </a:p>
        </p:txBody>
      </p:sp>
      <p:sp>
        <p:nvSpPr>
          <p:cNvPr id="490" name="Google Shape;490;p44"/>
          <p:cNvSpPr/>
          <p:nvPr/>
        </p:nvSpPr>
        <p:spPr>
          <a:xfrm>
            <a:off x="3589462" y="2511401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Levantar o carro</a:t>
            </a:r>
            <a:endParaRPr sz="1200"/>
          </a:p>
        </p:txBody>
      </p:sp>
      <p:cxnSp>
        <p:nvCxnSpPr>
          <p:cNvPr id="491" name="Google Shape;491;p44"/>
          <p:cNvCxnSpPr>
            <a:stCxn id="485" idx="1"/>
          </p:cNvCxnSpPr>
          <p:nvPr/>
        </p:nvCxnSpPr>
        <p:spPr>
          <a:xfrm flipH="1">
            <a:off x="1517774" y="2377456"/>
            <a:ext cx="571500" cy="6696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92" name="Google Shape;492;p44"/>
          <p:cNvCxnSpPr/>
          <p:nvPr/>
        </p:nvCxnSpPr>
        <p:spPr>
          <a:xfrm>
            <a:off x="3660899" y="2376861"/>
            <a:ext cx="642900" cy="1347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93" name="Google Shape;493;p44"/>
          <p:cNvCxnSpPr>
            <a:stCxn id="494" idx="2"/>
          </p:cNvCxnSpPr>
          <p:nvPr/>
        </p:nvCxnSpPr>
        <p:spPr>
          <a:xfrm rot="5400000">
            <a:off x="3571687" y="3922320"/>
            <a:ext cx="107100" cy="13572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95" name="Google Shape;495;p44"/>
          <p:cNvCxnSpPr/>
          <p:nvPr/>
        </p:nvCxnSpPr>
        <p:spPr>
          <a:xfrm flipH="1" rot="-5400000">
            <a:off x="1544473" y="3395529"/>
            <a:ext cx="12324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496" name="Google Shape;496;p44"/>
          <p:cNvSpPr txBox="1"/>
          <p:nvPr/>
        </p:nvSpPr>
        <p:spPr>
          <a:xfrm>
            <a:off x="1589212" y="2037532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497" name="Google Shape;497;p44"/>
          <p:cNvSpPr txBox="1"/>
          <p:nvPr/>
        </p:nvSpPr>
        <p:spPr>
          <a:xfrm>
            <a:off x="3732337" y="2037532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498" name="Google Shape;498;p44"/>
          <p:cNvSpPr/>
          <p:nvPr/>
        </p:nvSpPr>
        <p:spPr>
          <a:xfrm>
            <a:off x="5875462" y="2940026"/>
            <a:ext cx="1643100" cy="2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5282" y="0"/>
                </a:moveTo>
                <a:close/>
                <a:lnTo>
                  <a:pt x="5282" y="120000"/>
                </a:lnTo>
              </a:path>
              <a:path extrusionOk="0" fill="none" h="120000" w="120000">
                <a:moveTo>
                  <a:pt x="5282" y="-12014"/>
                </a:moveTo>
                <a:lnTo>
                  <a:pt x="-46000" y="-192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 ser detalhado</a:t>
            </a:r>
            <a:endParaRPr/>
          </a:p>
        </p:txBody>
      </p:sp>
      <p:sp>
        <p:nvSpPr>
          <p:cNvPr id="499" name="Google Shape;499;p44"/>
          <p:cNvSpPr/>
          <p:nvPr/>
        </p:nvSpPr>
        <p:spPr>
          <a:xfrm>
            <a:off x="3589462" y="2832870"/>
            <a:ext cx="1428750" cy="321469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Desparafusar</a:t>
            </a:r>
            <a:endParaRPr sz="120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roda</a:t>
            </a:r>
            <a:endParaRPr sz="1200"/>
          </a:p>
        </p:txBody>
      </p:sp>
      <p:sp>
        <p:nvSpPr>
          <p:cNvPr id="500" name="Google Shape;500;p44"/>
          <p:cNvSpPr/>
          <p:nvPr/>
        </p:nvSpPr>
        <p:spPr>
          <a:xfrm>
            <a:off x="3589462" y="3261495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Remover a roda</a:t>
            </a:r>
            <a:endParaRPr sz="1200"/>
          </a:p>
        </p:txBody>
      </p:sp>
      <p:sp>
        <p:nvSpPr>
          <p:cNvPr id="501" name="Google Shape;501;p44"/>
          <p:cNvSpPr/>
          <p:nvPr/>
        </p:nvSpPr>
        <p:spPr>
          <a:xfrm>
            <a:off x="3589462" y="3582963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Colocar o estepe</a:t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3589462" y="3904432"/>
            <a:ext cx="1428750" cy="321469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Parafusar</a:t>
            </a:r>
            <a:endParaRPr sz="120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roda</a:t>
            </a:r>
            <a:endParaRPr sz="1200"/>
          </a:p>
        </p:txBody>
      </p:sp>
      <p:sp>
        <p:nvSpPr>
          <p:cNvPr id="494" name="Google Shape;494;p44"/>
          <p:cNvSpPr/>
          <p:nvPr/>
        </p:nvSpPr>
        <p:spPr>
          <a:xfrm>
            <a:off x="3589462" y="4333057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Abaixar o carro</a:t>
            </a:r>
            <a:endParaRPr sz="1200"/>
          </a:p>
        </p:txBody>
      </p:sp>
      <p:cxnSp>
        <p:nvCxnSpPr>
          <p:cNvPr id="503" name="Google Shape;503;p44"/>
          <p:cNvCxnSpPr/>
          <p:nvPr/>
        </p:nvCxnSpPr>
        <p:spPr>
          <a:xfrm rot="5400000">
            <a:off x="4249536" y="2779704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04" name="Google Shape;504;p44"/>
          <p:cNvCxnSpPr/>
          <p:nvPr/>
        </p:nvCxnSpPr>
        <p:spPr>
          <a:xfrm rot="5400000">
            <a:off x="4249536" y="3208329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05" name="Google Shape;505;p44"/>
          <p:cNvCxnSpPr/>
          <p:nvPr/>
        </p:nvCxnSpPr>
        <p:spPr>
          <a:xfrm rot="5400000">
            <a:off x="4249536" y="3529797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06" name="Google Shape;506;p44"/>
          <p:cNvCxnSpPr/>
          <p:nvPr/>
        </p:nvCxnSpPr>
        <p:spPr>
          <a:xfrm rot="5400000">
            <a:off x="4249536" y="3851266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07" name="Google Shape;507;p44"/>
          <p:cNvCxnSpPr/>
          <p:nvPr/>
        </p:nvCxnSpPr>
        <p:spPr>
          <a:xfrm rot="5400000">
            <a:off x="4249536" y="4279891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08" name="Google Shape;508;p44"/>
          <p:cNvSpPr/>
          <p:nvPr/>
        </p:nvSpPr>
        <p:spPr>
          <a:xfrm>
            <a:off x="5875462" y="4011588"/>
            <a:ext cx="1643100" cy="2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5282" y="0"/>
                </a:moveTo>
                <a:close/>
                <a:lnTo>
                  <a:pt x="5282" y="120000"/>
                </a:lnTo>
              </a:path>
              <a:path extrusionOk="0" fill="none" h="120000" w="120000">
                <a:moveTo>
                  <a:pt x="5282" y="-12014"/>
                </a:moveTo>
                <a:lnTo>
                  <a:pt x="-46000" y="-192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 ser detalhado</a:t>
            </a:r>
            <a:endParaRPr/>
          </a:p>
        </p:txBody>
      </p:sp>
      <p:sp>
        <p:nvSpPr>
          <p:cNvPr id="509" name="Google Shape;509;p44"/>
          <p:cNvSpPr/>
          <p:nvPr/>
        </p:nvSpPr>
        <p:spPr>
          <a:xfrm>
            <a:off x="6071449" y="1868436"/>
            <a:ext cx="2143200" cy="803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18" y="59075"/>
                </a:moveTo>
                <a:lnTo>
                  <a:pt x="-24512" y="65640"/>
                </a:lnTo>
                <a:lnTo>
                  <a:pt x="-56000" y="135000"/>
                </a:lnTo>
              </a:path>
            </a:pathLst>
          </a:custGeom>
          <a:gradFill>
            <a:gsLst>
              <a:gs pos="0">
                <a:srgbClr val="DAFDA7"/>
              </a:gs>
              <a:gs pos="35000">
                <a:srgbClr val="E4FDC2"/>
              </a:gs>
              <a:gs pos="100000">
                <a:srgbClr val="F5FFE6"/>
              </a:gs>
            </a:gsLst>
            <a:lin ang="16200038" scaled="0"/>
          </a:gradFill>
          <a:ln cap="flat" cmpd="sng" w="9525">
            <a:solidFill>
              <a:srgbClr val="98B95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seqüencial</a:t>
            </a:r>
            <a:endParaRPr/>
          </a:p>
        </p:txBody>
      </p:sp>
      <p:sp>
        <p:nvSpPr>
          <p:cNvPr id="510" name="Google Shape;510;p4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</a:t>
            </a:r>
            <a:endParaRPr/>
          </a:p>
        </p:txBody>
      </p:sp>
      <p:sp>
        <p:nvSpPr>
          <p:cNvPr id="516" name="Google Shape;516;p4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para trocar pneu de um carro</a:t>
            </a:r>
            <a:endParaRPr/>
          </a:p>
        </p:txBody>
      </p:sp>
      <p:sp>
        <p:nvSpPr>
          <p:cNvPr id="517" name="Google Shape;517;p45"/>
          <p:cNvSpPr/>
          <p:nvPr/>
        </p:nvSpPr>
        <p:spPr>
          <a:xfrm>
            <a:off x="2519362" y="1737122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</p:txBody>
      </p:sp>
      <p:sp>
        <p:nvSpPr>
          <p:cNvPr id="518" name="Google Shape;518;p45"/>
          <p:cNvSpPr/>
          <p:nvPr/>
        </p:nvSpPr>
        <p:spPr>
          <a:xfrm>
            <a:off x="2519362" y="4832747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519" name="Google Shape;519;p45"/>
          <p:cNvSpPr/>
          <p:nvPr/>
        </p:nvSpPr>
        <p:spPr>
          <a:xfrm>
            <a:off x="2233612" y="2112169"/>
            <a:ext cx="1571625" cy="482203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Estepe vazio?</a:t>
            </a:r>
            <a:endParaRPr sz="1100"/>
          </a:p>
        </p:txBody>
      </p:sp>
      <p:cxnSp>
        <p:nvCxnSpPr>
          <p:cNvPr id="520" name="Google Shape;520;p45"/>
          <p:cNvCxnSpPr/>
          <p:nvPr/>
        </p:nvCxnSpPr>
        <p:spPr>
          <a:xfrm rot="5400000">
            <a:off x="2944875" y="2037581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21" name="Google Shape;521;p45"/>
          <p:cNvCxnSpPr/>
          <p:nvPr/>
        </p:nvCxnSpPr>
        <p:spPr>
          <a:xfrm rot="5400000">
            <a:off x="2944875" y="4758159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522" name="Google Shape;522;p45"/>
          <p:cNvSpPr/>
          <p:nvPr/>
        </p:nvSpPr>
        <p:spPr>
          <a:xfrm>
            <a:off x="2947987" y="4576763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5"/>
          <p:cNvSpPr/>
          <p:nvPr/>
        </p:nvSpPr>
        <p:spPr>
          <a:xfrm>
            <a:off x="947737" y="3022997"/>
            <a:ext cx="1428750" cy="375047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Chamar o borracheiro</a:t>
            </a:r>
            <a:endParaRPr/>
          </a:p>
        </p:txBody>
      </p:sp>
      <p:sp>
        <p:nvSpPr>
          <p:cNvPr id="524" name="Google Shape;524;p45"/>
          <p:cNvSpPr/>
          <p:nvPr/>
        </p:nvSpPr>
        <p:spPr>
          <a:xfrm>
            <a:off x="3733800" y="2487215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Levantar o carro</a:t>
            </a:r>
            <a:endParaRPr/>
          </a:p>
        </p:txBody>
      </p:sp>
      <p:cxnSp>
        <p:nvCxnSpPr>
          <p:cNvPr id="525" name="Google Shape;525;p45"/>
          <p:cNvCxnSpPr>
            <a:endCxn id="523" idx="0"/>
          </p:cNvCxnSpPr>
          <p:nvPr/>
        </p:nvCxnSpPr>
        <p:spPr>
          <a:xfrm rot="5400000">
            <a:off x="1612762" y="2402147"/>
            <a:ext cx="670200" cy="571500"/>
          </a:xfrm>
          <a:prstGeom prst="bentConnector3">
            <a:avLst>
              <a:gd fmla="val -1876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26" name="Google Shape;526;p45"/>
          <p:cNvCxnSpPr/>
          <p:nvPr/>
        </p:nvCxnSpPr>
        <p:spPr>
          <a:xfrm>
            <a:off x="3805237" y="2352675"/>
            <a:ext cx="642900" cy="1347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27" name="Google Shape;527;p45"/>
          <p:cNvCxnSpPr>
            <a:stCxn id="528" idx="2"/>
          </p:cNvCxnSpPr>
          <p:nvPr/>
        </p:nvCxnSpPr>
        <p:spPr>
          <a:xfrm rot="5400000">
            <a:off x="3716025" y="3898134"/>
            <a:ext cx="107100" cy="13572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29" name="Google Shape;529;p45"/>
          <p:cNvCxnSpPr/>
          <p:nvPr/>
        </p:nvCxnSpPr>
        <p:spPr>
          <a:xfrm flipH="1" rot="-5400000">
            <a:off x="1688812" y="3371343"/>
            <a:ext cx="12324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530" name="Google Shape;530;p45"/>
          <p:cNvSpPr txBox="1"/>
          <p:nvPr/>
        </p:nvSpPr>
        <p:spPr>
          <a:xfrm>
            <a:off x="1733550" y="1937147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531" name="Google Shape;531;p45"/>
          <p:cNvSpPr txBox="1"/>
          <p:nvPr/>
        </p:nvSpPr>
        <p:spPr>
          <a:xfrm>
            <a:off x="3876675" y="1937147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532" name="Google Shape;532;p45"/>
          <p:cNvSpPr/>
          <p:nvPr/>
        </p:nvSpPr>
        <p:spPr>
          <a:xfrm>
            <a:off x="3733800" y="2808684"/>
            <a:ext cx="1785900" cy="321600"/>
          </a:xfrm>
          <a:prstGeom prst="rightArrowCallout">
            <a:avLst>
              <a:gd fmla="val 17458" name="adj1"/>
              <a:gd fmla="val 25000" name="adj2"/>
              <a:gd fmla="val 20304" name="adj3"/>
              <a:gd fmla="val 64977" name="adj4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Desparafusar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roda</a:t>
            </a:r>
            <a:endParaRPr/>
          </a:p>
        </p:txBody>
      </p:sp>
      <p:sp>
        <p:nvSpPr>
          <p:cNvPr id="533" name="Google Shape;533;p45"/>
          <p:cNvSpPr/>
          <p:nvPr/>
        </p:nvSpPr>
        <p:spPr>
          <a:xfrm>
            <a:off x="3733800" y="3237309"/>
            <a:ext cx="1428750" cy="214312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Remover a roda</a:t>
            </a:r>
            <a:endParaRPr/>
          </a:p>
        </p:txBody>
      </p:sp>
      <p:sp>
        <p:nvSpPr>
          <p:cNvPr id="534" name="Google Shape;534;p45"/>
          <p:cNvSpPr/>
          <p:nvPr/>
        </p:nvSpPr>
        <p:spPr>
          <a:xfrm>
            <a:off x="3733800" y="3558778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Colocar o estepe</a:t>
            </a:r>
            <a:endParaRPr/>
          </a:p>
        </p:txBody>
      </p:sp>
      <p:sp>
        <p:nvSpPr>
          <p:cNvPr id="535" name="Google Shape;535;p45"/>
          <p:cNvSpPr/>
          <p:nvPr/>
        </p:nvSpPr>
        <p:spPr>
          <a:xfrm>
            <a:off x="3733800" y="3880247"/>
            <a:ext cx="1785900" cy="321600"/>
          </a:xfrm>
          <a:prstGeom prst="rightArrowCallout">
            <a:avLst>
              <a:gd fmla="val 17217" name="adj1"/>
              <a:gd fmla="val 25000" name="adj2"/>
              <a:gd fmla="val 20304" name="adj3"/>
              <a:gd fmla="val 64977" name="adj4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Parafusar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roda</a:t>
            </a:r>
            <a:endParaRPr/>
          </a:p>
        </p:txBody>
      </p:sp>
      <p:sp>
        <p:nvSpPr>
          <p:cNvPr id="528" name="Google Shape;528;p45"/>
          <p:cNvSpPr/>
          <p:nvPr/>
        </p:nvSpPr>
        <p:spPr>
          <a:xfrm>
            <a:off x="3733800" y="4308872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Abaixar o carro</a:t>
            </a:r>
            <a:endParaRPr/>
          </a:p>
        </p:txBody>
      </p:sp>
      <p:cxnSp>
        <p:nvCxnSpPr>
          <p:cNvPr id="536" name="Google Shape;536;p45"/>
          <p:cNvCxnSpPr/>
          <p:nvPr/>
        </p:nvCxnSpPr>
        <p:spPr>
          <a:xfrm rot="5400000">
            <a:off x="4393874" y="2755518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7" name="Google Shape;537;p45"/>
          <p:cNvCxnSpPr/>
          <p:nvPr/>
        </p:nvCxnSpPr>
        <p:spPr>
          <a:xfrm rot="5400000">
            <a:off x="4393874" y="3184143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8" name="Google Shape;538;p45"/>
          <p:cNvCxnSpPr/>
          <p:nvPr/>
        </p:nvCxnSpPr>
        <p:spPr>
          <a:xfrm rot="5400000">
            <a:off x="4393874" y="3505612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39" name="Google Shape;539;p45"/>
          <p:cNvCxnSpPr/>
          <p:nvPr/>
        </p:nvCxnSpPr>
        <p:spPr>
          <a:xfrm rot="5400000">
            <a:off x="4393874" y="3827081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40" name="Google Shape;540;p45"/>
          <p:cNvCxnSpPr/>
          <p:nvPr/>
        </p:nvCxnSpPr>
        <p:spPr>
          <a:xfrm rot="5400000">
            <a:off x="4393874" y="4255706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41" name="Google Shape;541;p45"/>
          <p:cNvSpPr/>
          <p:nvPr/>
        </p:nvSpPr>
        <p:spPr>
          <a:xfrm>
            <a:off x="5591175" y="2567513"/>
            <a:ext cx="2000250" cy="857400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1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2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3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4</a:t>
            </a:r>
            <a:endParaRPr/>
          </a:p>
        </p:txBody>
      </p:sp>
      <p:sp>
        <p:nvSpPr>
          <p:cNvPr id="542" name="Google Shape;542;p45"/>
          <p:cNvSpPr/>
          <p:nvPr/>
        </p:nvSpPr>
        <p:spPr>
          <a:xfrm>
            <a:off x="5591175" y="3647124"/>
            <a:ext cx="1857375" cy="734125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1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2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3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4</a:t>
            </a:r>
            <a:endParaRPr/>
          </a:p>
        </p:txBody>
      </p:sp>
      <p:sp>
        <p:nvSpPr>
          <p:cNvPr id="543" name="Google Shape;543;p45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544" name="Google Shape;544;p4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Algoritmos</a:t>
            </a:r>
            <a:endParaRPr/>
          </a:p>
        </p:txBody>
      </p:sp>
      <p:sp>
        <p:nvSpPr>
          <p:cNvPr id="550" name="Google Shape;550;p4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uma estrutura seqüencial, os passos são tomados em uma seqüência pré-definida.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6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552" name="Google Shape;552;p46"/>
          <p:cNvGrpSpPr/>
          <p:nvPr/>
        </p:nvGrpSpPr>
        <p:grpSpPr>
          <a:xfrm>
            <a:off x="3097787" y="2632028"/>
            <a:ext cx="1428750" cy="1875150"/>
            <a:chOff x="1928813" y="2928938"/>
            <a:chExt cx="1428750" cy="2500200"/>
          </a:xfrm>
        </p:grpSpPr>
        <p:sp>
          <p:nvSpPr>
            <p:cNvPr id="553" name="Google Shape;553;p46"/>
            <p:cNvSpPr/>
            <p:nvPr/>
          </p:nvSpPr>
          <p:spPr>
            <a:xfrm>
              <a:off x="1928813" y="3214688"/>
              <a:ext cx="1428750" cy="285750"/>
            </a:xfrm>
            <a:prstGeom prst="flowChartProcess">
              <a:avLst/>
            </a:prstGeom>
            <a:gradFill>
              <a:gsLst>
                <a:gs pos="0">
                  <a:srgbClr val="A3C4FF"/>
                </a:gs>
                <a:gs pos="35000">
                  <a:srgbClr val="BFD5FF"/>
                </a:gs>
                <a:gs pos="100000">
                  <a:srgbClr val="E5EEFF"/>
                </a:gs>
              </a:gsLst>
              <a:lin ang="16200038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" name="Google Shape;554;p46"/>
            <p:cNvCxnSpPr/>
            <p:nvPr/>
          </p:nvCxnSpPr>
          <p:spPr>
            <a:xfrm flipH="1" rot="-5400000">
              <a:off x="2500538" y="3071588"/>
              <a:ext cx="285900" cy="600"/>
            </a:xfrm>
            <a:prstGeom prst="bentConnector3">
              <a:avLst>
                <a:gd fmla="val 50000" name="adj1"/>
              </a:avLst>
            </a:prstGeom>
            <a:gradFill>
              <a:gsLst>
                <a:gs pos="0">
                  <a:srgbClr val="A3C4FF"/>
                </a:gs>
                <a:gs pos="35000">
                  <a:srgbClr val="BFD5FF"/>
                </a:gs>
                <a:gs pos="100000">
                  <a:srgbClr val="E5EEFF"/>
                </a:gs>
              </a:gsLst>
              <a:lin ang="16200038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med" w="med" type="none"/>
              <a:tailEnd len="med" w="med" type="stealth"/>
            </a:ln>
            <a:effectLst>
              <a:outerShdw blurRad="63500" dir="5400000" dist="20000">
                <a:srgbClr val="000000">
                  <a:alpha val="37650"/>
                </a:srgbClr>
              </a:outerShdw>
            </a:effectLst>
          </p:spPr>
        </p:cxnSp>
        <p:sp>
          <p:nvSpPr>
            <p:cNvPr id="555" name="Google Shape;555;p46"/>
            <p:cNvSpPr/>
            <p:nvPr/>
          </p:nvSpPr>
          <p:spPr>
            <a:xfrm>
              <a:off x="1928813" y="3643313"/>
              <a:ext cx="1428750" cy="285750"/>
            </a:xfrm>
            <a:prstGeom prst="flowChartProcess">
              <a:avLst/>
            </a:prstGeom>
            <a:gradFill>
              <a:gsLst>
                <a:gs pos="0">
                  <a:srgbClr val="A3C4FF"/>
                </a:gs>
                <a:gs pos="35000">
                  <a:srgbClr val="BFD5FF"/>
                </a:gs>
                <a:gs pos="100000">
                  <a:srgbClr val="E5EEFF"/>
                </a:gs>
              </a:gsLst>
              <a:lin ang="16200038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1928813" y="4071938"/>
              <a:ext cx="1428750" cy="285750"/>
            </a:xfrm>
            <a:prstGeom prst="flowChartProcess">
              <a:avLst/>
            </a:prstGeom>
            <a:gradFill>
              <a:gsLst>
                <a:gs pos="0">
                  <a:srgbClr val="A3C4FF"/>
                </a:gs>
                <a:gs pos="35000">
                  <a:srgbClr val="BFD5FF"/>
                </a:gs>
                <a:gs pos="100000">
                  <a:srgbClr val="E5EEFF"/>
                </a:gs>
              </a:gsLst>
              <a:lin ang="16200038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1928813" y="4500563"/>
              <a:ext cx="1428750" cy="285750"/>
            </a:xfrm>
            <a:prstGeom prst="flowChartProcess">
              <a:avLst/>
            </a:prstGeom>
            <a:gradFill>
              <a:gsLst>
                <a:gs pos="0">
                  <a:srgbClr val="A3C4FF"/>
                </a:gs>
                <a:gs pos="35000">
                  <a:srgbClr val="BFD5FF"/>
                </a:gs>
                <a:gs pos="100000">
                  <a:srgbClr val="E5EEFF"/>
                </a:gs>
              </a:gsLst>
              <a:lin ang="16200038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1928813" y="4929188"/>
              <a:ext cx="1428750" cy="285750"/>
            </a:xfrm>
            <a:prstGeom prst="flowChartProcess">
              <a:avLst/>
            </a:prstGeom>
            <a:gradFill>
              <a:gsLst>
                <a:gs pos="0">
                  <a:srgbClr val="A3C4FF"/>
                </a:gs>
                <a:gs pos="35000">
                  <a:srgbClr val="BFD5FF"/>
                </a:gs>
                <a:gs pos="100000">
                  <a:srgbClr val="E5EEFF"/>
                </a:gs>
              </a:gsLst>
              <a:lin ang="16200038" scaled="0"/>
            </a:gradFill>
            <a:ln cap="flat" cmpd="sng" w="9525">
              <a:solidFill>
                <a:srgbClr val="4A7EB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9" name="Google Shape;559;p46"/>
            <p:cNvCxnSpPr/>
            <p:nvPr/>
          </p:nvCxnSpPr>
          <p:spPr>
            <a:xfrm rot="5400000">
              <a:off x="2571038" y="3571088"/>
              <a:ext cx="142800" cy="1500"/>
            </a:xfrm>
            <a:prstGeom prst="straightConnector1">
              <a:avLst/>
            </a:prstGeom>
            <a:noFill/>
            <a:ln cap="flat" cmpd="sng" w="9525">
              <a:solidFill>
                <a:srgbClr val="4A7EBB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0" name="Google Shape;560;p46"/>
            <p:cNvCxnSpPr/>
            <p:nvPr/>
          </p:nvCxnSpPr>
          <p:spPr>
            <a:xfrm rot="5400000">
              <a:off x="2571038" y="3999713"/>
              <a:ext cx="142800" cy="1500"/>
            </a:xfrm>
            <a:prstGeom prst="straightConnector1">
              <a:avLst/>
            </a:prstGeom>
            <a:noFill/>
            <a:ln cap="flat" cmpd="sng" w="9525">
              <a:solidFill>
                <a:srgbClr val="4A7EBB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1" name="Google Shape;561;p46"/>
            <p:cNvCxnSpPr/>
            <p:nvPr/>
          </p:nvCxnSpPr>
          <p:spPr>
            <a:xfrm rot="5400000">
              <a:off x="2571038" y="4429925"/>
              <a:ext cx="142800" cy="1500"/>
            </a:xfrm>
            <a:prstGeom prst="straightConnector1">
              <a:avLst/>
            </a:prstGeom>
            <a:noFill/>
            <a:ln cap="flat" cmpd="sng" w="9525">
              <a:solidFill>
                <a:srgbClr val="4A7EBB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2" name="Google Shape;562;p46"/>
            <p:cNvCxnSpPr/>
            <p:nvPr/>
          </p:nvCxnSpPr>
          <p:spPr>
            <a:xfrm rot="5400000">
              <a:off x="2571038" y="4856963"/>
              <a:ext cx="142800" cy="1500"/>
            </a:xfrm>
            <a:prstGeom prst="straightConnector1">
              <a:avLst/>
            </a:prstGeom>
            <a:noFill/>
            <a:ln cap="flat" cmpd="sng" w="9525">
              <a:solidFill>
                <a:srgbClr val="4A7EBB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3" name="Google Shape;563;p46"/>
            <p:cNvCxnSpPr/>
            <p:nvPr/>
          </p:nvCxnSpPr>
          <p:spPr>
            <a:xfrm rot="5400000">
              <a:off x="2536088" y="5322038"/>
              <a:ext cx="214200" cy="0"/>
            </a:xfrm>
            <a:prstGeom prst="straightConnector1">
              <a:avLst/>
            </a:prstGeom>
            <a:noFill/>
            <a:ln cap="flat" cmpd="sng" w="9525">
              <a:solidFill>
                <a:srgbClr val="4A7EBB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sp>
        <p:nvSpPr>
          <p:cNvPr id="564" name="Google Shape;564;p46"/>
          <p:cNvSpPr txBox="1"/>
          <p:nvPr/>
        </p:nvSpPr>
        <p:spPr>
          <a:xfrm>
            <a:off x="4572012" y="3246340"/>
            <a:ext cx="178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Seqüencial</a:t>
            </a:r>
            <a:endParaRPr/>
          </a:p>
        </p:txBody>
      </p:sp>
      <p:sp>
        <p:nvSpPr>
          <p:cNvPr id="565" name="Google Shape;565;p4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Algoritmos</a:t>
            </a:r>
            <a:endParaRPr/>
          </a:p>
        </p:txBody>
      </p:sp>
      <p:sp>
        <p:nvSpPr>
          <p:cNvPr id="571" name="Google Shape;571;p4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estrutura condicional permite a escolha do grupo de ações a ser executado quando determinada condição é ou não satisfeita.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7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573" name="Google Shape;573;p47"/>
          <p:cNvSpPr txBox="1"/>
          <p:nvPr/>
        </p:nvSpPr>
        <p:spPr>
          <a:xfrm>
            <a:off x="5458912" y="3261178"/>
            <a:ext cx="178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Condicional</a:t>
            </a:r>
            <a:endParaRPr/>
          </a:p>
        </p:txBody>
      </p:sp>
      <p:sp>
        <p:nvSpPr>
          <p:cNvPr id="574" name="Google Shape;574;p47"/>
          <p:cNvSpPr/>
          <p:nvPr/>
        </p:nvSpPr>
        <p:spPr>
          <a:xfrm>
            <a:off x="1975625" y="3030150"/>
            <a:ext cx="2192375" cy="566725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Condição</a:t>
            </a: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575" name="Google Shape;575;p47"/>
          <p:cNvCxnSpPr/>
          <p:nvPr/>
        </p:nvCxnSpPr>
        <p:spPr>
          <a:xfrm rot="5400000">
            <a:off x="2970412" y="2928825"/>
            <a:ext cx="2013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76" name="Google Shape;576;p47"/>
          <p:cNvCxnSpPr/>
          <p:nvPr/>
        </p:nvCxnSpPr>
        <p:spPr>
          <a:xfrm rot="5400000">
            <a:off x="2943712" y="4699790"/>
            <a:ext cx="2547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577" name="Google Shape;577;p47"/>
          <p:cNvSpPr/>
          <p:nvPr/>
        </p:nvSpPr>
        <p:spPr>
          <a:xfrm>
            <a:off x="3000375" y="4464844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7"/>
          <p:cNvSpPr/>
          <p:nvPr/>
        </p:nvSpPr>
        <p:spPr>
          <a:xfrm>
            <a:off x="1000125" y="3714750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7"/>
          <p:cNvSpPr/>
          <p:nvPr/>
        </p:nvSpPr>
        <p:spPr>
          <a:xfrm>
            <a:off x="3786187" y="3714750"/>
            <a:ext cx="1428750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47"/>
          <p:cNvCxnSpPr>
            <a:stCxn id="574" idx="1"/>
          </p:cNvCxnSpPr>
          <p:nvPr/>
        </p:nvCxnSpPr>
        <p:spPr>
          <a:xfrm flipH="1">
            <a:off x="1714625" y="3313513"/>
            <a:ext cx="261000" cy="401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81" name="Google Shape;581;p47"/>
          <p:cNvCxnSpPr>
            <a:stCxn id="574" idx="3"/>
          </p:cNvCxnSpPr>
          <p:nvPr/>
        </p:nvCxnSpPr>
        <p:spPr>
          <a:xfrm>
            <a:off x="4168000" y="3313513"/>
            <a:ext cx="332400" cy="401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82" name="Google Shape;582;p47"/>
          <p:cNvCxnSpPr>
            <a:stCxn id="579" idx="2"/>
          </p:cNvCxnSpPr>
          <p:nvPr/>
        </p:nvCxnSpPr>
        <p:spPr>
          <a:xfrm rot="5400000">
            <a:off x="3649912" y="3667781"/>
            <a:ext cx="344100" cy="13572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583" name="Google Shape;583;p47"/>
          <p:cNvCxnSpPr>
            <a:stCxn id="578" idx="2"/>
          </p:cNvCxnSpPr>
          <p:nvPr/>
        </p:nvCxnSpPr>
        <p:spPr>
          <a:xfrm flipH="1" rot="-5400000">
            <a:off x="2185350" y="3703481"/>
            <a:ext cx="3441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584" name="Google Shape;584;p47"/>
          <p:cNvSpPr txBox="1"/>
          <p:nvPr/>
        </p:nvSpPr>
        <p:spPr>
          <a:xfrm>
            <a:off x="1758108" y="2979690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585" name="Google Shape;585;p47"/>
          <p:cNvSpPr txBox="1"/>
          <p:nvPr/>
        </p:nvSpPr>
        <p:spPr>
          <a:xfrm>
            <a:off x="3901233" y="2979690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586" name="Google Shape;586;p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Algoritmos</a:t>
            </a:r>
            <a:endParaRPr/>
          </a:p>
        </p:txBody>
      </p:sp>
      <p:sp>
        <p:nvSpPr>
          <p:cNvPr id="592" name="Google Shape;592;p4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estrutura de repetição permite que uma seqüência de comandos seja executada repetidamente até que uma determinada condição de interrupção seja satisfeita.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594" name="Google Shape;594;p48"/>
          <p:cNvSpPr txBox="1"/>
          <p:nvPr/>
        </p:nvSpPr>
        <p:spPr>
          <a:xfrm>
            <a:off x="4868725" y="3681415"/>
            <a:ext cx="178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 Repetição</a:t>
            </a:r>
            <a:endParaRPr/>
          </a:p>
        </p:txBody>
      </p:sp>
      <p:cxnSp>
        <p:nvCxnSpPr>
          <p:cNvPr id="595" name="Google Shape;595;p48"/>
          <p:cNvCxnSpPr/>
          <p:nvPr/>
        </p:nvCxnSpPr>
        <p:spPr>
          <a:xfrm rot="5400000">
            <a:off x="2848537" y="3269443"/>
            <a:ext cx="160800" cy="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96" name="Google Shape;596;p48"/>
          <p:cNvSpPr/>
          <p:nvPr/>
        </p:nvSpPr>
        <p:spPr>
          <a:xfrm>
            <a:off x="2143125" y="3349777"/>
            <a:ext cx="1643100" cy="321600"/>
          </a:xfrm>
          <a:prstGeom prst="hexagon">
            <a:avLst>
              <a:gd fmla="val 1409" name="adj"/>
              <a:gd fmla="val 115470" name="vf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Condição </a:t>
            </a: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597" name="Google Shape;597;p48"/>
          <p:cNvCxnSpPr>
            <a:stCxn id="596" idx="0"/>
          </p:cNvCxnSpPr>
          <p:nvPr/>
        </p:nvCxnSpPr>
        <p:spPr>
          <a:xfrm flipH="1">
            <a:off x="3516825" y="3510577"/>
            <a:ext cx="269400" cy="1239600"/>
          </a:xfrm>
          <a:prstGeom prst="bentConnector4">
            <a:avLst>
              <a:gd fmla="val -88391" name="adj1"/>
              <a:gd fmla="val 81488" name="adj2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598" name="Google Shape;598;p48"/>
          <p:cNvSpPr txBox="1"/>
          <p:nvPr/>
        </p:nvSpPr>
        <p:spPr>
          <a:xfrm>
            <a:off x="2500312" y="3671246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599" name="Google Shape;599;p48"/>
          <p:cNvSpPr txBox="1"/>
          <p:nvPr/>
        </p:nvSpPr>
        <p:spPr>
          <a:xfrm>
            <a:off x="3988025" y="3326146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600" name="Google Shape;600;p48"/>
          <p:cNvSpPr/>
          <p:nvPr/>
        </p:nvSpPr>
        <p:spPr>
          <a:xfrm>
            <a:off x="2214562" y="4046293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p48"/>
          <p:cNvCxnSpPr/>
          <p:nvPr/>
        </p:nvCxnSpPr>
        <p:spPr>
          <a:xfrm rot="5400000">
            <a:off x="2740837" y="3859346"/>
            <a:ext cx="376200" cy="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02" name="Google Shape;602;p48"/>
          <p:cNvCxnSpPr>
            <a:stCxn id="600" idx="2"/>
            <a:endCxn id="596" idx="3"/>
          </p:cNvCxnSpPr>
          <p:nvPr/>
        </p:nvCxnSpPr>
        <p:spPr>
          <a:xfrm flipH="1" rot="5400000">
            <a:off x="2161087" y="3492756"/>
            <a:ext cx="750000" cy="785700"/>
          </a:xfrm>
          <a:prstGeom prst="bentConnector4">
            <a:avLst>
              <a:gd fmla="val -31750" name="adj1"/>
              <a:gd fmla="val 130322" name="adj2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03" name="Google Shape;603;p48"/>
          <p:cNvSpPr/>
          <p:nvPr/>
        </p:nvSpPr>
        <p:spPr>
          <a:xfrm>
            <a:off x="2796320" y="4782414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</a:t>
            </a:r>
            <a:endParaRPr/>
          </a:p>
        </p:txBody>
      </p:sp>
      <p:sp>
        <p:nvSpPr>
          <p:cNvPr id="610" name="Google Shape;610;p4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para trocar pneu de um carro</a:t>
            </a:r>
            <a:endParaRPr/>
          </a:p>
        </p:txBody>
      </p:sp>
      <p:sp>
        <p:nvSpPr>
          <p:cNvPr id="611" name="Google Shape;611;p4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12" name="Google Shape;612;p49"/>
          <p:cNvSpPr/>
          <p:nvPr/>
        </p:nvSpPr>
        <p:spPr>
          <a:xfrm>
            <a:off x="7715250" y="2625328"/>
            <a:ext cx="1143000" cy="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4843" y="0"/>
                </a:moveTo>
                <a:close/>
                <a:lnTo>
                  <a:pt x="4843" y="120000"/>
                </a:lnTo>
              </a:path>
              <a:path extrusionOk="0" fill="none" h="120000" w="120000">
                <a:moveTo>
                  <a:pt x="4843" y="-8311"/>
                </a:moveTo>
                <a:lnTo>
                  <a:pt x="-46000" y="-192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uma repetição inconveniente</a:t>
            </a:r>
            <a:endParaRPr/>
          </a:p>
        </p:txBody>
      </p:sp>
      <p:sp>
        <p:nvSpPr>
          <p:cNvPr id="613" name="Google Shape;613;p49"/>
          <p:cNvSpPr/>
          <p:nvPr/>
        </p:nvSpPr>
        <p:spPr>
          <a:xfrm>
            <a:off x="7643812" y="3696890"/>
            <a:ext cx="1143000" cy="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4843" y="0"/>
                </a:moveTo>
                <a:close/>
                <a:lnTo>
                  <a:pt x="4843" y="120000"/>
                </a:lnTo>
              </a:path>
              <a:path extrusionOk="0" fill="none" h="120000" w="120000">
                <a:moveTo>
                  <a:pt x="4843" y="-8311"/>
                </a:moveTo>
                <a:lnTo>
                  <a:pt x="-46000" y="-1927"/>
                </a:lnTo>
              </a:path>
            </a:pathLst>
          </a:custGeom>
          <a:solidFill>
            <a:schemeClr val="lt1"/>
          </a:solidFill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uma repetição inconveniente</a:t>
            </a:r>
            <a:endParaRPr/>
          </a:p>
        </p:txBody>
      </p:sp>
      <p:sp>
        <p:nvSpPr>
          <p:cNvPr id="614" name="Google Shape;614;p49"/>
          <p:cNvSpPr/>
          <p:nvPr/>
        </p:nvSpPr>
        <p:spPr>
          <a:xfrm>
            <a:off x="2519362" y="1737122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</p:txBody>
      </p:sp>
      <p:sp>
        <p:nvSpPr>
          <p:cNvPr id="615" name="Google Shape;615;p49"/>
          <p:cNvSpPr/>
          <p:nvPr/>
        </p:nvSpPr>
        <p:spPr>
          <a:xfrm>
            <a:off x="2519362" y="4832747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616" name="Google Shape;616;p49"/>
          <p:cNvSpPr/>
          <p:nvPr/>
        </p:nvSpPr>
        <p:spPr>
          <a:xfrm>
            <a:off x="2233612" y="2112169"/>
            <a:ext cx="1571625" cy="482203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Estepe vazio?</a:t>
            </a:r>
            <a:endParaRPr sz="1100"/>
          </a:p>
        </p:txBody>
      </p:sp>
      <p:cxnSp>
        <p:nvCxnSpPr>
          <p:cNvPr id="617" name="Google Shape;617;p49"/>
          <p:cNvCxnSpPr/>
          <p:nvPr/>
        </p:nvCxnSpPr>
        <p:spPr>
          <a:xfrm rot="5400000">
            <a:off x="2944875" y="2037581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18" name="Google Shape;618;p49"/>
          <p:cNvCxnSpPr/>
          <p:nvPr/>
        </p:nvCxnSpPr>
        <p:spPr>
          <a:xfrm rot="5400000">
            <a:off x="2944875" y="4758159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19" name="Google Shape;619;p49"/>
          <p:cNvSpPr/>
          <p:nvPr/>
        </p:nvSpPr>
        <p:spPr>
          <a:xfrm>
            <a:off x="2947987" y="4576763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947737" y="3022997"/>
            <a:ext cx="1428750" cy="375047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Chamar o borracheiro</a:t>
            </a:r>
            <a:endParaRPr/>
          </a:p>
        </p:txBody>
      </p:sp>
      <p:sp>
        <p:nvSpPr>
          <p:cNvPr id="621" name="Google Shape;621;p49"/>
          <p:cNvSpPr/>
          <p:nvPr/>
        </p:nvSpPr>
        <p:spPr>
          <a:xfrm>
            <a:off x="3733800" y="2487215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Levantar o carro</a:t>
            </a:r>
            <a:endParaRPr/>
          </a:p>
        </p:txBody>
      </p:sp>
      <p:cxnSp>
        <p:nvCxnSpPr>
          <p:cNvPr id="622" name="Google Shape;622;p49"/>
          <p:cNvCxnSpPr>
            <a:stCxn id="616" idx="1"/>
            <a:endCxn id="620" idx="0"/>
          </p:cNvCxnSpPr>
          <p:nvPr/>
        </p:nvCxnSpPr>
        <p:spPr>
          <a:xfrm flipH="1">
            <a:off x="1662112" y="2353270"/>
            <a:ext cx="571500" cy="6696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23" name="Google Shape;623;p49"/>
          <p:cNvCxnSpPr/>
          <p:nvPr/>
        </p:nvCxnSpPr>
        <p:spPr>
          <a:xfrm>
            <a:off x="3805237" y="2352675"/>
            <a:ext cx="642900" cy="1347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24" name="Google Shape;624;p49"/>
          <p:cNvCxnSpPr/>
          <p:nvPr/>
        </p:nvCxnSpPr>
        <p:spPr>
          <a:xfrm flipH="1">
            <a:off x="3090975" y="4523184"/>
            <a:ext cx="1357200" cy="107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25" name="Google Shape;625;p49"/>
          <p:cNvCxnSpPr/>
          <p:nvPr/>
        </p:nvCxnSpPr>
        <p:spPr>
          <a:xfrm flipH="1" rot="-5400000">
            <a:off x="1688812" y="3371343"/>
            <a:ext cx="12324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26" name="Google Shape;626;p49"/>
          <p:cNvSpPr txBox="1"/>
          <p:nvPr/>
        </p:nvSpPr>
        <p:spPr>
          <a:xfrm>
            <a:off x="1733550" y="1937147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627" name="Google Shape;627;p49"/>
          <p:cNvSpPr txBox="1"/>
          <p:nvPr/>
        </p:nvSpPr>
        <p:spPr>
          <a:xfrm>
            <a:off x="3876675" y="1937147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628" name="Google Shape;628;p49"/>
          <p:cNvSpPr/>
          <p:nvPr/>
        </p:nvSpPr>
        <p:spPr>
          <a:xfrm>
            <a:off x="3733800" y="2808684"/>
            <a:ext cx="1785900" cy="321600"/>
          </a:xfrm>
          <a:prstGeom prst="rightArrowCallout">
            <a:avLst>
              <a:gd fmla="val 17458" name="adj1"/>
              <a:gd fmla="val 25000" name="adj2"/>
              <a:gd fmla="val 20304" name="adj3"/>
              <a:gd fmla="val 64977" name="adj4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Desparafusar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roda</a:t>
            </a:r>
            <a:endParaRPr/>
          </a:p>
        </p:txBody>
      </p:sp>
      <p:sp>
        <p:nvSpPr>
          <p:cNvPr id="629" name="Google Shape;629;p49"/>
          <p:cNvSpPr/>
          <p:nvPr/>
        </p:nvSpPr>
        <p:spPr>
          <a:xfrm>
            <a:off x="3733800" y="3237309"/>
            <a:ext cx="1428750" cy="214312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Remover a roda</a:t>
            </a:r>
            <a:endParaRPr/>
          </a:p>
        </p:txBody>
      </p:sp>
      <p:sp>
        <p:nvSpPr>
          <p:cNvPr id="630" name="Google Shape;630;p49"/>
          <p:cNvSpPr/>
          <p:nvPr/>
        </p:nvSpPr>
        <p:spPr>
          <a:xfrm>
            <a:off x="3733800" y="3558778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Colocar o estepe</a:t>
            </a:r>
            <a:endParaRPr/>
          </a:p>
        </p:txBody>
      </p:sp>
      <p:sp>
        <p:nvSpPr>
          <p:cNvPr id="631" name="Google Shape;631;p49"/>
          <p:cNvSpPr/>
          <p:nvPr/>
        </p:nvSpPr>
        <p:spPr>
          <a:xfrm>
            <a:off x="3733800" y="3880247"/>
            <a:ext cx="1785900" cy="321600"/>
          </a:xfrm>
          <a:prstGeom prst="rightArrowCallout">
            <a:avLst>
              <a:gd fmla="val 17217" name="adj1"/>
              <a:gd fmla="val 25000" name="adj2"/>
              <a:gd fmla="val 20304" name="adj3"/>
              <a:gd fmla="val 64977" name="adj4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Parafusar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" sz="1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roda</a:t>
            </a:r>
            <a:endParaRPr/>
          </a:p>
        </p:txBody>
      </p:sp>
      <p:sp>
        <p:nvSpPr>
          <p:cNvPr id="632" name="Google Shape;632;p49"/>
          <p:cNvSpPr/>
          <p:nvPr/>
        </p:nvSpPr>
        <p:spPr>
          <a:xfrm>
            <a:off x="3733800" y="4308872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Abaixar o carro</a:t>
            </a:r>
            <a:endParaRPr/>
          </a:p>
        </p:txBody>
      </p:sp>
      <p:cxnSp>
        <p:nvCxnSpPr>
          <p:cNvPr id="633" name="Google Shape;633;p49"/>
          <p:cNvCxnSpPr/>
          <p:nvPr/>
        </p:nvCxnSpPr>
        <p:spPr>
          <a:xfrm rot="5400000">
            <a:off x="4393874" y="2755518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4" name="Google Shape;634;p49"/>
          <p:cNvCxnSpPr/>
          <p:nvPr/>
        </p:nvCxnSpPr>
        <p:spPr>
          <a:xfrm rot="5400000">
            <a:off x="4393874" y="3184143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5" name="Google Shape;635;p49"/>
          <p:cNvCxnSpPr/>
          <p:nvPr/>
        </p:nvCxnSpPr>
        <p:spPr>
          <a:xfrm rot="5400000">
            <a:off x="4393874" y="3505612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6" name="Google Shape;636;p49"/>
          <p:cNvCxnSpPr/>
          <p:nvPr/>
        </p:nvCxnSpPr>
        <p:spPr>
          <a:xfrm rot="5400000">
            <a:off x="4393874" y="3827081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37" name="Google Shape;637;p49"/>
          <p:cNvCxnSpPr/>
          <p:nvPr/>
        </p:nvCxnSpPr>
        <p:spPr>
          <a:xfrm rot="5400000">
            <a:off x="4393874" y="4255706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38" name="Google Shape;638;p49"/>
          <p:cNvSpPr/>
          <p:nvPr/>
        </p:nvSpPr>
        <p:spPr>
          <a:xfrm>
            <a:off x="5591175" y="2567513"/>
            <a:ext cx="2000250" cy="857400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1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2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3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o parafuso 4</a:t>
            </a:r>
            <a:endParaRPr/>
          </a:p>
        </p:txBody>
      </p:sp>
      <p:sp>
        <p:nvSpPr>
          <p:cNvPr id="639" name="Google Shape;639;p49"/>
          <p:cNvSpPr/>
          <p:nvPr/>
        </p:nvSpPr>
        <p:spPr>
          <a:xfrm>
            <a:off x="5591175" y="3647124"/>
            <a:ext cx="1857375" cy="734125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1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2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3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o parafuso 4</a:t>
            </a:r>
            <a:endParaRPr/>
          </a:p>
        </p:txBody>
      </p:sp>
      <p:sp>
        <p:nvSpPr>
          <p:cNvPr id="640" name="Google Shape;640;p4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0"/>
          <p:cNvSpPr/>
          <p:nvPr/>
        </p:nvSpPr>
        <p:spPr>
          <a:xfrm>
            <a:off x="2357437" y="1660922"/>
            <a:ext cx="2714625" cy="964406"/>
          </a:xfrm>
          <a:prstGeom prst="flowChartProcess">
            <a:avLst/>
          </a:prstGeom>
          <a:noFill/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0"/>
          <p:cNvSpPr/>
          <p:nvPr/>
        </p:nvSpPr>
        <p:spPr>
          <a:xfrm>
            <a:off x="2357437" y="3268265"/>
            <a:ext cx="2714625" cy="964406"/>
          </a:xfrm>
          <a:prstGeom prst="flowChartProcess">
            <a:avLst/>
          </a:prstGeom>
          <a:noFill/>
          <a:ln cap="flat" cmpd="sng" w="25400">
            <a:solidFill>
              <a:srgbClr val="9BBB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Algoritmo</a:t>
            </a:r>
            <a:endParaRPr/>
          </a:p>
        </p:txBody>
      </p:sp>
      <p:sp>
        <p:nvSpPr>
          <p:cNvPr id="648" name="Google Shape;648;p50"/>
          <p:cNvSpPr txBox="1"/>
          <p:nvPr>
            <p:ph idx="1" type="body"/>
          </p:nvPr>
        </p:nvSpPr>
        <p:spPr>
          <a:xfrm>
            <a:off x="4953000" y="10477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para trocar pneu de um carro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0"/>
          <p:cNvSpPr txBox="1"/>
          <p:nvPr/>
        </p:nvSpPr>
        <p:spPr>
          <a:xfrm>
            <a:off x="6500812" y="47148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50" name="Google Shape;650;p50"/>
          <p:cNvSpPr/>
          <p:nvPr/>
        </p:nvSpPr>
        <p:spPr>
          <a:xfrm>
            <a:off x="1714500" y="589359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</p:txBody>
      </p:sp>
      <p:sp>
        <p:nvSpPr>
          <p:cNvPr id="651" name="Google Shape;651;p50"/>
          <p:cNvSpPr/>
          <p:nvPr/>
        </p:nvSpPr>
        <p:spPr>
          <a:xfrm>
            <a:off x="1714500" y="4756547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652" name="Google Shape;652;p50"/>
          <p:cNvSpPr/>
          <p:nvPr/>
        </p:nvSpPr>
        <p:spPr>
          <a:xfrm>
            <a:off x="1428750" y="964406"/>
            <a:ext cx="1571625" cy="482203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Estepe vazio?</a:t>
            </a:r>
            <a:endParaRPr sz="1000"/>
          </a:p>
        </p:txBody>
      </p:sp>
      <p:cxnSp>
        <p:nvCxnSpPr>
          <p:cNvPr id="653" name="Google Shape;653;p50"/>
          <p:cNvCxnSpPr/>
          <p:nvPr/>
        </p:nvCxnSpPr>
        <p:spPr>
          <a:xfrm rot="5400000">
            <a:off x="2140012" y="889818"/>
            <a:ext cx="1476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54" name="Google Shape;654;p50"/>
          <p:cNvCxnSpPr/>
          <p:nvPr/>
        </p:nvCxnSpPr>
        <p:spPr>
          <a:xfrm rot="5400000">
            <a:off x="2166262" y="4709287"/>
            <a:ext cx="951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55" name="Google Shape;655;p50"/>
          <p:cNvSpPr/>
          <p:nvPr/>
        </p:nvSpPr>
        <p:spPr>
          <a:xfrm>
            <a:off x="2143125" y="4554140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0"/>
          <p:cNvSpPr/>
          <p:nvPr/>
        </p:nvSpPr>
        <p:spPr>
          <a:xfrm>
            <a:off x="142875" y="1875234"/>
            <a:ext cx="1428750" cy="375047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Chamar o borracheiro</a:t>
            </a:r>
            <a:endParaRPr/>
          </a:p>
        </p:txBody>
      </p:sp>
      <p:sp>
        <p:nvSpPr>
          <p:cNvPr id="657" name="Google Shape;657;p50"/>
          <p:cNvSpPr/>
          <p:nvPr/>
        </p:nvSpPr>
        <p:spPr>
          <a:xfrm>
            <a:off x="2928937" y="1339453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Levantar o carro</a:t>
            </a:r>
            <a:endParaRPr/>
          </a:p>
        </p:txBody>
      </p:sp>
      <p:cxnSp>
        <p:nvCxnSpPr>
          <p:cNvPr id="658" name="Google Shape;658;p50"/>
          <p:cNvCxnSpPr>
            <a:endCxn id="656" idx="0"/>
          </p:cNvCxnSpPr>
          <p:nvPr/>
        </p:nvCxnSpPr>
        <p:spPr>
          <a:xfrm rot="5400000">
            <a:off x="807900" y="1254384"/>
            <a:ext cx="670200" cy="571500"/>
          </a:xfrm>
          <a:prstGeom prst="bentConnector3">
            <a:avLst>
              <a:gd fmla="val -509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59" name="Google Shape;659;p50"/>
          <p:cNvCxnSpPr/>
          <p:nvPr/>
        </p:nvCxnSpPr>
        <p:spPr>
          <a:xfrm>
            <a:off x="3000375" y="1204913"/>
            <a:ext cx="642900" cy="1347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60" name="Google Shape;660;p50"/>
          <p:cNvCxnSpPr/>
          <p:nvPr/>
        </p:nvCxnSpPr>
        <p:spPr>
          <a:xfrm flipH="1">
            <a:off x="2286112" y="4500562"/>
            <a:ext cx="1357200" cy="1071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61" name="Google Shape;661;p50"/>
          <p:cNvCxnSpPr/>
          <p:nvPr/>
        </p:nvCxnSpPr>
        <p:spPr>
          <a:xfrm flipH="1" rot="-5400000">
            <a:off x="321301" y="2786231"/>
            <a:ext cx="2357700" cy="12858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62" name="Google Shape;662;p50"/>
          <p:cNvSpPr txBox="1"/>
          <p:nvPr/>
        </p:nvSpPr>
        <p:spPr>
          <a:xfrm>
            <a:off x="928687" y="907364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663" name="Google Shape;663;p50"/>
          <p:cNvSpPr txBox="1"/>
          <p:nvPr/>
        </p:nvSpPr>
        <p:spPr>
          <a:xfrm>
            <a:off x="3071812" y="907364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664" name="Google Shape;664;p50"/>
          <p:cNvSpPr/>
          <p:nvPr/>
        </p:nvSpPr>
        <p:spPr>
          <a:xfrm>
            <a:off x="2928937" y="2677715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Remover a roda</a:t>
            </a:r>
            <a:endParaRPr/>
          </a:p>
        </p:txBody>
      </p:sp>
      <p:sp>
        <p:nvSpPr>
          <p:cNvPr id="665" name="Google Shape;665;p50"/>
          <p:cNvSpPr/>
          <p:nvPr/>
        </p:nvSpPr>
        <p:spPr>
          <a:xfrm>
            <a:off x="2928937" y="2999184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Colocar o estepe</a:t>
            </a:r>
            <a:endParaRPr/>
          </a:p>
        </p:txBody>
      </p:sp>
      <p:sp>
        <p:nvSpPr>
          <p:cNvPr id="666" name="Google Shape;666;p50"/>
          <p:cNvSpPr/>
          <p:nvPr/>
        </p:nvSpPr>
        <p:spPr>
          <a:xfrm>
            <a:off x="2928937" y="4286250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Abaixar o carro</a:t>
            </a:r>
            <a:endParaRPr/>
          </a:p>
        </p:txBody>
      </p:sp>
      <p:cxnSp>
        <p:nvCxnSpPr>
          <p:cNvPr id="667" name="Google Shape;667;p50"/>
          <p:cNvCxnSpPr/>
          <p:nvPr/>
        </p:nvCxnSpPr>
        <p:spPr>
          <a:xfrm rot="5400000">
            <a:off x="3562912" y="1634165"/>
            <a:ext cx="160800" cy="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68" name="Google Shape;668;p50"/>
          <p:cNvCxnSpPr/>
          <p:nvPr/>
        </p:nvCxnSpPr>
        <p:spPr>
          <a:xfrm rot="5400000">
            <a:off x="3589012" y="2946018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69" name="Google Shape;669;p50"/>
          <p:cNvSpPr/>
          <p:nvPr/>
        </p:nvSpPr>
        <p:spPr>
          <a:xfrm>
            <a:off x="2857500" y="1714500"/>
            <a:ext cx="1643100" cy="321600"/>
          </a:xfrm>
          <a:prstGeom prst="hexagon">
            <a:avLst>
              <a:gd fmla="val 1409" name="adj"/>
              <a:gd fmla="val 115470" name="vf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Existe parafuso p/ desapertar?</a:t>
            </a:r>
            <a:endParaRPr sz="1100"/>
          </a:p>
        </p:txBody>
      </p:sp>
      <p:cxnSp>
        <p:nvCxnSpPr>
          <p:cNvPr id="670" name="Google Shape;670;p50"/>
          <p:cNvCxnSpPr>
            <a:stCxn id="669" idx="0"/>
            <a:endCxn id="664" idx="0"/>
          </p:cNvCxnSpPr>
          <p:nvPr/>
        </p:nvCxnSpPr>
        <p:spPr>
          <a:xfrm flipH="1">
            <a:off x="3643200" y="1875300"/>
            <a:ext cx="857400" cy="802500"/>
          </a:xfrm>
          <a:prstGeom prst="bentConnector4">
            <a:avLst>
              <a:gd fmla="val -27773" name="adj1"/>
              <a:gd fmla="val 78748" name="adj2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71" name="Google Shape;671;p50"/>
          <p:cNvSpPr txBox="1"/>
          <p:nvPr/>
        </p:nvSpPr>
        <p:spPr>
          <a:xfrm>
            <a:off x="3216519" y="1963340"/>
            <a:ext cx="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sz="1100"/>
          </a:p>
        </p:txBody>
      </p:sp>
      <p:sp>
        <p:nvSpPr>
          <p:cNvPr id="672" name="Google Shape;672;p50"/>
          <p:cNvSpPr txBox="1"/>
          <p:nvPr/>
        </p:nvSpPr>
        <p:spPr>
          <a:xfrm>
            <a:off x="4494722" y="1604492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673" name="Google Shape;673;p50"/>
          <p:cNvSpPr/>
          <p:nvPr/>
        </p:nvSpPr>
        <p:spPr>
          <a:xfrm>
            <a:off x="2928937" y="2196703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desapertar parafuso</a:t>
            </a:r>
            <a:endParaRPr/>
          </a:p>
        </p:txBody>
      </p:sp>
      <p:cxnSp>
        <p:nvCxnSpPr>
          <p:cNvPr id="674" name="Google Shape;674;p50"/>
          <p:cNvCxnSpPr/>
          <p:nvPr/>
        </p:nvCxnSpPr>
        <p:spPr>
          <a:xfrm rot="5400000">
            <a:off x="3561562" y="2116218"/>
            <a:ext cx="1620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75" name="Google Shape;675;p50"/>
          <p:cNvCxnSpPr>
            <a:stCxn id="673" idx="1"/>
            <a:endCxn id="669" idx="3"/>
          </p:cNvCxnSpPr>
          <p:nvPr/>
        </p:nvCxnSpPr>
        <p:spPr>
          <a:xfrm rot="10800000">
            <a:off x="2857537" y="1875159"/>
            <a:ext cx="71400" cy="428700"/>
          </a:xfrm>
          <a:prstGeom prst="bentConnector3">
            <a:avLst>
              <a:gd fmla="val 433560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676" name="Google Shape;676;p50"/>
          <p:cNvCxnSpPr/>
          <p:nvPr/>
        </p:nvCxnSpPr>
        <p:spPr>
          <a:xfrm rot="5400000">
            <a:off x="3562912" y="3241509"/>
            <a:ext cx="160800" cy="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77" name="Google Shape;677;p50"/>
          <p:cNvSpPr/>
          <p:nvPr/>
        </p:nvSpPr>
        <p:spPr>
          <a:xfrm>
            <a:off x="2857500" y="3321844"/>
            <a:ext cx="1643100" cy="321600"/>
          </a:xfrm>
          <a:prstGeom prst="hexagon">
            <a:avLst>
              <a:gd fmla="val 1409" name="adj"/>
              <a:gd fmla="val 115470" name="vf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1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Existe parafuso para apertar?</a:t>
            </a:r>
            <a:endParaRPr sz="1100"/>
          </a:p>
        </p:txBody>
      </p:sp>
      <p:cxnSp>
        <p:nvCxnSpPr>
          <p:cNvPr id="678" name="Google Shape;678;p50"/>
          <p:cNvCxnSpPr>
            <a:stCxn id="677" idx="0"/>
            <a:endCxn id="666" idx="0"/>
          </p:cNvCxnSpPr>
          <p:nvPr/>
        </p:nvCxnSpPr>
        <p:spPr>
          <a:xfrm flipH="1">
            <a:off x="3643200" y="3482644"/>
            <a:ext cx="857400" cy="803700"/>
          </a:xfrm>
          <a:prstGeom prst="bentConnector4">
            <a:avLst>
              <a:gd fmla="val -27773" name="adj1"/>
              <a:gd fmla="val 76248" name="adj2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79" name="Google Shape;679;p50"/>
          <p:cNvSpPr txBox="1"/>
          <p:nvPr/>
        </p:nvSpPr>
        <p:spPr>
          <a:xfrm>
            <a:off x="3143250" y="3560426"/>
            <a:ext cx="4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sz="1200"/>
          </a:p>
        </p:txBody>
      </p:sp>
      <p:sp>
        <p:nvSpPr>
          <p:cNvPr id="680" name="Google Shape;680;p50"/>
          <p:cNvSpPr txBox="1"/>
          <p:nvPr/>
        </p:nvSpPr>
        <p:spPr>
          <a:xfrm>
            <a:off x="4564675" y="3190621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681" name="Google Shape;681;p50"/>
          <p:cNvSpPr/>
          <p:nvPr/>
        </p:nvSpPr>
        <p:spPr>
          <a:xfrm>
            <a:off x="2928937" y="3804047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apertar parafuso</a:t>
            </a:r>
            <a:endParaRPr/>
          </a:p>
        </p:txBody>
      </p:sp>
      <p:cxnSp>
        <p:nvCxnSpPr>
          <p:cNvPr id="682" name="Google Shape;682;p50"/>
          <p:cNvCxnSpPr/>
          <p:nvPr/>
        </p:nvCxnSpPr>
        <p:spPr>
          <a:xfrm rot="5400000">
            <a:off x="3562312" y="3724313"/>
            <a:ext cx="162000" cy="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683" name="Google Shape;683;p50"/>
          <p:cNvCxnSpPr>
            <a:stCxn id="681" idx="1"/>
            <a:endCxn id="677" idx="3"/>
          </p:cNvCxnSpPr>
          <p:nvPr/>
        </p:nvCxnSpPr>
        <p:spPr>
          <a:xfrm rot="10800000">
            <a:off x="2857537" y="3482503"/>
            <a:ext cx="71400" cy="428700"/>
          </a:xfrm>
          <a:prstGeom prst="bentConnector3">
            <a:avLst>
              <a:gd fmla="val 433560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684" name="Google Shape;684;p50"/>
          <p:cNvSpPr/>
          <p:nvPr/>
        </p:nvSpPr>
        <p:spPr>
          <a:xfrm>
            <a:off x="6000750" y="2786063"/>
            <a:ext cx="2143200" cy="803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02" y="59483"/>
                </a:moveTo>
                <a:lnTo>
                  <a:pt x="-29040" y="73928"/>
                </a:lnTo>
                <a:lnTo>
                  <a:pt x="-56000" y="135000"/>
                </a:lnTo>
              </a:path>
            </a:pathLst>
          </a:custGeom>
          <a:gradFill>
            <a:gsLst>
              <a:gs pos="0">
                <a:srgbClr val="DAFDA7"/>
              </a:gs>
              <a:gs pos="35000">
                <a:srgbClr val="E4FDC2"/>
              </a:gs>
              <a:gs pos="100000">
                <a:srgbClr val="F5FFE6"/>
              </a:gs>
            </a:gsLst>
            <a:lin ang="16200038" scaled="0"/>
          </a:gradFill>
          <a:ln cap="flat" cmpd="sng" w="9525">
            <a:solidFill>
              <a:srgbClr val="98B954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de repetição</a:t>
            </a:r>
            <a:endParaRPr/>
          </a:p>
        </p:txBody>
      </p:sp>
      <p:sp>
        <p:nvSpPr>
          <p:cNvPr id="685" name="Google Shape;685;p5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Algoritmos</a:t>
            </a:r>
            <a:endParaRPr/>
          </a:p>
        </p:txBody>
      </p:sp>
      <p:sp>
        <p:nvSpPr>
          <p:cNvPr id="691" name="Google Shape;691;p5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Começamos com uma afirmação genérica da </a:t>
            </a:r>
            <a:r>
              <a:rPr b="0" i="0" lang="en" sz="3200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solução do problema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prosseguimos até o algoritmo final, aumentando</a:t>
            </a:r>
            <a:r>
              <a:rPr lang="en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3200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sistematicamente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nível de detalhamento.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Algoritmos</a:t>
            </a:r>
            <a:endParaRPr/>
          </a:p>
        </p:txBody>
      </p:sp>
      <p:sp>
        <p:nvSpPr>
          <p:cNvPr id="698" name="Google Shape;698;p52"/>
          <p:cNvSpPr txBox="1"/>
          <p:nvPr/>
        </p:nvSpPr>
        <p:spPr>
          <a:xfrm>
            <a:off x="485775" y="1320403"/>
            <a:ext cx="82296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saber se já temos um nível suficiente de detalhes no algoritmo?</a:t>
            </a:r>
            <a:endParaRPr/>
          </a:p>
        </p:txBody>
      </p:sp>
      <p:sp>
        <p:nvSpPr>
          <p:cNvPr id="699" name="Google Shape;699;p5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Algoritmos</a:t>
            </a:r>
            <a:endParaRPr/>
          </a:p>
        </p:txBody>
      </p:sp>
      <p:sp>
        <p:nvSpPr>
          <p:cNvPr id="705" name="Google Shape;705;p53"/>
          <p:cNvSpPr txBox="1"/>
          <p:nvPr>
            <p:ph idx="1" type="body"/>
          </p:nvPr>
        </p:nvSpPr>
        <p:spPr>
          <a:xfrm>
            <a:off x="457200" y="1232300"/>
            <a:ext cx="8229600" cy="3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depende do agente que irá executar o algoritmo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computadores têm um conjunto muito limitado de instruções e o algoritmo deve ser expresso nos termos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destas</a:t>
            </a: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instruções.</a:t>
            </a:r>
            <a:endParaRPr/>
          </a:p>
        </p:txBody>
      </p:sp>
      <p:sp>
        <p:nvSpPr>
          <p:cNvPr id="706" name="Google Shape;706;p53"/>
          <p:cNvSpPr txBox="1"/>
          <p:nvPr/>
        </p:nvSpPr>
        <p:spPr>
          <a:xfrm>
            <a:off x="485775" y="1320403"/>
            <a:ext cx="82296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saber se já temos um nível suficiente de detalhes no algoritmo?</a:t>
            </a:r>
            <a:endParaRPr/>
          </a:p>
        </p:txBody>
      </p:sp>
      <p:sp>
        <p:nvSpPr>
          <p:cNvPr id="707" name="Google Shape;707;p5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4"/>
          <p:cNvSpPr txBox="1"/>
          <p:nvPr>
            <p:ph idx="4294967295"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Tradutores de Linguagem</a:t>
            </a:r>
            <a:endParaRPr/>
          </a:p>
        </p:txBody>
      </p:sp>
      <p:sp>
        <p:nvSpPr>
          <p:cNvPr id="714" name="Google Shape;714;p54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três tipos de programas conversores de linguagens:</a:t>
            </a:r>
            <a:endParaRPr/>
          </a:p>
          <a:p>
            <a:pPr indent="-325437" lvl="1" marL="669925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Compiladores</a:t>
            </a:r>
            <a:endParaRPr/>
          </a:p>
          <a:p>
            <a:pPr indent="-325437" lvl="1" marL="669925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Intérpretes e </a:t>
            </a:r>
            <a:endParaRPr/>
          </a:p>
          <a:p>
            <a:pPr indent="-325437" lvl="1" marL="669925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Montadores (assemblers) </a:t>
            </a:r>
            <a:endParaRPr/>
          </a:p>
        </p:txBody>
      </p:sp>
      <p:sp>
        <p:nvSpPr>
          <p:cNvPr id="715" name="Google Shape;71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para o </a:t>
            </a:r>
            <a:b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algoritmos</a:t>
            </a:r>
            <a:endParaRPr/>
          </a:p>
        </p:txBody>
      </p:sp>
      <p:sp>
        <p:nvSpPr>
          <p:cNvPr id="721" name="Google Shape;721;p55"/>
          <p:cNvSpPr txBox="1"/>
          <p:nvPr>
            <p:ph idx="1" type="body"/>
          </p:nvPr>
        </p:nvSpPr>
        <p:spPr>
          <a:xfrm>
            <a:off x="457200" y="1338275"/>
            <a:ext cx="8229600" cy="3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1: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ler cuidadosamente a especificação do problema.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2: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levantar e analisar todas as saídas exigidas na especificação do problema.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3: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levantar e analisar todas as entradas citadas na especificação do problema.</a:t>
            </a:r>
            <a:endParaRPr/>
          </a:p>
        </p:txBody>
      </p:sp>
      <p:sp>
        <p:nvSpPr>
          <p:cNvPr id="722" name="Google Shape;722;p5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para o </a:t>
            </a:r>
            <a:b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algoritmos</a:t>
            </a:r>
            <a:endParaRPr/>
          </a:p>
        </p:txBody>
      </p:sp>
      <p:sp>
        <p:nvSpPr>
          <p:cNvPr id="728" name="Google Shape;728;p56"/>
          <p:cNvSpPr txBox="1"/>
          <p:nvPr>
            <p:ph idx="1" type="body"/>
          </p:nvPr>
        </p:nvSpPr>
        <p:spPr>
          <a:xfrm>
            <a:off x="457200" y="1294325"/>
            <a:ext cx="8229600" cy="3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4: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se é necessário gerar valores internamente ao algoritmo e levantar as variáveis necessárias e os valores iniciais de cada uma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Passo 5: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levantar e analisar todas as operações e transformações necessárias para, dadas as entradas e valores gerados internamente, produzir as saídas especificadas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para o </a:t>
            </a:r>
            <a:b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algoritmos</a:t>
            </a:r>
            <a:endParaRPr/>
          </a:p>
        </p:txBody>
      </p:sp>
      <p:sp>
        <p:nvSpPr>
          <p:cNvPr id="735" name="Google Shape;735;p57"/>
          <p:cNvSpPr txBox="1"/>
          <p:nvPr>
            <p:ph idx="1" type="body"/>
          </p:nvPr>
        </p:nvSpPr>
        <p:spPr>
          <a:xfrm>
            <a:off x="457200" y="1293026"/>
            <a:ext cx="8229600" cy="3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6: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testar cada passo do algoritmo, verificando se as transformações intermediárias executadas estão conduzindo aos objetivos desejados. Utilizar, sempre que possível, valores de teste que permitam prever os resultados.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7: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uma reavaliação geral, elaborando o algoritmo através da integração das partes.</a:t>
            </a:r>
            <a:endParaRPr/>
          </a:p>
        </p:txBody>
      </p:sp>
      <p:sp>
        <p:nvSpPr>
          <p:cNvPr id="736" name="Google Shape;736;p5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/>
          </a:p>
        </p:txBody>
      </p:sp>
      <p:sp>
        <p:nvSpPr>
          <p:cNvPr id="742" name="Google Shape;742;p58"/>
          <p:cNvSpPr txBox="1"/>
          <p:nvPr>
            <p:ph idx="1" type="body"/>
          </p:nvPr>
        </p:nvSpPr>
        <p:spPr>
          <a:xfrm>
            <a:off x="457200" y="1200150"/>
            <a:ext cx="82296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1) Elaborar um algoritmo que leia um número e mostre o dobro desse número</a:t>
            </a:r>
            <a:endParaRPr/>
          </a:p>
        </p:txBody>
      </p:sp>
      <p:sp>
        <p:nvSpPr>
          <p:cNvPr id="743" name="Google Shape;743;p5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44" name="Google Shape;744;p5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</a:t>
            </a:r>
            <a:endParaRPr/>
          </a:p>
        </p:txBody>
      </p:sp>
      <p:sp>
        <p:nvSpPr>
          <p:cNvPr id="750" name="Google Shape;750;p5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INÍCIO: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Determina o início de um algoritmo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FIM: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Determina o fim de um algoritmo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DECLARA: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declara (cria) uma variável. Uma variável é um local na memória principal, isto é, um “endereço” que armazena um conteúdo. Todos os dados usados em um algoritmo (entrada, transformação e saída) são armazenados em variáveis.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Ex.: </a:t>
            </a:r>
            <a:r>
              <a:rPr b="0" i="0" lang="en" sz="280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DECLARA idade</a:t>
            </a:r>
            <a:endParaRPr/>
          </a:p>
        </p:txBody>
      </p:sp>
      <p:sp>
        <p:nvSpPr>
          <p:cNvPr id="751" name="Google Shape;751;p5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52" name="Google Shape;752;p5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</a:t>
            </a:r>
            <a:endParaRPr/>
          </a:p>
        </p:txBody>
      </p:sp>
      <p:sp>
        <p:nvSpPr>
          <p:cNvPr id="758" name="Google Shape;758;p6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&lt;- :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 o valor que será armazenado na variável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+,-,*,/ 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operações aritméticas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LEIA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Solicita ao usuário que entre com um valor que será armazenado na variável.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 </a:t>
            </a:r>
            <a:r>
              <a:rPr b="0" i="0" lang="en" sz="280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LEIA idade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ESCREVA: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Exibe uma mensagem ou conteúdo de uma variável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Ex.: </a:t>
            </a:r>
            <a:r>
              <a:rPr b="0" i="0" lang="en" sz="2800" u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ESCREVA "Eu tenho" idade "anos"</a:t>
            </a:r>
            <a:endParaRPr/>
          </a:p>
        </p:txBody>
      </p:sp>
      <p:sp>
        <p:nvSpPr>
          <p:cNvPr id="759" name="Google Shape;759;p6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60" name="Google Shape;760;p6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/>
          </a:p>
        </p:txBody>
      </p:sp>
      <p:sp>
        <p:nvSpPr>
          <p:cNvPr id="766" name="Google Shape;766;p61"/>
          <p:cNvSpPr txBox="1"/>
          <p:nvPr>
            <p:ph idx="1" type="body"/>
          </p:nvPr>
        </p:nvSpPr>
        <p:spPr>
          <a:xfrm>
            <a:off x="457200" y="1123950"/>
            <a:ext cx="82296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Elaborar um algoritmo que leia um número e mostre o dobro desse número</a:t>
            </a:r>
            <a:endParaRPr/>
          </a:p>
        </p:txBody>
      </p:sp>
      <p:sp>
        <p:nvSpPr>
          <p:cNvPr id="767" name="Google Shape;767;p6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68" name="Google Shape;768;p61"/>
          <p:cNvSpPr txBox="1"/>
          <p:nvPr/>
        </p:nvSpPr>
        <p:spPr>
          <a:xfrm>
            <a:off x="485775" y="2043128"/>
            <a:ext cx="8229600" cy="29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INÍCIO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DECLARE numero, dobro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LEIA numero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dobro &lt;- numero*2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ESCREVA “Resultado:” dobro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sp>
        <p:nvSpPr>
          <p:cNvPr id="769" name="Google Shape;769;p6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775" name="Google Shape;775;p62"/>
          <p:cNvSpPr txBox="1"/>
          <p:nvPr>
            <p:ph idx="1" type="body"/>
          </p:nvPr>
        </p:nvSpPr>
        <p:spPr>
          <a:xfrm>
            <a:off x="500062" y="1446609"/>
            <a:ext cx="8229600" cy="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1.1) </a:t>
            </a:r>
            <a:r>
              <a:rPr b="0" i="0" lang="en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Elaborar um algoritmo que calcula a área de um triângulo.</a:t>
            </a:r>
            <a:endParaRPr/>
          </a:p>
          <a:p>
            <a:pPr indent="-3365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77" name="Google Shape;777;p62"/>
          <p:cNvSpPr txBox="1"/>
          <p:nvPr/>
        </p:nvSpPr>
        <p:spPr>
          <a:xfrm>
            <a:off x="500062" y="2893219"/>
            <a:ext cx="8229600" cy="12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1.2) </a:t>
            </a:r>
            <a:r>
              <a:rPr b="0" i="0" lang="en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Ler uma temperatura em graus Celsius e convertê-la em Fahrenheit.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= (C*9)/5+32</a:t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784" name="Google Shape;784;p63"/>
          <p:cNvSpPr txBox="1"/>
          <p:nvPr>
            <p:ph idx="1" type="body"/>
          </p:nvPr>
        </p:nvSpPr>
        <p:spPr>
          <a:xfrm>
            <a:off x="428625" y="1017984"/>
            <a:ext cx="85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1.3)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Uma empresa contrata um encanador a R$ 200,00 por dia. Crie um programa que solicite o número de dias trabalhados pelo encanador e imprima o valor líquido a ser pago, sabendo que são descontados 25% de imposto de renda e 11% de contribuição previdenciária.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86" name="Google Shape;786;p6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792" name="Google Shape;792;p64"/>
          <p:cNvSpPr txBox="1"/>
          <p:nvPr>
            <p:ph idx="1" type="body"/>
          </p:nvPr>
        </p:nvSpPr>
        <p:spPr>
          <a:xfrm>
            <a:off x="428625" y="941773"/>
            <a:ext cx="8572500" cy="42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1.4)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pintor precisa calcular um orçamento que inclui o custo do material e da mão de obra. Ele irá pintar várias paredes idênticas, sendo que: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	Uma lata de tinta custa R$20,00 e cobre uma área de 5m</a:t>
            </a:r>
            <a:r>
              <a:rPr b="0" baseline="3000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pintor cobra R$30,00 por hora de trabalho, sendo que ele pinta 10m2 em uma hora.</a:t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Baseado na altura, largura e no número de paredes, calcule o orçamento.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94" name="Google Shape;794;p6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do Algoritmo</a:t>
            </a:r>
            <a:endParaRPr/>
          </a:p>
        </p:txBody>
      </p:sp>
      <p:sp>
        <p:nvSpPr>
          <p:cNvPr id="805" name="Google Shape;805;p6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2.1) 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Elaborar o algoritmo para resolver </a:t>
            </a:r>
            <a:r>
              <a:rPr b="0" i="0" lang="en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equação do segundo grau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</a:t>
            </a:r>
            <a:r>
              <a:rPr b="0" baseline="3000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Bx + C = 0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valores de A, B e C devem ser fornecidos pelo usuário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6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807" name="Google Shape;807;p6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7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do Algoritmo</a:t>
            </a:r>
            <a:endParaRPr/>
          </a:p>
        </p:txBody>
      </p:sp>
      <p:sp>
        <p:nvSpPr>
          <p:cNvPr id="813" name="Google Shape;813;p67"/>
          <p:cNvSpPr/>
          <p:nvPr/>
        </p:nvSpPr>
        <p:spPr>
          <a:xfrm>
            <a:off x="3643312" y="2761059"/>
            <a:ext cx="1571625" cy="566737"/>
          </a:xfrm>
          <a:prstGeom prst="flowChartDecision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D&gt;=0 ?</a:t>
            </a:r>
            <a:endParaRPr/>
          </a:p>
        </p:txBody>
      </p:sp>
      <p:cxnSp>
        <p:nvCxnSpPr>
          <p:cNvPr id="814" name="Google Shape;814;p67"/>
          <p:cNvCxnSpPr/>
          <p:nvPr/>
        </p:nvCxnSpPr>
        <p:spPr>
          <a:xfrm rot="5400000">
            <a:off x="4327724" y="2659744"/>
            <a:ext cx="201300" cy="150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815" name="Google Shape;815;p67"/>
          <p:cNvCxnSpPr/>
          <p:nvPr/>
        </p:nvCxnSpPr>
        <p:spPr>
          <a:xfrm rot="5400000">
            <a:off x="4381575" y="4601690"/>
            <a:ext cx="95100" cy="0"/>
          </a:xfrm>
          <a:prstGeom prst="straightConnector1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816" name="Google Shape;816;p67"/>
          <p:cNvSpPr/>
          <p:nvPr/>
        </p:nvSpPr>
        <p:spPr>
          <a:xfrm>
            <a:off x="4357687" y="4446984"/>
            <a:ext cx="142800" cy="107100"/>
          </a:xfrm>
          <a:prstGeom prst="flowChartConnec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67"/>
          <p:cNvSpPr/>
          <p:nvPr/>
        </p:nvSpPr>
        <p:spPr>
          <a:xfrm>
            <a:off x="1857375" y="3231356"/>
            <a:ext cx="1928812" cy="25122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X1 = -B + raiz(D)/2*A</a:t>
            </a:r>
            <a:endParaRPr/>
          </a:p>
        </p:txBody>
      </p:sp>
      <p:sp>
        <p:nvSpPr>
          <p:cNvPr id="818" name="Google Shape;818;p67"/>
          <p:cNvSpPr/>
          <p:nvPr/>
        </p:nvSpPr>
        <p:spPr>
          <a:xfrm>
            <a:off x="5143500" y="3524250"/>
            <a:ext cx="1785937" cy="459581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Escrever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“Não há raízes reais”</a:t>
            </a:r>
            <a:endParaRPr/>
          </a:p>
        </p:txBody>
      </p:sp>
      <p:cxnSp>
        <p:nvCxnSpPr>
          <p:cNvPr id="819" name="Google Shape;819;p67"/>
          <p:cNvCxnSpPr/>
          <p:nvPr/>
        </p:nvCxnSpPr>
        <p:spPr>
          <a:xfrm flipH="1">
            <a:off x="2821012" y="3044428"/>
            <a:ext cx="822300" cy="1869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820" name="Google Shape;820;p67"/>
          <p:cNvCxnSpPr/>
          <p:nvPr/>
        </p:nvCxnSpPr>
        <p:spPr>
          <a:xfrm>
            <a:off x="5214937" y="3044428"/>
            <a:ext cx="822300" cy="4800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821" name="Google Shape;821;p67"/>
          <p:cNvCxnSpPr>
            <a:stCxn id="818" idx="2"/>
          </p:cNvCxnSpPr>
          <p:nvPr/>
        </p:nvCxnSpPr>
        <p:spPr>
          <a:xfrm rot="5400000">
            <a:off x="5010169" y="3474431"/>
            <a:ext cx="516900" cy="15357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822" name="Google Shape;822;p67"/>
          <p:cNvCxnSpPr/>
          <p:nvPr/>
        </p:nvCxnSpPr>
        <p:spPr>
          <a:xfrm flipH="1" rot="-5400000">
            <a:off x="2732637" y="3570928"/>
            <a:ext cx="177300" cy="600"/>
          </a:xfrm>
          <a:prstGeom prst="bentConnector3">
            <a:avLst>
              <a:gd fmla="val 50000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823" name="Google Shape;823;p67"/>
          <p:cNvSpPr txBox="1"/>
          <p:nvPr/>
        </p:nvSpPr>
        <p:spPr>
          <a:xfrm>
            <a:off x="3119064" y="2718671"/>
            <a:ext cx="4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/>
          </a:p>
        </p:txBody>
      </p:sp>
      <p:sp>
        <p:nvSpPr>
          <p:cNvPr id="824" name="Google Shape;824;p67"/>
          <p:cNvSpPr txBox="1"/>
          <p:nvPr/>
        </p:nvSpPr>
        <p:spPr>
          <a:xfrm>
            <a:off x="5262189" y="2718671"/>
            <a:ext cx="4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</p:txBody>
      </p:sp>
      <p:sp>
        <p:nvSpPr>
          <p:cNvPr id="825" name="Google Shape;825;p67"/>
          <p:cNvSpPr/>
          <p:nvPr/>
        </p:nvSpPr>
        <p:spPr>
          <a:xfrm>
            <a:off x="3714750" y="1434703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Ler A</a:t>
            </a:r>
            <a:endParaRPr/>
          </a:p>
        </p:txBody>
      </p:sp>
      <p:cxnSp>
        <p:nvCxnSpPr>
          <p:cNvPr id="826" name="Google Shape;826;p67"/>
          <p:cNvCxnSpPr/>
          <p:nvPr/>
        </p:nvCxnSpPr>
        <p:spPr>
          <a:xfrm flipH="1" rot="-5400000">
            <a:off x="4328175" y="1333247"/>
            <a:ext cx="202500" cy="600"/>
          </a:xfrm>
          <a:prstGeom prst="bentConnector3">
            <a:avLst>
              <a:gd fmla="val 50000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827" name="Google Shape;827;p67"/>
          <p:cNvSpPr/>
          <p:nvPr/>
        </p:nvSpPr>
        <p:spPr>
          <a:xfrm>
            <a:off x="3714750" y="1756172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Ler B</a:t>
            </a:r>
            <a:endParaRPr/>
          </a:p>
        </p:txBody>
      </p:sp>
      <p:sp>
        <p:nvSpPr>
          <p:cNvPr id="828" name="Google Shape;828;p67"/>
          <p:cNvSpPr/>
          <p:nvPr/>
        </p:nvSpPr>
        <p:spPr>
          <a:xfrm>
            <a:off x="3714750" y="2077640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Ler C</a:t>
            </a:r>
            <a:endParaRPr/>
          </a:p>
        </p:txBody>
      </p:sp>
      <p:sp>
        <p:nvSpPr>
          <p:cNvPr id="829" name="Google Shape;829;p67"/>
          <p:cNvSpPr/>
          <p:nvPr/>
        </p:nvSpPr>
        <p:spPr>
          <a:xfrm>
            <a:off x="3714750" y="2399109"/>
            <a:ext cx="1428750" cy="214313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 = B*B - 4*A*C</a:t>
            </a:r>
            <a:endParaRPr/>
          </a:p>
        </p:txBody>
      </p:sp>
      <p:cxnSp>
        <p:nvCxnSpPr>
          <p:cNvPr id="830" name="Google Shape;830;p67"/>
          <p:cNvCxnSpPr/>
          <p:nvPr/>
        </p:nvCxnSpPr>
        <p:spPr>
          <a:xfrm rot="5400000">
            <a:off x="4374824" y="1701815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31" name="Google Shape;831;p67"/>
          <p:cNvCxnSpPr/>
          <p:nvPr/>
        </p:nvCxnSpPr>
        <p:spPr>
          <a:xfrm rot="5400000">
            <a:off x="4374824" y="2023284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832" name="Google Shape;832;p67"/>
          <p:cNvCxnSpPr/>
          <p:nvPr/>
        </p:nvCxnSpPr>
        <p:spPr>
          <a:xfrm rot="5400000">
            <a:off x="4374824" y="2345943"/>
            <a:ext cx="107100" cy="1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833" name="Google Shape;833;p67"/>
          <p:cNvSpPr/>
          <p:nvPr/>
        </p:nvSpPr>
        <p:spPr>
          <a:xfrm>
            <a:off x="1857375" y="3659981"/>
            <a:ext cx="1928812" cy="304800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 = (-B - raiz(D))/2*A</a:t>
            </a:r>
            <a:endParaRPr/>
          </a:p>
        </p:txBody>
      </p:sp>
      <p:cxnSp>
        <p:nvCxnSpPr>
          <p:cNvPr id="834" name="Google Shape;834;p67"/>
          <p:cNvCxnSpPr/>
          <p:nvPr/>
        </p:nvCxnSpPr>
        <p:spPr>
          <a:xfrm flipH="1" rot="-5400000">
            <a:off x="2773737" y="4012031"/>
            <a:ext cx="95100" cy="600"/>
          </a:xfrm>
          <a:prstGeom prst="bentConnector3">
            <a:avLst>
              <a:gd fmla="val 50000" name="adj1"/>
            </a:avLst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835" name="Google Shape;835;p67"/>
          <p:cNvSpPr/>
          <p:nvPr/>
        </p:nvSpPr>
        <p:spPr>
          <a:xfrm>
            <a:off x="1857375" y="4060031"/>
            <a:ext cx="1928812" cy="279796"/>
          </a:xfrm>
          <a:prstGeom prst="flowChartProcess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" sz="1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Escrever  X1 e X2</a:t>
            </a:r>
            <a:endParaRPr/>
          </a:p>
        </p:txBody>
      </p:sp>
      <p:cxnSp>
        <p:nvCxnSpPr>
          <p:cNvPr id="836" name="Google Shape;836;p67"/>
          <p:cNvCxnSpPr>
            <a:stCxn id="835" idx="2"/>
          </p:cNvCxnSpPr>
          <p:nvPr/>
        </p:nvCxnSpPr>
        <p:spPr>
          <a:xfrm flipH="1" rot="-5400000">
            <a:off x="3509231" y="3652378"/>
            <a:ext cx="160800" cy="1535700"/>
          </a:xfrm>
          <a:prstGeom prst="bentConnector2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</p:cxnSp>
      <p:sp>
        <p:nvSpPr>
          <p:cNvPr id="837" name="Google Shape;837;p67"/>
          <p:cNvSpPr/>
          <p:nvPr/>
        </p:nvSpPr>
        <p:spPr>
          <a:xfrm>
            <a:off x="3929062" y="4649390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</p:txBody>
      </p:sp>
      <p:sp>
        <p:nvSpPr>
          <p:cNvPr id="838" name="Google Shape;838;p67"/>
          <p:cNvSpPr/>
          <p:nvPr/>
        </p:nvSpPr>
        <p:spPr>
          <a:xfrm>
            <a:off x="3929062" y="1006078"/>
            <a:ext cx="1000134" cy="226260"/>
          </a:xfrm>
          <a:prstGeom prst="flowChartTerminator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38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</p:txBody>
      </p:sp>
      <p:sp>
        <p:nvSpPr>
          <p:cNvPr id="839" name="Google Shape;83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</a:t>
            </a:r>
            <a:endParaRPr/>
          </a:p>
        </p:txBody>
      </p:sp>
      <p:sp>
        <p:nvSpPr>
          <p:cNvPr id="845" name="Google Shape;845;p68"/>
          <p:cNvSpPr txBox="1"/>
          <p:nvPr>
            <p:ph idx="1" type="body"/>
          </p:nvPr>
        </p:nvSpPr>
        <p:spPr>
          <a:xfrm>
            <a:off x="285750" y="1200150"/>
            <a:ext cx="85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&lt;expressão&gt;</a:t>
            </a:r>
            <a:endParaRPr sz="12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ENTÂO</a:t>
            </a:r>
            <a:endParaRPr sz="12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&lt;instruções 1&gt; </a:t>
            </a:r>
            <a:endParaRPr sz="12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SENÂO</a:t>
            </a:r>
            <a:endParaRPr sz="12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&lt;instruções 2&gt;</a:t>
            </a:r>
            <a:endParaRPr sz="12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FIMSE</a:t>
            </a:r>
            <a:endParaRPr sz="12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 a &lt;expressão&gt; for verdadeira,  serão executadas &lt;instruções 1&gt;, senão serão executadas &lt;instruções 2&gt;</a:t>
            </a:r>
            <a:endParaRPr sz="1200"/>
          </a:p>
        </p:txBody>
      </p:sp>
      <p:sp>
        <p:nvSpPr>
          <p:cNvPr id="846" name="Google Shape;846;p68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847" name="Google Shape;847;p6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/>
          </a:p>
        </p:txBody>
      </p:sp>
      <p:sp>
        <p:nvSpPr>
          <p:cNvPr id="854" name="Google Shape;854;p69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855" name="Google Shape;855;p69"/>
          <p:cNvSpPr txBox="1"/>
          <p:nvPr/>
        </p:nvSpPr>
        <p:spPr>
          <a:xfrm>
            <a:off x="485775" y="1071563"/>
            <a:ext cx="82296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INÍCIO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DECLARE idade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LEIA idade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 idade &gt; 18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ENTÃO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ESCREVA “Você é maior”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SENÃO 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ESCREVA “Você é menor”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FIMSE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FIM</a:t>
            </a:r>
            <a:endParaRPr sz="7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700"/>
          </a:p>
        </p:txBody>
      </p:sp>
      <p:sp>
        <p:nvSpPr>
          <p:cNvPr id="856" name="Google Shape;856;p6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/>
          </a:p>
        </p:txBody>
      </p:sp>
      <p:sp>
        <p:nvSpPr>
          <p:cNvPr id="862" name="Google Shape;862;p70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863" name="Google Shape;863;p70"/>
          <p:cNvSpPr txBox="1"/>
          <p:nvPr/>
        </p:nvSpPr>
        <p:spPr>
          <a:xfrm>
            <a:off x="285750" y="964389"/>
            <a:ext cx="8572500" cy="4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2.2)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um algoritmo que lê a nota de 3 provas e verifica se o aluno foi aprovado (média &gt;= 5,0).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2.3) </a:t>
            </a:r>
            <a:r>
              <a:rPr b="0" i="0" lang="en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um algoritmo que lê 2 números e mostra o maior deles.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2.4)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Faça um algoritmo para calcular o novo salário de uma pessoa. Sabe-se que para os funcionários que ganham até R$ 500,00 o aumento será de 20% e para os demais o aumento será de 10%.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2.5) Faça um programa que receba a altura e o sexo de uma pessoa, calcule e imprima o seu peso ideal, utilizando as seguintes fórmulas:</a:t>
            </a:r>
            <a:endParaRPr sz="1800">
              <a:solidFill>
                <a:schemeClr val="dk1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homens:	(72.7 * Altura) – 58</a:t>
            </a:r>
            <a:endParaRPr>
              <a:solidFill>
                <a:schemeClr val="dk1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mulheres:	(62.1 * Altura) – 44.7</a:t>
            </a:r>
            <a:endParaRPr>
              <a:solidFill>
                <a:schemeClr val="dk1"/>
              </a:solidFill>
            </a:endParaRPr>
          </a:p>
          <a:p>
            <a:pPr indent="-336550" lvl="0" marL="51435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7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SSC0501 - Introdução à Ciência de Computação I</a:t>
            </a:r>
            <a:endParaRPr/>
          </a:p>
        </p:txBody>
      </p:sp>
      <p:sp>
        <p:nvSpPr>
          <p:cNvPr id="870" name="Google Shape;870;p71"/>
          <p:cNvSpPr txBox="1"/>
          <p:nvPr/>
        </p:nvSpPr>
        <p:spPr>
          <a:xfrm>
            <a:off x="1680300" y="3104050"/>
            <a:ext cx="56565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Obrigado pela atenção!!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