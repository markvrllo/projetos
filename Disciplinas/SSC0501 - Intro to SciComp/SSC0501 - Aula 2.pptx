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5B042E-E275-4BF9-9446-DC17E587D129}">
  <a:tblStyle styleId="{655B042E-E275-4BF9-9446-DC17E587D12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1B2895F-E686-4C22-94FF-D8616A75AD69}"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f33ca397b_0_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f33ca397b_0_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e41f8a5778_0_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86" name="Google Shape;86;g2e41f8a5778_0_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 name="Google Shape;87;g2e41f8a5778_0_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097bf416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097bf416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097bf416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097bf416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41f8a5778_0_12: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16" name="Google Shape;116;g2e41f8a5778_0_12: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7" name="Google Shape;117;g2e41f8a5778_0_12: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e41f8a5778_0_1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2e41f8a5778_0_1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4097bf4160_0_3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4097bf4160_0_3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41f8a5778_0_29: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38" name="Google Shape;138;g2e41f8a5778_0_2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9" name="Google Shape;139;g2e41f8a5778_0_29: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41b4d6ac9_6_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145" name="Google Shape;145;g3441b4d6ac9_6_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6" name="Google Shape;146;g3441b4d6ac9_6_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41f8a5778_0_24: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2e41f8a5778_0_24: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097bf4160_0_58: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4097bf4160_0_58: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4097bf4160_0_48: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4097bf4160_0_48: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4097bf4160_0_73: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4097bf4160_0_7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4097bf4160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4097bf4160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097bf4160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4097bf4160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097bf416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4097bf416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097bf416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097bf416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097bf4160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097bf4160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4097bf416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4097bf416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097bf4160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097bf416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097bf416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4097bf416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097bf416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4097bf416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4097bf416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4097bf416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4097bf416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4097bf416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097bf416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4097bf416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4097bf4160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4097bf4160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4097bf4160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4097bf4160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4097bf416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4097bf416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4097bf4160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4097bf4160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097bf4160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097bf4160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097bf4160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4097bf4160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4097bf4160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4097bf4160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4097bf416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4097bf416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4097bf416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4097bf416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e41f8a5778_0_153: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2e41f8a5778_0_15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e41f8a5778_0_159: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2e41f8a5778_0_15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e41f8a5778_0_164: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2e41f8a5778_0_164: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e41f8a5778_0_169: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376" name="Google Shape;376;g2e41f8a5778_0_169: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7" name="Google Shape;377;g2e41f8a5778_0_169:notes"/>
          <p:cNvSpPr txBox="1"/>
          <p:nvPr>
            <p:ph idx="1" type="body"/>
          </p:nvPr>
        </p:nvSpPr>
        <p:spPr>
          <a:xfrm>
            <a:off x="686098" y="4342190"/>
            <a:ext cx="5485800" cy="4118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097bf4160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097bf4160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e41f8a5778_0_183: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393" name="Google Shape;393;g2e41f8a5778_0_183: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4" name="Google Shape;394;g2e41f8a5778_0_183:notes"/>
          <p:cNvSpPr txBox="1"/>
          <p:nvPr>
            <p:ph idx="1" type="body"/>
          </p:nvPr>
        </p:nvSpPr>
        <p:spPr>
          <a:xfrm>
            <a:off x="686098" y="4342190"/>
            <a:ext cx="5485800" cy="4118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e41f8a5778_0_190: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2e41f8a5778_0_19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e41f8a5778_0_195: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2e41f8a5778_0_195: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41f8a5778_0_200:notes"/>
          <p:cNvSpPr txBox="1"/>
          <p:nvPr>
            <p:ph idx="12" type="sldNum"/>
          </p:nvPr>
        </p:nvSpPr>
        <p:spPr>
          <a:xfrm>
            <a:off x="3884414" y="8685893"/>
            <a:ext cx="2972100" cy="456600"/>
          </a:xfrm>
          <a:prstGeom prst="rect">
            <a:avLst/>
          </a:prstGeom>
          <a:noFill/>
          <a:ln>
            <a:noFill/>
          </a:ln>
        </p:spPr>
        <p:txBody>
          <a:bodyPr anchorCtr="0" anchor="b" bIns="46650" lIns="93325" spcFirstLastPara="1" rIns="93325" wrap="square" tIns="46650">
            <a:noAutofit/>
          </a:bodyPr>
          <a:lstStyle/>
          <a:p>
            <a:pPr indent="0" lvl="0" marL="0" rtl="0" algn="r">
              <a:spcBef>
                <a:spcPts val="0"/>
              </a:spcBef>
              <a:spcAft>
                <a:spcPts val="0"/>
              </a:spcAft>
              <a:buNone/>
            </a:pPr>
            <a:fld id="{00000000-1234-1234-1234-123412341234}" type="slidenum">
              <a:rPr lang="en" sz="1300"/>
              <a:t>‹#›</a:t>
            </a:fld>
            <a:endParaRPr sz="1300"/>
          </a:p>
        </p:txBody>
      </p:sp>
      <p:sp>
        <p:nvSpPr>
          <p:cNvPr id="415" name="Google Shape;415;g2e41f8a5778_0_200: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6" name="Google Shape;416;g2e41f8a5778_0_200:notes"/>
          <p:cNvSpPr txBox="1"/>
          <p:nvPr>
            <p:ph idx="1" type="body"/>
          </p:nvPr>
        </p:nvSpPr>
        <p:spPr>
          <a:xfrm>
            <a:off x="686098" y="4342190"/>
            <a:ext cx="5485800" cy="4115400"/>
          </a:xfrm>
          <a:prstGeom prst="rect">
            <a:avLst/>
          </a:prstGeom>
          <a:noFill/>
          <a:ln>
            <a:noFill/>
          </a:ln>
        </p:spPr>
        <p:txBody>
          <a:bodyPr anchorCtr="0" anchor="t" bIns="46650" lIns="93325" spcFirstLastPara="1" rIns="93325" wrap="square" tIns="4665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e41f8a5778_0_212:notes"/>
          <p:cNvSpPr txBox="1"/>
          <p:nvPr>
            <p:ph idx="1" type="body"/>
          </p:nvPr>
        </p:nvSpPr>
        <p:spPr>
          <a:xfrm>
            <a:off x="686098" y="4342190"/>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g2e41f8a5778_0_212:notes"/>
          <p:cNvSpPr/>
          <p:nvPr>
            <p:ph idx="2" type="sldImg"/>
          </p:nvPr>
        </p:nvSpPr>
        <p:spPr>
          <a:xfrm>
            <a:off x="430629" y="686405"/>
            <a:ext cx="59967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441b4d6ac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441b4d6ac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e3d54357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e3d54357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51" name="Shape 51"/>
        <p:cNvGrpSpPr/>
        <p:nvPr/>
      </p:nvGrpSpPr>
      <p:grpSpPr>
        <a:xfrm>
          <a:off x="0" y="0"/>
          <a:ext cx="0" cy="0"/>
          <a:chOff x="0" y="0"/>
          <a:chExt cx="0" cy="0"/>
        </a:xfrm>
      </p:grpSpPr>
      <p:sp>
        <p:nvSpPr>
          <p:cNvPr id="52" name="Google Shape;52;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3" name="Google Shape;53;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54" name="Google Shape;54;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57" name="Shape 57"/>
        <p:cNvGrpSpPr/>
        <p:nvPr/>
      </p:nvGrpSpPr>
      <p:grpSpPr>
        <a:xfrm>
          <a:off x="0" y="0"/>
          <a:ext cx="0" cy="0"/>
          <a:chOff x="0" y="0"/>
          <a:chExt cx="0" cy="0"/>
        </a:xfrm>
      </p:grpSpPr>
      <p:sp>
        <p:nvSpPr>
          <p:cNvPr id="58" name="Google Shape;58;p1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9" name="Google Shape;59;p14"/>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0" name="Google Shape;60;p14"/>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1" name="Google Shape;61;p1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p:cSld name="SECTION_HEADER_1">
    <p:spTree>
      <p:nvGrpSpPr>
        <p:cNvPr id="64" name="Shape 64"/>
        <p:cNvGrpSpPr/>
        <p:nvPr/>
      </p:nvGrpSpPr>
      <p:grpSpPr>
        <a:xfrm>
          <a:off x="0" y="0"/>
          <a:ext cx="0" cy="0"/>
          <a:chOff x="0" y="0"/>
          <a:chExt cx="0" cy="0"/>
        </a:xfrm>
      </p:grpSpPr>
      <p:sp>
        <p:nvSpPr>
          <p:cNvPr id="65" name="Google Shape;65;p15"/>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SzPts val="2800"/>
              <a:buNone/>
              <a:defRPr b="1" sz="4000" cap="none"/>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6" name="Google Shape;66;p15"/>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1200"/>
              </a:spcBef>
              <a:spcAft>
                <a:spcPts val="0"/>
              </a:spcAft>
              <a:buClr>
                <a:srgbClr val="888888"/>
              </a:buClr>
              <a:buSzPts val="1400"/>
              <a:buNone/>
              <a:defRPr sz="1400">
                <a:solidFill>
                  <a:srgbClr val="888888"/>
                </a:solidFill>
              </a:defRPr>
            </a:lvl7pPr>
            <a:lvl8pPr indent="-228600" lvl="7" marL="3657600" algn="l">
              <a:spcBef>
                <a:spcPts val="1200"/>
              </a:spcBef>
              <a:spcAft>
                <a:spcPts val="0"/>
              </a:spcAft>
              <a:buClr>
                <a:srgbClr val="888888"/>
              </a:buClr>
              <a:buSzPts val="1400"/>
              <a:buNone/>
              <a:defRPr sz="1400">
                <a:solidFill>
                  <a:srgbClr val="888888"/>
                </a:solidFill>
              </a:defRPr>
            </a:lvl8pPr>
            <a:lvl9pPr indent="-228600" lvl="8" marL="4114800" algn="l">
              <a:spcBef>
                <a:spcPts val="1200"/>
              </a:spcBef>
              <a:spcAft>
                <a:spcPts val="1200"/>
              </a:spcAft>
              <a:buClr>
                <a:srgbClr val="888888"/>
              </a:buClr>
              <a:buSzPts val="1400"/>
              <a:buNone/>
              <a:defRPr sz="1400">
                <a:solidFill>
                  <a:srgbClr val="888888"/>
                </a:solidFill>
              </a:defRPr>
            </a:lvl9pPr>
          </a:lstStyle>
          <a:p/>
        </p:txBody>
      </p:sp>
      <p:sp>
        <p:nvSpPr>
          <p:cNvPr id="67" name="Google Shape;67;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lnSpcReduction="10000"/>
          </a:bodyPr>
          <a:lstStyle>
            <a:lvl1pPr indent="0" lvl="0" marL="0" marR="0" algn="r">
              <a:spcBef>
                <a:spcPts val="0"/>
              </a:spcBef>
              <a:spcAft>
                <a:spcPts val="0"/>
              </a:spcAft>
              <a:buNone/>
              <a:defRPr b="0" i="0" sz="1200" u="none" cap="none" strike="noStrike">
                <a:solidFill>
                  <a:srgbClr val="888888"/>
                </a:solidFill>
                <a:latin typeface="Calibri"/>
                <a:ea typeface="Calibri"/>
                <a:cs typeface="Calibri"/>
                <a:sym typeface="Calibri"/>
              </a:defRPr>
            </a:lvl1pPr>
            <a:lvl2pPr indent="0" lvl="1" marL="0" marR="0" algn="r">
              <a:spcBef>
                <a:spcPts val="0"/>
              </a:spcBef>
              <a:spcAft>
                <a:spcPts val="0"/>
              </a:spcAft>
              <a:buNone/>
              <a:defRPr b="0" i="0" sz="1200" u="none" cap="none" strike="noStrike">
                <a:solidFill>
                  <a:srgbClr val="888888"/>
                </a:solidFill>
                <a:latin typeface="Calibri"/>
                <a:ea typeface="Calibri"/>
                <a:cs typeface="Calibri"/>
                <a:sym typeface="Calibri"/>
              </a:defRPr>
            </a:lvl2pPr>
            <a:lvl3pPr indent="0" lvl="2" marL="0" marR="0" algn="r">
              <a:spcBef>
                <a:spcPts val="0"/>
              </a:spcBef>
              <a:spcAft>
                <a:spcPts val="0"/>
              </a:spcAft>
              <a:buNone/>
              <a:defRPr b="0" i="0" sz="1200" u="none" cap="none" strike="noStrike">
                <a:solidFill>
                  <a:srgbClr val="888888"/>
                </a:solidFill>
                <a:latin typeface="Calibri"/>
                <a:ea typeface="Calibri"/>
                <a:cs typeface="Calibri"/>
                <a:sym typeface="Calibri"/>
              </a:defRPr>
            </a:lvl3pPr>
            <a:lvl4pPr indent="0" lvl="3" marL="0" marR="0" algn="r">
              <a:spcBef>
                <a:spcPts val="0"/>
              </a:spcBef>
              <a:spcAft>
                <a:spcPts val="0"/>
              </a:spcAft>
              <a:buNone/>
              <a:defRPr b="0" i="0" sz="1200" u="none" cap="none" strike="noStrike">
                <a:solidFill>
                  <a:srgbClr val="888888"/>
                </a:solidFill>
                <a:latin typeface="Calibri"/>
                <a:ea typeface="Calibri"/>
                <a:cs typeface="Calibri"/>
                <a:sym typeface="Calibri"/>
              </a:defRPr>
            </a:lvl4pPr>
            <a:lvl5pPr indent="0" lvl="4" marL="0" marR="0" algn="r">
              <a:spcBef>
                <a:spcPts val="0"/>
              </a:spcBef>
              <a:spcAft>
                <a:spcPts val="0"/>
              </a:spcAft>
              <a:buNone/>
              <a:defRPr b="0" i="0" sz="1200" u="none" cap="none" strike="noStrike">
                <a:solidFill>
                  <a:srgbClr val="888888"/>
                </a:solidFill>
                <a:latin typeface="Calibri"/>
                <a:ea typeface="Calibri"/>
                <a:cs typeface="Calibri"/>
                <a:sym typeface="Calibri"/>
              </a:defRPr>
            </a:lvl5pPr>
            <a:lvl6pPr indent="0" lvl="5" marL="0" marR="0" algn="r">
              <a:spcBef>
                <a:spcPts val="0"/>
              </a:spcBef>
              <a:spcAft>
                <a:spcPts val="0"/>
              </a:spcAft>
              <a:buNone/>
              <a:defRPr b="0" i="0" sz="1200" u="none" cap="none" strike="noStrike">
                <a:solidFill>
                  <a:srgbClr val="888888"/>
                </a:solidFill>
                <a:latin typeface="Calibri"/>
                <a:ea typeface="Calibri"/>
                <a:cs typeface="Calibri"/>
                <a:sym typeface="Calibri"/>
              </a:defRPr>
            </a:lvl6pPr>
            <a:lvl7pPr indent="0" lvl="6" marL="0" marR="0" algn="r">
              <a:spcBef>
                <a:spcPts val="0"/>
              </a:spcBef>
              <a:spcAft>
                <a:spcPts val="0"/>
              </a:spcAft>
              <a:buNone/>
              <a:defRPr b="0" i="0" sz="1200" u="none" cap="none" strike="noStrike">
                <a:solidFill>
                  <a:srgbClr val="888888"/>
                </a:solidFill>
                <a:latin typeface="Calibri"/>
                <a:ea typeface="Calibri"/>
                <a:cs typeface="Calibri"/>
                <a:sym typeface="Calibri"/>
              </a:defRPr>
            </a:lvl7pPr>
            <a:lvl8pPr indent="0" lvl="7" marL="0" marR="0" algn="r">
              <a:spcBef>
                <a:spcPts val="0"/>
              </a:spcBef>
              <a:spcAft>
                <a:spcPts val="0"/>
              </a:spcAft>
              <a:buNone/>
              <a:defRPr b="0" i="0" sz="1200" u="none" cap="none" strike="noStrike">
                <a:solidFill>
                  <a:srgbClr val="888888"/>
                </a:solidFill>
                <a:latin typeface="Calibri"/>
                <a:ea typeface="Calibri"/>
                <a:cs typeface="Calibri"/>
                <a:sym typeface="Calibri"/>
              </a:defRPr>
            </a:lvl8pPr>
            <a:lvl9pPr indent="0" lvl="8" marL="0" marR="0" algn="r">
              <a:spcBef>
                <a:spcPts val="0"/>
              </a:spcBef>
              <a:spcAft>
                <a:spcPts val="0"/>
              </a:spcAft>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a:blip r:embed="rId1">
            <a:alphaModFix/>
          </a:blip>
          <a:stretch>
            <a:fillRect/>
          </a:stretch>
        </p:blipFill>
        <p:spPr>
          <a:xfrm>
            <a:off x="51371" y="0"/>
            <a:ext cx="9144000" cy="5143500"/>
          </a:xfrm>
          <a:prstGeom prst="rect">
            <a:avLst/>
          </a:prstGeom>
          <a:noFill/>
          <a:ln>
            <a:noFill/>
          </a:ln>
        </p:spPr>
      </p:pic>
      <p:sp>
        <p:nvSpPr>
          <p:cNvPr id="7" name="Google Shape;7;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8" name="Google Shape;8;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Char char="●"/>
              <a:defRPr sz="18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9" name="Google Shape;9;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mailto:matheus.m.santos@icmc.usp.br" TargetMode="External"/><Relationship Id="rId4" Type="http://schemas.openxmlformats.org/officeDocument/2006/relationships/hyperlink" Target="https://calendar.app.google/3tVdFLZSqYNmj6qv8"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4.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hyperlink" Target="https://runcodes.icmc.usp.br/offerings/view/83" TargetMode="Externa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SSC0501 - Introdução à Ciência de Computação I</a:t>
            </a:r>
            <a:endParaRPr/>
          </a:p>
        </p:txBody>
      </p:sp>
      <p:sp>
        <p:nvSpPr>
          <p:cNvPr id="75" name="Google Shape;75;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Bem Vindos!</a:t>
            </a:r>
            <a:endParaRPr/>
          </a:p>
        </p:txBody>
      </p:sp>
      <p:sp>
        <p:nvSpPr>
          <p:cNvPr id="76" name="Google Shape;7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SSC0501 - Introdução à Ciência de Computação I</a:t>
            </a:r>
            <a:endParaRPr/>
          </a:p>
        </p:txBody>
      </p:sp>
      <p:sp>
        <p:nvSpPr>
          <p:cNvPr id="82" name="Google Shape;8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Prof. Matheus Machado dos Santos</a:t>
            </a:r>
            <a:endParaRPr/>
          </a:p>
          <a:p>
            <a:pPr indent="0" lvl="0" marL="0" rtl="0" algn="l">
              <a:spcBef>
                <a:spcPts val="1200"/>
              </a:spcBef>
              <a:spcAft>
                <a:spcPts val="0"/>
              </a:spcAft>
              <a:buNone/>
            </a:pPr>
            <a:r>
              <a:rPr lang="en"/>
              <a:t>Emial: </a:t>
            </a:r>
            <a:r>
              <a:rPr lang="en" u="sng">
                <a:solidFill>
                  <a:schemeClr val="hlink"/>
                </a:solidFill>
                <a:hlinkClick r:id="rId3"/>
              </a:rPr>
              <a:t>matheus.m.santos@icmc.usp.br</a:t>
            </a:r>
            <a:endParaRPr/>
          </a:p>
          <a:p>
            <a:pPr indent="0" lvl="0" marL="0" rtl="0" algn="l">
              <a:spcBef>
                <a:spcPts val="1200"/>
              </a:spcBef>
              <a:spcAft>
                <a:spcPts val="0"/>
              </a:spcAft>
              <a:buNone/>
            </a:pPr>
            <a:r>
              <a:rPr lang="en"/>
              <a:t>Atendimentos: terças-feiras das </a:t>
            </a:r>
            <a:r>
              <a:rPr lang="en"/>
              <a:t>17h</a:t>
            </a:r>
            <a:r>
              <a:rPr lang="en"/>
              <a:t> </a:t>
            </a:r>
            <a:r>
              <a:rPr lang="en"/>
              <a:t>às</a:t>
            </a:r>
            <a:r>
              <a:rPr lang="en"/>
              <a:t> 19h.</a:t>
            </a:r>
            <a:endParaRPr/>
          </a:p>
          <a:p>
            <a:pPr indent="0" lvl="0" marL="0" rtl="0" algn="l">
              <a:spcBef>
                <a:spcPts val="1200"/>
              </a:spcBef>
              <a:spcAft>
                <a:spcPts val="0"/>
              </a:spcAft>
              <a:buNone/>
            </a:pPr>
            <a:r>
              <a:rPr lang="en"/>
              <a:t>Agendamento de atendimento por e-mail ou google calendar (</a:t>
            </a:r>
            <a:r>
              <a:rPr lang="en" u="sng">
                <a:solidFill>
                  <a:schemeClr val="hlink"/>
                </a:solidFill>
                <a:hlinkClick r:id="rId4"/>
              </a:rPr>
              <a:t>link</a:t>
            </a:r>
            <a:r>
              <a:rPr lang="en"/>
              <a:t>)</a:t>
            </a:r>
            <a:endParaRPr/>
          </a:p>
          <a:p>
            <a:pPr indent="0" lvl="0" marL="0" rtl="0" algn="l">
              <a:spcBef>
                <a:spcPts val="1200"/>
              </a:spcBef>
              <a:spcAft>
                <a:spcPts val="1200"/>
              </a:spcAft>
              <a:buNone/>
            </a:pPr>
            <a:r>
              <a:t/>
            </a:r>
            <a:endParaRPr/>
          </a:p>
        </p:txBody>
      </p:sp>
      <p:sp>
        <p:nvSpPr>
          <p:cNvPr id="83" name="Google Shape;8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Linguagem C</a:t>
            </a:r>
            <a:endParaRPr/>
          </a:p>
        </p:txBody>
      </p:sp>
      <p:sp>
        <p:nvSpPr>
          <p:cNvPr id="90" name="Google Shape;90;p18"/>
          <p:cNvSpPr txBox="1"/>
          <p:nvPr>
            <p:ph idx="1" type="body"/>
          </p:nvPr>
        </p:nvSpPr>
        <p:spPr>
          <a:xfrm>
            <a:off x="311700" y="1152475"/>
            <a:ext cx="5481300" cy="3416400"/>
          </a:xfrm>
          <a:prstGeom prst="rect">
            <a:avLst/>
          </a:prstGeom>
          <a:noFill/>
          <a:ln>
            <a:noFill/>
          </a:ln>
        </p:spPr>
        <p:txBody>
          <a:bodyPr anchorCtr="0" anchor="t" bIns="45700" lIns="91425" spcFirstLastPara="1" rIns="91425" wrap="square" tIns="45700">
            <a:normAutofit lnSpcReduction="10000"/>
          </a:bodyPr>
          <a:lstStyle/>
          <a:p>
            <a:pPr indent="-317500" lvl="0" marL="342900" rtl="0" algn="l">
              <a:spcBef>
                <a:spcPts val="0"/>
              </a:spcBef>
              <a:spcAft>
                <a:spcPts val="0"/>
              </a:spcAft>
              <a:buClr>
                <a:schemeClr val="dk1"/>
              </a:buClr>
              <a:buSzPts val="2200"/>
              <a:buChar char="●"/>
            </a:pPr>
            <a:r>
              <a:rPr lang="en" sz="2200"/>
              <a:t>Origem de C está associada ao sistema Unix</a:t>
            </a:r>
            <a:endParaRPr sz="1400"/>
          </a:p>
          <a:p>
            <a:pPr indent="-317500" lvl="0" marL="342900" rtl="0" algn="l">
              <a:spcBef>
                <a:spcPts val="520"/>
              </a:spcBef>
              <a:spcAft>
                <a:spcPts val="0"/>
              </a:spcAft>
              <a:buClr>
                <a:schemeClr val="dk1"/>
              </a:buClr>
              <a:buSzPts val="2200"/>
              <a:buChar char="●"/>
            </a:pPr>
            <a:r>
              <a:rPr lang="en" sz="2200"/>
              <a:t>Histórico:</a:t>
            </a:r>
            <a:endParaRPr sz="1400"/>
          </a:p>
          <a:p>
            <a:pPr indent="-234950" lvl="1" marL="742950" rtl="0" algn="l">
              <a:spcBef>
                <a:spcPts val="440"/>
              </a:spcBef>
              <a:spcAft>
                <a:spcPts val="0"/>
              </a:spcAft>
              <a:buClr>
                <a:schemeClr val="dk1"/>
              </a:buClr>
              <a:buSzPts val="1400"/>
              <a:buChar char="○"/>
            </a:pPr>
            <a:r>
              <a:rPr lang="en" sz="1800"/>
              <a:t>1970: </a:t>
            </a:r>
            <a:r>
              <a:rPr b="1" lang="en" sz="1800"/>
              <a:t>Ken Thompson</a:t>
            </a:r>
            <a:r>
              <a:rPr lang="en" sz="1800"/>
              <a:t> desenvolve B, baseada em </a:t>
            </a:r>
            <a:r>
              <a:rPr b="1" lang="en" sz="1800"/>
              <a:t>BCPL</a:t>
            </a:r>
            <a:r>
              <a:rPr lang="en" sz="1800"/>
              <a:t>, para o primeiro Unix no </a:t>
            </a:r>
            <a:r>
              <a:rPr b="1" lang="en" sz="1800"/>
              <a:t>DEC PDP-7</a:t>
            </a:r>
            <a:endParaRPr b="1" sz="1000"/>
          </a:p>
          <a:p>
            <a:pPr indent="-234950" lvl="1" marL="742950" rtl="0" algn="l">
              <a:spcBef>
                <a:spcPts val="440"/>
              </a:spcBef>
              <a:spcAft>
                <a:spcPts val="0"/>
              </a:spcAft>
              <a:buClr>
                <a:schemeClr val="dk1"/>
              </a:buClr>
              <a:buSzPts val="1400"/>
              <a:buChar char="○"/>
            </a:pPr>
            <a:r>
              <a:rPr lang="en" sz="1800"/>
              <a:t>1972: </a:t>
            </a:r>
            <a:r>
              <a:rPr b="1" lang="en" sz="1800"/>
              <a:t>Dennis Ritchie</a:t>
            </a:r>
            <a:r>
              <a:rPr lang="en" sz="1800"/>
              <a:t> projeta a </a:t>
            </a:r>
            <a:r>
              <a:rPr b="1" lang="en" sz="1800"/>
              <a:t>linguagem C</a:t>
            </a:r>
            <a:r>
              <a:rPr lang="en" sz="1800"/>
              <a:t>, baseada na </a:t>
            </a:r>
            <a:r>
              <a:rPr b="1" lang="en" sz="1800"/>
              <a:t>linguagem B</a:t>
            </a:r>
            <a:r>
              <a:rPr lang="en" sz="1800"/>
              <a:t>. </a:t>
            </a:r>
            <a:endParaRPr sz="1000"/>
          </a:p>
          <a:p>
            <a:pPr indent="-234950" lvl="1" marL="742950" rtl="0" algn="l">
              <a:spcBef>
                <a:spcPts val="440"/>
              </a:spcBef>
              <a:spcAft>
                <a:spcPts val="0"/>
              </a:spcAft>
              <a:buClr>
                <a:schemeClr val="dk1"/>
              </a:buClr>
              <a:buSzPts val="1400"/>
              <a:buChar char="○"/>
            </a:pPr>
            <a:r>
              <a:rPr lang="en" sz="1800"/>
              <a:t>1988: o </a:t>
            </a:r>
            <a:r>
              <a:rPr i="1" lang="en" sz="1800"/>
              <a:t>American National Standard Institute</a:t>
            </a:r>
            <a:r>
              <a:rPr lang="en" sz="1800"/>
              <a:t> (ANSI) define o </a:t>
            </a:r>
            <a:r>
              <a:rPr b="1" lang="en" sz="1800"/>
              <a:t>padrão ANSI C</a:t>
            </a:r>
            <a:endParaRPr sz="1400"/>
          </a:p>
        </p:txBody>
      </p:sp>
      <p:grpSp>
        <p:nvGrpSpPr>
          <p:cNvPr id="91" name="Google Shape;91;p18"/>
          <p:cNvGrpSpPr/>
          <p:nvPr/>
        </p:nvGrpSpPr>
        <p:grpSpPr>
          <a:xfrm>
            <a:off x="7137868" y="883112"/>
            <a:ext cx="2095500" cy="1971614"/>
            <a:chOff x="6260950" y="154472"/>
            <a:chExt cx="2095500" cy="1971614"/>
          </a:xfrm>
        </p:grpSpPr>
        <p:pic>
          <p:nvPicPr>
            <p:cNvPr id="92" name="Google Shape;92;p18"/>
            <p:cNvPicPr preferRelativeResize="0"/>
            <p:nvPr/>
          </p:nvPicPr>
          <p:blipFill>
            <a:blip r:embed="rId3">
              <a:alphaModFix/>
            </a:blip>
            <a:stretch>
              <a:fillRect/>
            </a:stretch>
          </p:blipFill>
          <p:spPr>
            <a:xfrm>
              <a:off x="6520725" y="154472"/>
              <a:ext cx="1575950" cy="1669050"/>
            </a:xfrm>
            <a:prstGeom prst="rect">
              <a:avLst/>
            </a:prstGeom>
            <a:noFill/>
            <a:ln>
              <a:noFill/>
            </a:ln>
          </p:spPr>
        </p:pic>
        <p:sp>
          <p:nvSpPr>
            <p:cNvPr id="93" name="Google Shape;93;p18"/>
            <p:cNvSpPr txBox="1"/>
            <p:nvPr/>
          </p:nvSpPr>
          <p:spPr>
            <a:xfrm>
              <a:off x="6260950" y="1725886"/>
              <a:ext cx="20955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t>Thompson, 2019</a:t>
              </a:r>
              <a:endParaRPr b="1"/>
            </a:p>
          </p:txBody>
        </p:sp>
      </p:grpSp>
      <p:grpSp>
        <p:nvGrpSpPr>
          <p:cNvPr id="94" name="Google Shape;94;p18"/>
          <p:cNvGrpSpPr/>
          <p:nvPr/>
        </p:nvGrpSpPr>
        <p:grpSpPr>
          <a:xfrm>
            <a:off x="5714512" y="778762"/>
            <a:ext cx="1599300" cy="2127638"/>
            <a:chOff x="6286950" y="2034013"/>
            <a:chExt cx="1599300" cy="2127638"/>
          </a:xfrm>
        </p:grpSpPr>
        <p:pic>
          <p:nvPicPr>
            <p:cNvPr id="95" name="Google Shape;95;p18"/>
            <p:cNvPicPr preferRelativeResize="0"/>
            <p:nvPr/>
          </p:nvPicPr>
          <p:blipFill>
            <a:blip r:embed="rId4">
              <a:alphaModFix/>
            </a:blip>
            <a:stretch>
              <a:fillRect/>
            </a:stretch>
          </p:blipFill>
          <p:spPr>
            <a:xfrm>
              <a:off x="6420774" y="2034013"/>
              <a:ext cx="1331550" cy="1830225"/>
            </a:xfrm>
            <a:prstGeom prst="rect">
              <a:avLst/>
            </a:prstGeom>
            <a:noFill/>
            <a:ln>
              <a:noFill/>
            </a:ln>
          </p:spPr>
        </p:pic>
        <p:sp>
          <p:nvSpPr>
            <p:cNvPr id="96" name="Google Shape;96;p18"/>
            <p:cNvSpPr txBox="1"/>
            <p:nvPr/>
          </p:nvSpPr>
          <p:spPr>
            <a:xfrm>
              <a:off x="6286950" y="3761450"/>
              <a:ext cx="1599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Dennis Ritchie</a:t>
              </a:r>
              <a:endParaRPr b="1"/>
            </a:p>
          </p:txBody>
        </p:sp>
      </p:grpSp>
      <p:grpSp>
        <p:nvGrpSpPr>
          <p:cNvPr id="97" name="Google Shape;97;p18"/>
          <p:cNvGrpSpPr/>
          <p:nvPr/>
        </p:nvGrpSpPr>
        <p:grpSpPr>
          <a:xfrm>
            <a:off x="6305400" y="3058775"/>
            <a:ext cx="2381400" cy="2047400"/>
            <a:chOff x="6121675" y="974025"/>
            <a:chExt cx="2381400" cy="2047400"/>
          </a:xfrm>
        </p:grpSpPr>
        <p:pic>
          <p:nvPicPr>
            <p:cNvPr id="98" name="Google Shape;98;p18"/>
            <p:cNvPicPr preferRelativeResize="0"/>
            <p:nvPr/>
          </p:nvPicPr>
          <p:blipFill>
            <a:blip r:embed="rId5">
              <a:alphaModFix/>
            </a:blip>
            <a:stretch>
              <a:fillRect/>
            </a:stretch>
          </p:blipFill>
          <p:spPr>
            <a:xfrm>
              <a:off x="6298150" y="974025"/>
              <a:ext cx="2028425" cy="1525375"/>
            </a:xfrm>
            <a:prstGeom prst="rect">
              <a:avLst/>
            </a:prstGeom>
            <a:noFill/>
            <a:ln>
              <a:noFill/>
            </a:ln>
          </p:spPr>
        </p:pic>
        <p:sp>
          <p:nvSpPr>
            <p:cNvPr id="99" name="Google Shape;99;p18"/>
            <p:cNvSpPr txBox="1"/>
            <p:nvPr/>
          </p:nvSpPr>
          <p:spPr>
            <a:xfrm>
              <a:off x="6121675" y="2405825"/>
              <a:ext cx="2381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DEC PDP-7</a:t>
              </a:r>
              <a:br>
                <a:rPr lang="en"/>
              </a:br>
              <a:r>
                <a:rPr lang="en"/>
                <a:t>~16 KB memória</a:t>
              </a:r>
              <a:endParaRPr/>
            </a:p>
          </p:txBody>
        </p:sp>
      </p:gr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Linguagem C</a:t>
            </a:r>
            <a:endParaRPr/>
          </a:p>
        </p:txBody>
      </p:sp>
      <p:sp>
        <p:nvSpPr>
          <p:cNvPr id="106" name="Google Shape;10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chemeClr val="dk1"/>
              </a:buClr>
              <a:buSzPts val="2200"/>
              <a:buChar char="●"/>
            </a:pPr>
            <a:r>
              <a:rPr lang="en" sz="2200">
                <a:solidFill>
                  <a:schemeClr val="dk1"/>
                </a:solidFill>
              </a:rPr>
              <a:t>É considerada uma </a:t>
            </a:r>
            <a:r>
              <a:rPr b="1" lang="en" sz="2200">
                <a:solidFill>
                  <a:schemeClr val="dk1"/>
                </a:solidFill>
              </a:rPr>
              <a:t>linguagem de nível médio</a:t>
            </a:r>
            <a:r>
              <a:rPr lang="en" sz="2200">
                <a:solidFill>
                  <a:schemeClr val="dk1"/>
                </a:solidFill>
              </a:rPr>
              <a:t> (combina elementos de baixo nível “assembly” e alto nível if,else,for,while, funções…)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É “case sensitive”, ou seja, interpreta como diferentes letras maiúsculas de minúsculas.</a:t>
            </a:r>
            <a:endParaRPr sz="2200">
              <a:solidFill>
                <a:schemeClr val="dk1"/>
              </a:solidFill>
            </a:endParaRPr>
          </a:p>
          <a:p>
            <a:pPr indent="-368300" lvl="0" marL="457200" rtl="0" algn="l">
              <a:spcBef>
                <a:spcPts val="0"/>
              </a:spcBef>
              <a:spcAft>
                <a:spcPts val="0"/>
              </a:spcAft>
              <a:buClr>
                <a:schemeClr val="dk1"/>
              </a:buClr>
              <a:buSzPts val="2200"/>
              <a:buChar char="●"/>
            </a:pPr>
            <a:r>
              <a:rPr lang="en" sz="2200">
                <a:solidFill>
                  <a:schemeClr val="dk1"/>
                </a:solidFill>
              </a:rPr>
              <a:t>É uma linguagem fortemente tipada. </a:t>
            </a:r>
            <a:endParaRPr sz="2200">
              <a:solidFill>
                <a:schemeClr val="dk1"/>
              </a:solidFill>
            </a:endParaRPr>
          </a:p>
          <a:p>
            <a:pPr indent="0" lvl="0" marL="0" rtl="0" algn="l">
              <a:spcBef>
                <a:spcPts val="1200"/>
              </a:spcBef>
              <a:spcAft>
                <a:spcPts val="1200"/>
              </a:spcAft>
              <a:buNone/>
            </a:pPr>
            <a:r>
              <a:t/>
            </a:r>
            <a:endParaRPr sz="2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VARIÁVEIS E TIPOS DE DADOS</a:t>
            </a:r>
            <a:endParaRPr/>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Variáveis</a:t>
            </a:r>
            <a:endParaRPr/>
          </a:p>
        </p:txBody>
      </p:sp>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Como </a:t>
            </a:r>
            <a:r>
              <a:rPr b="1" lang="en"/>
              <a:t>armazenar os dados</a:t>
            </a:r>
            <a:r>
              <a:rPr lang="en"/>
              <a:t> de entrada, fornecidos pelo usuário?</a:t>
            </a:r>
            <a:br>
              <a:rPr lang="en"/>
            </a:br>
            <a:endParaRPr/>
          </a:p>
          <a:p>
            <a:pPr indent="-342900" lvl="0" marL="457200" rtl="0" algn="l">
              <a:spcBef>
                <a:spcPts val="0"/>
              </a:spcBef>
              <a:spcAft>
                <a:spcPts val="0"/>
              </a:spcAft>
              <a:buSzPts val="1800"/>
              <a:buChar char="●"/>
            </a:pPr>
            <a:r>
              <a:rPr lang="en"/>
              <a:t>O que fazer com os resultados das operações?</a:t>
            </a:r>
            <a:br>
              <a:rPr lang="en"/>
            </a:br>
            <a:endParaRPr/>
          </a:p>
          <a:p>
            <a:pPr indent="-342900" lvl="0" marL="457200" rtl="0" algn="l">
              <a:spcBef>
                <a:spcPts val="0"/>
              </a:spcBef>
              <a:spcAft>
                <a:spcPts val="0"/>
              </a:spcAft>
              <a:buSzPts val="1800"/>
              <a:buChar char="●"/>
            </a:pPr>
            <a:r>
              <a:rPr lang="en"/>
              <a:t>Variáveis são elementos que estão associados a </a:t>
            </a:r>
            <a:r>
              <a:rPr b="1" lang="en"/>
              <a:t>posições de memória</a:t>
            </a:r>
            <a:r>
              <a:rPr lang="en"/>
              <a:t>, cujo objetivo é o armazenamento informações.</a:t>
            </a:r>
            <a:br>
              <a:rPr lang="en"/>
            </a:br>
            <a:endParaRPr/>
          </a:p>
          <a:p>
            <a:pPr indent="-342900" lvl="0" marL="457200" rtl="0" algn="l">
              <a:spcBef>
                <a:spcPts val="0"/>
              </a:spcBef>
              <a:spcAft>
                <a:spcPts val="0"/>
              </a:spcAft>
              <a:buSzPts val="1800"/>
              <a:buChar char="●"/>
            </a:pPr>
            <a:r>
              <a:rPr lang="en"/>
              <a:t>...por tempo suficiente ao seu processamento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Identificadores</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Os identificadores em C devem seguir algumas </a:t>
            </a:r>
            <a:r>
              <a:rPr b="1" lang="en"/>
              <a:t>regras sintáticas</a:t>
            </a:r>
            <a:r>
              <a:rPr lang="en"/>
              <a:t> estabelecidas pela linguagem:</a:t>
            </a:r>
            <a:endParaRPr/>
          </a:p>
          <a:p>
            <a:pPr indent="0" lvl="0" marL="0" rtl="0" algn="l">
              <a:spcBef>
                <a:spcPts val="1200"/>
              </a:spcBef>
              <a:spcAft>
                <a:spcPts val="0"/>
              </a:spcAft>
              <a:buNone/>
            </a:pPr>
            <a:r>
              <a:rPr b="1" lang="en"/>
              <a:t>1- Caracteres permitidos:</a:t>
            </a:r>
            <a:endParaRPr b="1"/>
          </a:p>
          <a:p>
            <a:pPr indent="-342900" lvl="0" marL="457200" rtl="0" algn="l">
              <a:spcBef>
                <a:spcPts val="1200"/>
              </a:spcBef>
              <a:spcAft>
                <a:spcPts val="0"/>
              </a:spcAft>
              <a:buSzPts val="1800"/>
              <a:buChar char="●"/>
            </a:pPr>
            <a:r>
              <a:rPr lang="en"/>
              <a:t>Um identificador deve </a:t>
            </a:r>
            <a:r>
              <a:rPr b="1" lang="en"/>
              <a:t>começar com uma letra</a:t>
            </a:r>
            <a:r>
              <a:rPr lang="en"/>
              <a:t> (</a:t>
            </a:r>
            <a:r>
              <a:rPr b="1" lang="en"/>
              <a:t>A-Z ou a-z</a:t>
            </a:r>
            <a:r>
              <a:rPr lang="en"/>
              <a:t>) </a:t>
            </a:r>
            <a:r>
              <a:rPr b="1" lang="en"/>
              <a:t>ou um underscore</a:t>
            </a:r>
            <a:r>
              <a:rPr lang="en"/>
              <a:t> (_).</a:t>
            </a:r>
            <a:endParaRPr/>
          </a:p>
          <a:p>
            <a:pPr indent="-342900" lvl="0" marL="457200" rtl="0" algn="l">
              <a:spcBef>
                <a:spcPts val="0"/>
              </a:spcBef>
              <a:spcAft>
                <a:spcPts val="0"/>
              </a:spcAft>
              <a:buSzPts val="1800"/>
              <a:buChar char="●"/>
            </a:pPr>
            <a:r>
              <a:rPr lang="en"/>
              <a:t>Os caracteres subsequentes podem incluir letras, dígitos (0-9) e underscores (_).</a:t>
            </a:r>
            <a:endParaRPr/>
          </a:p>
          <a:p>
            <a:pPr indent="0" lvl="0" marL="0" rtl="0" algn="l">
              <a:spcBef>
                <a:spcPts val="1200"/>
              </a:spcBef>
              <a:spcAft>
                <a:spcPts val="0"/>
              </a:spcAft>
              <a:buNone/>
            </a:pPr>
            <a:r>
              <a:rPr b="1" lang="en"/>
              <a:t>2- Sensibilidade a maiúsculas e minúsculas:</a:t>
            </a:r>
            <a:endParaRPr b="1"/>
          </a:p>
          <a:p>
            <a:pPr indent="-342900" lvl="0" marL="457200" rtl="0" algn="l">
              <a:spcBef>
                <a:spcPts val="1200"/>
              </a:spcBef>
              <a:spcAft>
                <a:spcPts val="0"/>
              </a:spcAft>
              <a:buSzPts val="1800"/>
              <a:buChar char="●"/>
            </a:pPr>
            <a:r>
              <a:rPr lang="en"/>
              <a:t>C diferencia maiúsculas de minúsculas, ou seja, </a:t>
            </a:r>
            <a:r>
              <a:rPr b="1" lang="en"/>
              <a:t>variavel</a:t>
            </a:r>
            <a:r>
              <a:rPr lang="en"/>
              <a:t>, </a:t>
            </a:r>
            <a:r>
              <a:rPr b="1" lang="en"/>
              <a:t>Variavel</a:t>
            </a:r>
            <a:r>
              <a:rPr lang="en"/>
              <a:t> e </a:t>
            </a:r>
            <a:r>
              <a:rPr b="1" lang="en"/>
              <a:t>VARIAVEL</a:t>
            </a:r>
            <a:r>
              <a:rPr lang="en"/>
              <a:t> são identificadores distintos.</a:t>
            </a:r>
            <a:endParaRPr/>
          </a:p>
        </p:txBody>
      </p:sp>
      <p:sp>
        <p:nvSpPr>
          <p:cNvPr id="128" name="Google Shape;12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
              <a:t>Identificadores</a:t>
            </a:r>
            <a:endParaRPr/>
          </a:p>
        </p:txBody>
      </p:sp>
      <p:sp>
        <p:nvSpPr>
          <p:cNvPr id="134" name="Google Shape;13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3- Não pode ser uma palavra-chave:</a:t>
            </a:r>
            <a:endParaRPr b="1"/>
          </a:p>
          <a:p>
            <a:pPr indent="-342900" lvl="0" marL="457200" rtl="0" algn="l">
              <a:spcBef>
                <a:spcPts val="1200"/>
              </a:spcBef>
              <a:spcAft>
                <a:spcPts val="0"/>
              </a:spcAft>
              <a:buSzPts val="1800"/>
              <a:buChar char="●"/>
            </a:pPr>
            <a:r>
              <a:rPr lang="en"/>
              <a:t>Identificadores não podem ser nomes reservados da linguagem, como int, return, for, etc.</a:t>
            </a:r>
            <a:endParaRPr/>
          </a:p>
          <a:p>
            <a:pPr indent="0" lvl="0" marL="0" rtl="0" algn="l">
              <a:spcBef>
                <a:spcPts val="1200"/>
              </a:spcBef>
              <a:spcAft>
                <a:spcPts val="0"/>
              </a:spcAft>
              <a:buNone/>
            </a:pPr>
            <a:r>
              <a:rPr b="1" lang="en"/>
              <a:t>4- </a:t>
            </a:r>
            <a:r>
              <a:rPr b="1" lang="en"/>
              <a:t>Comprimento:</a:t>
            </a:r>
            <a:endParaRPr b="1"/>
          </a:p>
          <a:p>
            <a:pPr indent="-342900" lvl="0" marL="457200" rtl="0" algn="l">
              <a:spcBef>
                <a:spcPts val="1200"/>
              </a:spcBef>
              <a:spcAft>
                <a:spcPts val="0"/>
              </a:spcAft>
              <a:buSzPts val="1800"/>
              <a:buChar char="●"/>
            </a:pPr>
            <a:r>
              <a:rPr lang="en"/>
              <a:t>O padrão C99 exige que ao menos os primeiros 63 caracteres de um identificador sejam considerados únicos para nomes de variáveis e funções, e os primeiros 31 caracteres para macros.</a:t>
            </a:r>
            <a:endParaRPr/>
          </a:p>
        </p:txBody>
      </p:sp>
      <p:sp>
        <p:nvSpPr>
          <p:cNvPr id="135" name="Google Shape;13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Palavras-chave de C (ANSI)</a:t>
            </a:r>
            <a:endParaRPr/>
          </a:p>
        </p:txBody>
      </p:sp>
      <p:sp>
        <p:nvSpPr>
          <p:cNvPr id="142" name="Google Shape;142;p24"/>
          <p:cNvSpPr txBox="1"/>
          <p:nvPr>
            <p:ph idx="1" type="body"/>
          </p:nvPr>
        </p:nvSpPr>
        <p:spPr>
          <a:xfrm>
            <a:off x="457200" y="1200150"/>
            <a:ext cx="8229600" cy="3300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800"/>
              <a:buFont typeface="Calibri"/>
              <a:buNone/>
            </a:pPr>
            <a:r>
              <a:rPr lang="en" sz="2800"/>
              <a:t>	auto   break   case   char   const   continue   default   do double   else   enum   extern   float   for   goto   if   int  long   register   return   short   signed   sizeof   static  struct   switch   typeof   union   unsigned   void   volatile  while</a:t>
            </a:r>
            <a:endParaRPr sz="2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Palavras-chave de C (ANSI)</a:t>
            </a:r>
            <a:endParaRPr/>
          </a:p>
        </p:txBody>
      </p:sp>
      <p:sp>
        <p:nvSpPr>
          <p:cNvPr id="149" name="Google Shape;149;p25"/>
          <p:cNvSpPr txBox="1"/>
          <p:nvPr>
            <p:ph idx="1" type="body"/>
          </p:nvPr>
        </p:nvSpPr>
        <p:spPr>
          <a:xfrm>
            <a:off x="457200" y="1200150"/>
            <a:ext cx="8229600" cy="33003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2800"/>
              <a:buFont typeface="Calibri"/>
              <a:buNone/>
            </a:pPr>
            <a:r>
              <a:rPr lang="en" sz="2800"/>
              <a:t>	auto   break   case   </a:t>
            </a:r>
            <a:r>
              <a:rPr b="1" lang="en" sz="2800"/>
              <a:t>char</a:t>
            </a:r>
            <a:r>
              <a:rPr lang="en" sz="2800"/>
              <a:t>   </a:t>
            </a:r>
            <a:r>
              <a:rPr b="1" lang="en" sz="2800"/>
              <a:t>const</a:t>
            </a:r>
            <a:r>
              <a:rPr lang="en" sz="2800"/>
              <a:t>   continue   default   do </a:t>
            </a:r>
            <a:r>
              <a:rPr b="1" lang="en" sz="2800"/>
              <a:t>double</a:t>
            </a:r>
            <a:r>
              <a:rPr lang="en" sz="2800"/>
              <a:t>   else   enum   extern   </a:t>
            </a:r>
            <a:r>
              <a:rPr b="1" lang="en" sz="2800"/>
              <a:t>float</a:t>
            </a:r>
            <a:r>
              <a:rPr lang="en" sz="2800"/>
              <a:t>   </a:t>
            </a:r>
            <a:r>
              <a:rPr b="1" lang="en" sz="2800"/>
              <a:t>for</a:t>
            </a:r>
            <a:r>
              <a:rPr lang="en" sz="2800"/>
              <a:t>   goto   if   </a:t>
            </a:r>
            <a:r>
              <a:rPr b="1" lang="en" sz="2800"/>
              <a:t>int</a:t>
            </a:r>
            <a:r>
              <a:rPr lang="en" sz="2800"/>
              <a:t>  </a:t>
            </a:r>
            <a:r>
              <a:rPr b="1" lang="en" sz="2800"/>
              <a:t>long</a:t>
            </a:r>
            <a:r>
              <a:rPr lang="en" sz="2800"/>
              <a:t>   register   return   </a:t>
            </a:r>
            <a:r>
              <a:rPr b="1" lang="en" sz="2800"/>
              <a:t>short</a:t>
            </a:r>
            <a:r>
              <a:rPr lang="en" sz="2800"/>
              <a:t>   </a:t>
            </a:r>
            <a:r>
              <a:rPr b="1" lang="en" sz="2800"/>
              <a:t>signed</a:t>
            </a:r>
            <a:r>
              <a:rPr lang="en" sz="2800"/>
              <a:t>   sizeof   </a:t>
            </a:r>
            <a:r>
              <a:rPr b="1" lang="en" sz="2800"/>
              <a:t>static</a:t>
            </a:r>
            <a:r>
              <a:rPr lang="en" sz="2800"/>
              <a:t>  </a:t>
            </a:r>
            <a:r>
              <a:rPr b="1" lang="en" sz="2800"/>
              <a:t>struct</a:t>
            </a:r>
            <a:r>
              <a:rPr lang="en" sz="2800"/>
              <a:t>   switch   typeof   </a:t>
            </a:r>
            <a:r>
              <a:rPr b="1" lang="en" sz="2800"/>
              <a:t>union</a:t>
            </a:r>
            <a:r>
              <a:rPr lang="en" sz="2800"/>
              <a:t>   </a:t>
            </a:r>
            <a:r>
              <a:rPr b="1" lang="en" sz="2800"/>
              <a:t>unsigned</a:t>
            </a:r>
            <a:r>
              <a:rPr lang="en" sz="2800"/>
              <a:t>   </a:t>
            </a:r>
            <a:r>
              <a:rPr b="1" lang="en" sz="2800"/>
              <a:t>void</a:t>
            </a:r>
            <a:r>
              <a:rPr lang="en" sz="2800"/>
              <a:t>   </a:t>
            </a:r>
            <a:r>
              <a:rPr b="1" lang="en" sz="2800"/>
              <a:t>volatile</a:t>
            </a:r>
            <a:r>
              <a:rPr lang="en" sz="2800"/>
              <a:t>  while</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55" name="Google Shape;15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Variáveis</a:t>
            </a:r>
            <a:endParaRPr/>
          </a:p>
          <a:p>
            <a:pPr indent="0" lvl="0" marL="0" rtl="0" algn="l">
              <a:spcBef>
                <a:spcPts val="1200"/>
              </a:spcBef>
              <a:spcAft>
                <a:spcPts val="0"/>
              </a:spcAft>
              <a:buNone/>
            </a:pPr>
            <a:br>
              <a:rPr lang="en"/>
            </a:br>
            <a:br>
              <a:rPr lang="en"/>
            </a:br>
            <a:endParaRPr/>
          </a:p>
          <a:p>
            <a:pPr indent="0" lvl="0" marL="0" rtl="0" algn="l">
              <a:spcBef>
                <a:spcPts val="1200"/>
              </a:spcBef>
              <a:spcAft>
                <a:spcPts val="1200"/>
              </a:spcAft>
              <a:buNone/>
            </a:pPr>
            <a:r>
              <a:rPr lang="en"/>
              <a:t>2- Funções:</a:t>
            </a:r>
            <a:br>
              <a:rPr lang="en"/>
            </a:br>
            <a:br>
              <a:rPr lang="en"/>
            </a:br>
            <a:endParaRPr/>
          </a:p>
        </p:txBody>
      </p:sp>
      <p:sp>
        <p:nvSpPr>
          <p:cNvPr id="156" name="Google Shape;15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7" name="Google Shape;157;p26"/>
          <p:cNvPicPr preferRelativeResize="0"/>
          <p:nvPr/>
        </p:nvPicPr>
        <p:blipFill rotWithShape="1">
          <a:blip r:embed="rId3">
            <a:alphaModFix/>
          </a:blip>
          <a:srcRect b="0" l="5829" r="0" t="0"/>
          <a:stretch/>
        </p:blipFill>
        <p:spPr>
          <a:xfrm>
            <a:off x="623725" y="3173600"/>
            <a:ext cx="5041025" cy="1171575"/>
          </a:xfrm>
          <a:prstGeom prst="rect">
            <a:avLst/>
          </a:prstGeom>
          <a:noFill/>
          <a:ln>
            <a:noFill/>
          </a:ln>
        </p:spPr>
      </p:pic>
      <p:pic>
        <p:nvPicPr>
          <p:cNvPr id="158" name="Google Shape;158;p26"/>
          <p:cNvPicPr preferRelativeResize="0"/>
          <p:nvPr/>
        </p:nvPicPr>
        <p:blipFill rotWithShape="1">
          <a:blip r:embed="rId4">
            <a:alphaModFix/>
          </a:blip>
          <a:srcRect b="0" l="7518" r="0" t="0"/>
          <a:stretch/>
        </p:blipFill>
        <p:spPr>
          <a:xfrm>
            <a:off x="623725" y="1588125"/>
            <a:ext cx="2514181" cy="1171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64" name="Google Shape;16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Variáveis</a:t>
            </a:r>
            <a:endParaRPr/>
          </a:p>
          <a:p>
            <a:pPr indent="0" lvl="0" marL="0" rtl="0" algn="l">
              <a:spcBef>
                <a:spcPts val="1200"/>
              </a:spcBef>
              <a:spcAft>
                <a:spcPts val="0"/>
              </a:spcAft>
              <a:buNone/>
            </a:pPr>
            <a:br>
              <a:rPr lang="en"/>
            </a:br>
            <a:br>
              <a:rPr lang="en"/>
            </a:br>
            <a:endParaRPr/>
          </a:p>
          <a:p>
            <a:pPr indent="0" lvl="0" marL="0" rtl="0" algn="l">
              <a:spcBef>
                <a:spcPts val="1200"/>
              </a:spcBef>
              <a:spcAft>
                <a:spcPts val="1200"/>
              </a:spcAft>
              <a:buNone/>
            </a:pPr>
            <a:r>
              <a:rPr lang="en"/>
              <a:t>2- Funções:</a:t>
            </a:r>
            <a:br>
              <a:rPr lang="en"/>
            </a:br>
            <a:br>
              <a:rPr lang="en"/>
            </a:br>
            <a:endParaRPr/>
          </a:p>
        </p:txBody>
      </p:sp>
      <p:sp>
        <p:nvSpPr>
          <p:cNvPr id="165" name="Google Shape;16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27"/>
          <p:cNvPicPr preferRelativeResize="0"/>
          <p:nvPr/>
        </p:nvPicPr>
        <p:blipFill rotWithShape="1">
          <a:blip r:embed="rId3">
            <a:alphaModFix/>
          </a:blip>
          <a:srcRect b="0" l="5829" r="0" t="0"/>
          <a:stretch/>
        </p:blipFill>
        <p:spPr>
          <a:xfrm>
            <a:off x="623725" y="3173600"/>
            <a:ext cx="5041025" cy="1171575"/>
          </a:xfrm>
          <a:prstGeom prst="rect">
            <a:avLst/>
          </a:prstGeom>
          <a:noFill/>
          <a:ln>
            <a:noFill/>
          </a:ln>
        </p:spPr>
      </p:pic>
      <p:pic>
        <p:nvPicPr>
          <p:cNvPr id="167" name="Google Shape;167;p27"/>
          <p:cNvPicPr preferRelativeResize="0"/>
          <p:nvPr/>
        </p:nvPicPr>
        <p:blipFill rotWithShape="1">
          <a:blip r:embed="rId4">
            <a:alphaModFix/>
          </a:blip>
          <a:srcRect b="0" l="7518" r="0" t="0"/>
          <a:stretch/>
        </p:blipFill>
        <p:spPr>
          <a:xfrm>
            <a:off x="623725" y="1588125"/>
            <a:ext cx="2514181" cy="1171575"/>
          </a:xfrm>
          <a:prstGeom prst="rect">
            <a:avLst/>
          </a:prstGeom>
          <a:noFill/>
          <a:ln>
            <a:noFill/>
          </a:ln>
        </p:spPr>
      </p:pic>
      <p:sp>
        <p:nvSpPr>
          <p:cNvPr id="168" name="Google Shape;168;p27"/>
          <p:cNvSpPr/>
          <p:nvPr/>
        </p:nvSpPr>
        <p:spPr>
          <a:xfrm>
            <a:off x="1093625" y="1794250"/>
            <a:ext cx="6495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27"/>
          <p:cNvSpPr/>
          <p:nvPr/>
        </p:nvSpPr>
        <p:spPr>
          <a:xfrm>
            <a:off x="1358500" y="2050025"/>
            <a:ext cx="13500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27"/>
          <p:cNvSpPr/>
          <p:nvPr/>
        </p:nvSpPr>
        <p:spPr>
          <a:xfrm>
            <a:off x="1205819" y="2305800"/>
            <a:ext cx="649500" cy="24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7"/>
          <p:cNvSpPr/>
          <p:nvPr/>
        </p:nvSpPr>
        <p:spPr>
          <a:xfrm>
            <a:off x="1205839" y="3467775"/>
            <a:ext cx="20409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7"/>
          <p:cNvSpPr/>
          <p:nvPr/>
        </p:nvSpPr>
        <p:spPr>
          <a:xfrm>
            <a:off x="1393802" y="3801975"/>
            <a:ext cx="25143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27"/>
          <p:cNvSpPr/>
          <p:nvPr/>
        </p:nvSpPr>
        <p:spPr>
          <a:xfrm>
            <a:off x="3931377" y="3467775"/>
            <a:ext cx="2808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7"/>
          <p:cNvSpPr/>
          <p:nvPr/>
        </p:nvSpPr>
        <p:spPr>
          <a:xfrm>
            <a:off x="5007927" y="3467775"/>
            <a:ext cx="280800" cy="334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7"/>
          <p:cNvSpPr txBox="1"/>
          <p:nvPr/>
        </p:nvSpPr>
        <p:spPr>
          <a:xfrm>
            <a:off x="5007925" y="16902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rgbClr val="FF0000"/>
                </a:solidFill>
              </a:rPr>
              <a:t>Identificadores!</a:t>
            </a:r>
            <a:endParaRPr>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81" name="Google Shape;18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Macros (via #define):</a:t>
            </a:r>
            <a:endParaRPr/>
          </a:p>
          <a:p>
            <a:pPr indent="0" lvl="0" marL="0" rtl="0" algn="l">
              <a:spcBef>
                <a:spcPts val="1200"/>
              </a:spcBef>
              <a:spcAft>
                <a:spcPts val="0"/>
              </a:spcAft>
              <a:buNone/>
            </a:pPr>
            <a:r>
              <a:t/>
            </a:r>
            <a:endParaRPr/>
          </a:p>
          <a:p>
            <a:pPr indent="0" lvl="0" marL="0" rtl="0" algn="l">
              <a:spcBef>
                <a:spcPts val="1200"/>
              </a:spcBef>
              <a:spcAft>
                <a:spcPts val="0"/>
              </a:spcAft>
              <a:buNone/>
            </a:pPr>
            <a:br>
              <a:rPr lang="en"/>
            </a:br>
            <a:endParaRPr/>
          </a:p>
          <a:p>
            <a:pPr indent="0" lvl="0" marL="0" rtl="0" algn="l">
              <a:spcBef>
                <a:spcPts val="1200"/>
              </a:spcBef>
              <a:spcAft>
                <a:spcPts val="1200"/>
              </a:spcAft>
              <a:buNone/>
            </a:pPr>
            <a:r>
              <a:rPr lang="en"/>
              <a:t>4- </a:t>
            </a:r>
            <a:r>
              <a:rPr lang="en"/>
              <a:t>Tipos definidos pelo usuário (typedef e struct):</a:t>
            </a:r>
            <a:endParaRPr/>
          </a:p>
        </p:txBody>
      </p:sp>
      <p:sp>
        <p:nvSpPr>
          <p:cNvPr id="182" name="Google Shape;18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3" name="Google Shape;183;p28"/>
          <p:cNvPicPr preferRelativeResize="0"/>
          <p:nvPr/>
        </p:nvPicPr>
        <p:blipFill>
          <a:blip r:embed="rId3">
            <a:alphaModFix/>
          </a:blip>
          <a:stretch>
            <a:fillRect/>
          </a:stretch>
        </p:blipFill>
        <p:spPr>
          <a:xfrm>
            <a:off x="547350" y="1726313"/>
            <a:ext cx="4819650" cy="904875"/>
          </a:xfrm>
          <a:prstGeom prst="rect">
            <a:avLst/>
          </a:prstGeom>
          <a:noFill/>
          <a:ln>
            <a:noFill/>
          </a:ln>
        </p:spPr>
      </p:pic>
      <p:pic>
        <p:nvPicPr>
          <p:cNvPr id="184" name="Google Shape;184;p28"/>
          <p:cNvPicPr preferRelativeResize="0"/>
          <p:nvPr/>
        </p:nvPicPr>
        <p:blipFill>
          <a:blip r:embed="rId4">
            <a:alphaModFix/>
          </a:blip>
          <a:stretch>
            <a:fillRect/>
          </a:stretch>
        </p:blipFill>
        <p:spPr>
          <a:xfrm>
            <a:off x="547350" y="3298698"/>
            <a:ext cx="3663425" cy="1758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Identificadores</a:t>
            </a:r>
            <a:endParaRPr/>
          </a:p>
        </p:txBody>
      </p:sp>
      <p:sp>
        <p:nvSpPr>
          <p:cNvPr id="190" name="Google Shape;190;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3- Macros (via #define):</a:t>
            </a:r>
            <a:endParaRPr/>
          </a:p>
          <a:p>
            <a:pPr indent="0" lvl="0" marL="0" rtl="0" algn="l">
              <a:spcBef>
                <a:spcPts val="1200"/>
              </a:spcBef>
              <a:spcAft>
                <a:spcPts val="0"/>
              </a:spcAft>
              <a:buNone/>
            </a:pPr>
            <a:r>
              <a:t/>
            </a:r>
            <a:endParaRPr/>
          </a:p>
          <a:p>
            <a:pPr indent="0" lvl="0" marL="0" rtl="0" algn="l">
              <a:spcBef>
                <a:spcPts val="1200"/>
              </a:spcBef>
              <a:spcAft>
                <a:spcPts val="0"/>
              </a:spcAft>
              <a:buNone/>
            </a:pPr>
            <a:br>
              <a:rPr lang="en"/>
            </a:br>
            <a:endParaRPr/>
          </a:p>
          <a:p>
            <a:pPr indent="0" lvl="0" marL="0" rtl="0" algn="l">
              <a:spcBef>
                <a:spcPts val="1200"/>
              </a:spcBef>
              <a:spcAft>
                <a:spcPts val="1200"/>
              </a:spcAft>
              <a:buNone/>
            </a:pPr>
            <a:r>
              <a:rPr lang="en"/>
              <a:t>4- Tipos definidos pelo usuário (typedef e struct):</a:t>
            </a:r>
            <a:endParaRPr/>
          </a:p>
        </p:txBody>
      </p:sp>
      <p:sp>
        <p:nvSpPr>
          <p:cNvPr id="191" name="Google Shape;19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2" name="Google Shape;192;p29"/>
          <p:cNvPicPr preferRelativeResize="0"/>
          <p:nvPr/>
        </p:nvPicPr>
        <p:blipFill>
          <a:blip r:embed="rId3">
            <a:alphaModFix/>
          </a:blip>
          <a:stretch>
            <a:fillRect/>
          </a:stretch>
        </p:blipFill>
        <p:spPr>
          <a:xfrm>
            <a:off x="547350" y="1726313"/>
            <a:ext cx="4819650" cy="904875"/>
          </a:xfrm>
          <a:prstGeom prst="rect">
            <a:avLst/>
          </a:prstGeom>
          <a:noFill/>
          <a:ln>
            <a:noFill/>
          </a:ln>
        </p:spPr>
      </p:pic>
      <p:pic>
        <p:nvPicPr>
          <p:cNvPr id="193" name="Google Shape;193;p29"/>
          <p:cNvPicPr preferRelativeResize="0"/>
          <p:nvPr/>
        </p:nvPicPr>
        <p:blipFill>
          <a:blip r:embed="rId4">
            <a:alphaModFix/>
          </a:blip>
          <a:stretch>
            <a:fillRect/>
          </a:stretch>
        </p:blipFill>
        <p:spPr>
          <a:xfrm>
            <a:off x="547350" y="3298698"/>
            <a:ext cx="3663425" cy="1758125"/>
          </a:xfrm>
          <a:prstGeom prst="rect">
            <a:avLst/>
          </a:prstGeom>
          <a:noFill/>
          <a:ln>
            <a:noFill/>
          </a:ln>
        </p:spPr>
      </p:pic>
      <p:sp>
        <p:nvSpPr>
          <p:cNvPr id="194" name="Google Shape;194;p29"/>
          <p:cNvSpPr/>
          <p:nvPr/>
        </p:nvSpPr>
        <p:spPr>
          <a:xfrm>
            <a:off x="1768600" y="1965125"/>
            <a:ext cx="2178600" cy="368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9"/>
          <p:cNvSpPr/>
          <p:nvPr/>
        </p:nvSpPr>
        <p:spPr>
          <a:xfrm>
            <a:off x="1418282" y="3793544"/>
            <a:ext cx="931200" cy="290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9"/>
          <p:cNvSpPr/>
          <p:nvPr/>
        </p:nvSpPr>
        <p:spPr>
          <a:xfrm>
            <a:off x="3178357" y="3503144"/>
            <a:ext cx="931200" cy="290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9"/>
          <p:cNvSpPr/>
          <p:nvPr/>
        </p:nvSpPr>
        <p:spPr>
          <a:xfrm>
            <a:off x="1657544" y="4092500"/>
            <a:ext cx="617100" cy="23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29"/>
          <p:cNvSpPr/>
          <p:nvPr/>
        </p:nvSpPr>
        <p:spPr>
          <a:xfrm>
            <a:off x="1546477" y="4340294"/>
            <a:ext cx="762300" cy="23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9"/>
          <p:cNvSpPr txBox="1"/>
          <p:nvPr/>
        </p:nvSpPr>
        <p:spPr>
          <a:xfrm>
            <a:off x="5007925" y="16902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rgbClr val="FF0000"/>
                </a:solidFill>
              </a:rPr>
              <a:t>Identificadores!</a:t>
            </a:r>
            <a:endParaRPr>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Boas Práticas para Identificadores</a:t>
            </a:r>
            <a:endParaRPr/>
          </a:p>
        </p:txBody>
      </p:sp>
      <p:sp>
        <p:nvSpPr>
          <p:cNvPr id="205" name="Google Shape;20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Existem algumas convenç</a:t>
            </a:r>
            <a:r>
              <a:rPr lang="en"/>
              <a:t>ões que podem ser adotadas:</a:t>
            </a:r>
            <a:br>
              <a:rPr lang="en"/>
            </a:br>
            <a:br>
              <a:rPr lang="en"/>
            </a:br>
            <a:r>
              <a:rPr b="1" lang="en"/>
              <a:t>1- Escolha nomes significativos</a:t>
            </a:r>
            <a:r>
              <a:rPr lang="en"/>
              <a:t> (Se você não estiver em uma competição de programação):</a:t>
            </a:r>
            <a:br>
              <a:rPr lang="en"/>
            </a:br>
            <a:br>
              <a:rPr lang="en"/>
            </a:br>
            <a:br>
              <a:rPr lang="en"/>
            </a:br>
            <a:br>
              <a:rPr lang="en"/>
            </a:br>
            <a:r>
              <a:rPr b="1" lang="en"/>
              <a:t>2- Use convenções de nomenclatura:</a:t>
            </a:r>
            <a:endParaRPr b="1"/>
          </a:p>
          <a:p>
            <a:pPr indent="-334327" lvl="0" marL="457200" rtl="0" algn="l">
              <a:spcBef>
                <a:spcPts val="1200"/>
              </a:spcBef>
              <a:spcAft>
                <a:spcPts val="0"/>
              </a:spcAft>
              <a:buSzPct val="100000"/>
              <a:buChar char="●"/>
            </a:pPr>
            <a:r>
              <a:rPr b="1" lang="en"/>
              <a:t>Camel case:</a:t>
            </a:r>
            <a:r>
              <a:rPr lang="en"/>
              <a:t> calcularSoma(), numeroClientes (comum em funções e variáveis)</a:t>
            </a:r>
            <a:endParaRPr/>
          </a:p>
          <a:p>
            <a:pPr indent="-334327" lvl="0" marL="457200" rtl="0" algn="l">
              <a:spcBef>
                <a:spcPts val="0"/>
              </a:spcBef>
              <a:spcAft>
                <a:spcPts val="0"/>
              </a:spcAft>
              <a:buSzPct val="100000"/>
              <a:buChar char="●"/>
            </a:pPr>
            <a:r>
              <a:rPr b="1" lang="en"/>
              <a:t>Snake case:</a:t>
            </a:r>
            <a:r>
              <a:rPr lang="en"/>
              <a:t> calcular_soma(), numero_clientes (comum em macros e nomes de arquivos)</a:t>
            </a:r>
            <a:endParaRPr/>
          </a:p>
          <a:p>
            <a:pPr indent="-334327" lvl="0" marL="457200" rtl="0" algn="l">
              <a:spcBef>
                <a:spcPts val="0"/>
              </a:spcBef>
              <a:spcAft>
                <a:spcPts val="0"/>
              </a:spcAft>
              <a:buSzPct val="100000"/>
              <a:buChar char="●"/>
            </a:pPr>
            <a:r>
              <a:rPr b="1" lang="en"/>
              <a:t>Uppercase para macros:</a:t>
            </a:r>
            <a:r>
              <a:rPr lang="en"/>
              <a:t> #define TAMANHO_MAXIMO 100</a:t>
            </a:r>
            <a:endParaRPr/>
          </a:p>
        </p:txBody>
      </p:sp>
      <p:sp>
        <p:nvSpPr>
          <p:cNvPr id="206" name="Google Shape;20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07" name="Google Shape;207;p30"/>
          <p:cNvPicPr preferRelativeResize="0"/>
          <p:nvPr/>
        </p:nvPicPr>
        <p:blipFill rotWithShape="1">
          <a:blip r:embed="rId3">
            <a:alphaModFix/>
          </a:blip>
          <a:srcRect b="10354" l="0" r="0" t="0"/>
          <a:stretch/>
        </p:blipFill>
        <p:spPr>
          <a:xfrm>
            <a:off x="712350" y="2285400"/>
            <a:ext cx="4251724" cy="572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Boas Práticas para Identificadores</a:t>
            </a:r>
            <a:endParaRPr/>
          </a:p>
        </p:txBody>
      </p:sp>
      <p:sp>
        <p:nvSpPr>
          <p:cNvPr id="213" name="Google Shape;21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Existem algumas convenções que podem ser adotadas:</a:t>
            </a:r>
            <a:br>
              <a:rPr lang="en"/>
            </a:br>
            <a:br>
              <a:rPr lang="en"/>
            </a:br>
            <a:r>
              <a:rPr b="1" lang="en"/>
              <a:t>3- Evite underscores no início do nome:</a:t>
            </a:r>
            <a:endParaRPr b="1"/>
          </a:p>
          <a:p>
            <a:pPr indent="-342900" lvl="0" marL="457200" rtl="0" algn="l">
              <a:spcBef>
                <a:spcPts val="1200"/>
              </a:spcBef>
              <a:spcAft>
                <a:spcPts val="0"/>
              </a:spcAft>
              <a:buSzPts val="1800"/>
              <a:buChar char="●"/>
            </a:pPr>
            <a:r>
              <a:rPr lang="en"/>
              <a:t>Identificadores começando com _ seguidos de uma letra maiúscula (_Exemplo) ou com dois underscores (__exemplo) são reservados para a implementação do compilador.</a:t>
            </a:r>
            <a:endParaRPr/>
          </a:p>
          <a:p>
            <a:pPr indent="0" lvl="0" marL="0" rtl="0" algn="l">
              <a:spcBef>
                <a:spcPts val="1200"/>
              </a:spcBef>
              <a:spcAft>
                <a:spcPts val="1200"/>
              </a:spcAft>
              <a:buNone/>
            </a:pPr>
            <a:r>
              <a:rPr b="1" lang="en"/>
              <a:t>4- Diferencie nomes de variáveis e funções de forma intuitiva:</a:t>
            </a:r>
            <a:br>
              <a:rPr lang="en"/>
            </a:br>
            <a:endParaRPr/>
          </a:p>
        </p:txBody>
      </p:sp>
      <p:sp>
        <p:nvSpPr>
          <p:cNvPr id="214" name="Google Shape;21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5" name="Google Shape;215;p31"/>
          <p:cNvPicPr preferRelativeResize="0"/>
          <p:nvPr/>
        </p:nvPicPr>
        <p:blipFill>
          <a:blip r:embed="rId3">
            <a:alphaModFix/>
          </a:blip>
          <a:stretch>
            <a:fillRect/>
          </a:stretch>
        </p:blipFill>
        <p:spPr>
          <a:xfrm>
            <a:off x="813700" y="3881275"/>
            <a:ext cx="4409605" cy="687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Tipos de Dados</a:t>
            </a:r>
            <a:endParaRPr/>
          </a:p>
        </p:txBody>
      </p:sp>
      <p:sp>
        <p:nvSpPr>
          <p:cNvPr id="221" name="Google Shape;22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 tipo de uma variável define os valores que ela pode assumir e as operações que podem ser realizadas com ela.</a:t>
            </a:r>
            <a:br>
              <a:rPr lang="en"/>
            </a:br>
            <a:endParaRPr/>
          </a:p>
          <a:p>
            <a:pPr indent="-342900" lvl="0" marL="457200" rtl="0" algn="l">
              <a:spcBef>
                <a:spcPts val="0"/>
              </a:spcBef>
              <a:spcAft>
                <a:spcPts val="0"/>
              </a:spcAft>
              <a:buSzPts val="1800"/>
              <a:buChar char="●"/>
            </a:pPr>
            <a:r>
              <a:rPr lang="en"/>
              <a:t>Descreve a natureza da informação</a:t>
            </a:r>
            <a:endParaRPr/>
          </a:p>
          <a:p>
            <a:pPr indent="0" lvl="0" marL="0" rtl="0" algn="l">
              <a:spcBef>
                <a:spcPts val="1200"/>
              </a:spcBef>
              <a:spcAft>
                <a:spcPts val="0"/>
              </a:spcAft>
              <a:buNone/>
            </a:pPr>
            <a:r>
              <a:rPr lang="en"/>
              <a:t>Ex: </a:t>
            </a:r>
            <a:endParaRPr/>
          </a:p>
          <a:p>
            <a:pPr indent="-342900" lvl="0" marL="457200" rtl="0" algn="l">
              <a:spcBef>
                <a:spcPts val="1200"/>
              </a:spcBef>
              <a:spcAft>
                <a:spcPts val="0"/>
              </a:spcAft>
              <a:buSzPts val="1800"/>
              <a:buChar char="-"/>
            </a:pPr>
            <a:r>
              <a:rPr lang="en"/>
              <a:t>variáveis tipo </a:t>
            </a:r>
            <a:r>
              <a:rPr b="1" lang="en"/>
              <a:t>int</a:t>
            </a:r>
            <a:r>
              <a:rPr lang="en"/>
              <a:t> recebem apenas valores </a:t>
            </a:r>
            <a:r>
              <a:rPr b="1" lang="en"/>
              <a:t>inteiros</a:t>
            </a:r>
            <a:endParaRPr b="1"/>
          </a:p>
          <a:p>
            <a:pPr indent="-342900" lvl="0" marL="457200" rtl="0" algn="l">
              <a:spcBef>
                <a:spcPts val="0"/>
              </a:spcBef>
              <a:spcAft>
                <a:spcPts val="0"/>
              </a:spcAft>
              <a:buSzPts val="1800"/>
              <a:buChar char="-"/>
            </a:pPr>
            <a:r>
              <a:rPr lang="en"/>
              <a:t>variáveis tipo </a:t>
            </a:r>
            <a:r>
              <a:rPr b="1" lang="en"/>
              <a:t>float</a:t>
            </a:r>
            <a:r>
              <a:rPr lang="en"/>
              <a:t> armazenam apenas valores </a:t>
            </a:r>
            <a:r>
              <a:rPr b="1" lang="en"/>
              <a:t>reais</a:t>
            </a:r>
            <a:endParaRPr b="1"/>
          </a:p>
        </p:txBody>
      </p:sp>
      <p:sp>
        <p:nvSpPr>
          <p:cNvPr id="222" name="Google Shape;22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Tipos Primitivos</a:t>
            </a:r>
            <a:endParaRPr/>
          </a:p>
        </p:txBody>
      </p:sp>
      <p:sp>
        <p:nvSpPr>
          <p:cNvPr id="228" name="Google Shape;228;p33"/>
          <p:cNvSpPr txBox="1"/>
          <p:nvPr>
            <p:ph idx="1" type="body"/>
          </p:nvPr>
        </p:nvSpPr>
        <p:spPr>
          <a:xfrm>
            <a:off x="457200" y="1200150"/>
            <a:ext cx="8229600" cy="3627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Os tipos primitivos são aqueles diretamente suportados pela linguagem:</a:t>
            </a:r>
            <a:endParaRPr/>
          </a:p>
          <a:p>
            <a:pPr indent="-342900" lvl="0" marL="457200" rtl="0" algn="l">
              <a:spcBef>
                <a:spcPts val="360"/>
              </a:spcBef>
              <a:spcAft>
                <a:spcPts val="0"/>
              </a:spcAft>
              <a:buSzPts val="1800"/>
              <a:buChar char="●"/>
            </a:pPr>
            <a:r>
              <a:rPr b="1" lang="en"/>
              <a:t>Inteiros (</a:t>
            </a:r>
            <a:r>
              <a:rPr lang="en"/>
              <a:t>int</a:t>
            </a:r>
            <a:r>
              <a:rPr b="1" lang="en"/>
              <a:t>):</a:t>
            </a:r>
            <a:r>
              <a:rPr lang="en"/>
              <a:t> Armazenam números inteiros. O tamanho pode variar dependendo do compilador e da arquitetura, mas geralmente ocupa </a:t>
            </a:r>
            <a:r>
              <a:rPr b="1" lang="en"/>
              <a:t>4 bytes</a:t>
            </a:r>
            <a:r>
              <a:rPr lang="en"/>
              <a:t>.</a:t>
            </a:r>
            <a:endParaRPr/>
          </a:p>
          <a:p>
            <a:pPr indent="-342900" lvl="0" marL="457200" rtl="0" algn="l">
              <a:spcBef>
                <a:spcPts val="0"/>
              </a:spcBef>
              <a:spcAft>
                <a:spcPts val="0"/>
              </a:spcAft>
              <a:buSzPts val="1800"/>
              <a:buChar char="●"/>
            </a:pPr>
            <a:r>
              <a:rPr b="1" lang="en"/>
              <a:t>Caractere (</a:t>
            </a:r>
            <a:r>
              <a:rPr lang="en"/>
              <a:t>char</a:t>
            </a:r>
            <a:r>
              <a:rPr b="1" lang="en"/>
              <a:t>): </a:t>
            </a:r>
            <a:r>
              <a:rPr lang="en"/>
              <a:t>Representa um único caractere e geralmente ocupa </a:t>
            </a:r>
            <a:r>
              <a:rPr b="1" lang="en"/>
              <a:t>1 byte</a:t>
            </a:r>
            <a:r>
              <a:rPr lang="en"/>
              <a:t>.</a:t>
            </a:r>
            <a:endParaRPr/>
          </a:p>
          <a:p>
            <a:pPr indent="-342900" lvl="0" marL="457200" rtl="0" algn="l">
              <a:spcBef>
                <a:spcPts val="0"/>
              </a:spcBef>
              <a:spcAft>
                <a:spcPts val="0"/>
              </a:spcAft>
              <a:buSzPts val="1800"/>
              <a:buChar char="●"/>
            </a:pPr>
            <a:r>
              <a:rPr b="1" lang="en"/>
              <a:t>Ponto flutuante </a:t>
            </a:r>
            <a:r>
              <a:rPr b="1" lang="en"/>
              <a:t>(</a:t>
            </a:r>
            <a:r>
              <a:rPr lang="en"/>
              <a:t>float e double</a:t>
            </a:r>
            <a:r>
              <a:rPr b="1" lang="en"/>
              <a:t>)</a:t>
            </a:r>
            <a:r>
              <a:rPr b="1" lang="en"/>
              <a:t>:</a:t>
            </a:r>
            <a:r>
              <a:rPr lang="en"/>
              <a:t> Armazenam números reais. O float normalmente ocupa </a:t>
            </a:r>
            <a:r>
              <a:rPr b="1" lang="en"/>
              <a:t>4 bytes</a:t>
            </a:r>
            <a:r>
              <a:rPr lang="en"/>
              <a:t> e tem menor precisão, enquanto double ocupa </a:t>
            </a:r>
            <a:r>
              <a:rPr b="1" lang="en"/>
              <a:t>8 bytes</a:t>
            </a:r>
            <a:r>
              <a:rPr lang="en"/>
              <a:t> e possui maior precisão.</a:t>
            </a:r>
            <a:endParaRPr/>
          </a:p>
          <a:p>
            <a:pPr indent="-342900" lvl="0" marL="457200" rtl="0" algn="l">
              <a:spcBef>
                <a:spcPts val="0"/>
              </a:spcBef>
              <a:spcAft>
                <a:spcPts val="0"/>
              </a:spcAft>
              <a:buSzPts val="1800"/>
              <a:buChar char="●"/>
            </a:pPr>
            <a:r>
              <a:rPr b="1" lang="en"/>
              <a:t>Void</a:t>
            </a:r>
            <a:r>
              <a:rPr lang="en"/>
              <a:t> </a:t>
            </a:r>
            <a:r>
              <a:rPr b="1" lang="en"/>
              <a:t>(</a:t>
            </a:r>
            <a:r>
              <a:rPr lang="en"/>
              <a:t>void</a:t>
            </a:r>
            <a:r>
              <a:rPr b="1" lang="en"/>
              <a:t>)</a:t>
            </a:r>
            <a:r>
              <a:rPr lang="en"/>
              <a:t>: Representa ausência de tipo e é frequentemente usado em funções que não retornam valor.</a:t>
            </a:r>
            <a:endParaRPr/>
          </a:p>
        </p:txBody>
      </p:sp>
      <p:sp>
        <p:nvSpPr>
          <p:cNvPr id="229" name="Google Shape;229;p3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Modificadores de Tipos</a:t>
            </a:r>
            <a:endParaRPr/>
          </a:p>
        </p:txBody>
      </p:sp>
      <p:sp>
        <p:nvSpPr>
          <p:cNvPr id="235" name="Google Shape;235;p34"/>
          <p:cNvSpPr txBox="1"/>
          <p:nvPr>
            <p:ph idx="1" type="body"/>
          </p:nvPr>
        </p:nvSpPr>
        <p:spPr>
          <a:xfrm>
            <a:off x="457200" y="1200150"/>
            <a:ext cx="8229600" cy="36273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Os modificadores alteram algumas características dos tipos básicos para adequá-los a necessidades específicas.</a:t>
            </a:r>
            <a:endParaRPr/>
          </a:p>
          <a:p>
            <a:pPr indent="0" lvl="0" marL="0" rtl="0" algn="l">
              <a:spcBef>
                <a:spcPts val="360"/>
              </a:spcBef>
              <a:spcAft>
                <a:spcPts val="0"/>
              </a:spcAft>
              <a:buNone/>
            </a:pPr>
            <a:r>
              <a:t/>
            </a:r>
            <a:endParaRPr/>
          </a:p>
          <a:p>
            <a:pPr indent="0" lvl="0" marL="0" rtl="0" algn="l">
              <a:spcBef>
                <a:spcPts val="360"/>
              </a:spcBef>
              <a:spcAft>
                <a:spcPts val="0"/>
              </a:spcAft>
              <a:buNone/>
            </a:pPr>
            <a:r>
              <a:rPr b="1" lang="en"/>
              <a:t>Modificadores:</a:t>
            </a:r>
            <a:endParaRPr b="1"/>
          </a:p>
          <a:p>
            <a:pPr indent="-342900" lvl="0" marL="457200" rtl="0" algn="l">
              <a:spcBef>
                <a:spcPts val="360"/>
              </a:spcBef>
              <a:spcAft>
                <a:spcPts val="0"/>
              </a:spcAft>
              <a:buSzPts val="1800"/>
              <a:buChar char="●"/>
            </a:pPr>
            <a:r>
              <a:rPr b="1" lang="en"/>
              <a:t>signed:</a:t>
            </a:r>
            <a:r>
              <a:rPr lang="en"/>
              <a:t> indica número com sinal (inteiros e caracteres)</a:t>
            </a:r>
            <a:endParaRPr/>
          </a:p>
          <a:p>
            <a:pPr indent="-342900" lvl="0" marL="457200" rtl="0" algn="l">
              <a:spcBef>
                <a:spcPts val="0"/>
              </a:spcBef>
              <a:spcAft>
                <a:spcPts val="0"/>
              </a:spcAft>
              <a:buSzPts val="1800"/>
              <a:buChar char="●"/>
            </a:pPr>
            <a:r>
              <a:rPr b="1" lang="en"/>
              <a:t>unsigned:</a:t>
            </a:r>
            <a:r>
              <a:rPr lang="en"/>
              <a:t> número apenas positivo (inteiros e caracteres)</a:t>
            </a:r>
            <a:endParaRPr/>
          </a:p>
          <a:p>
            <a:pPr indent="-342900" lvl="0" marL="457200" rtl="0" algn="l">
              <a:spcBef>
                <a:spcPts val="0"/>
              </a:spcBef>
              <a:spcAft>
                <a:spcPts val="0"/>
              </a:spcAft>
              <a:buSzPts val="1800"/>
              <a:buChar char="●"/>
            </a:pPr>
            <a:r>
              <a:rPr b="1" lang="en"/>
              <a:t>long e long long</a:t>
            </a:r>
            <a:r>
              <a:rPr b="1" lang="en"/>
              <a:t>:</a:t>
            </a:r>
            <a:r>
              <a:rPr lang="en"/>
              <a:t> aumenta abrangência (inteiros e reais)</a:t>
            </a:r>
            <a:endParaRPr/>
          </a:p>
          <a:p>
            <a:pPr indent="-342900" lvl="0" marL="457200" rtl="0" algn="l">
              <a:spcBef>
                <a:spcPts val="0"/>
              </a:spcBef>
              <a:spcAft>
                <a:spcPts val="0"/>
              </a:spcAft>
              <a:buSzPts val="1800"/>
              <a:buChar char="●"/>
            </a:pPr>
            <a:r>
              <a:rPr b="1" lang="en"/>
              <a:t>short:</a:t>
            </a:r>
            <a:r>
              <a:rPr lang="en"/>
              <a:t> reduz a abrangência (inteiros)</a:t>
            </a:r>
            <a:endParaRPr/>
          </a:p>
        </p:txBody>
      </p:sp>
      <p:sp>
        <p:nvSpPr>
          <p:cNvPr id="236" name="Google Shape;236;p34"/>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Abrangência dos dados</a:t>
            </a:r>
            <a:br>
              <a:rPr lang="en"/>
            </a:br>
            <a:r>
              <a:rPr lang="en"/>
              <a:t>(Depende da arquitetura 16, 32, 64 bits)</a:t>
            </a:r>
            <a:endParaRPr/>
          </a:p>
        </p:txBody>
      </p:sp>
      <p:sp>
        <p:nvSpPr>
          <p:cNvPr id="242" name="Google Shape;242;p3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graphicFrame>
        <p:nvGraphicFramePr>
          <p:cNvPr id="243" name="Google Shape;243;p35"/>
          <p:cNvGraphicFramePr/>
          <p:nvPr/>
        </p:nvGraphicFramePr>
        <p:xfrm>
          <a:off x="354675" y="1958175"/>
          <a:ext cx="3000000" cy="3000000"/>
        </p:xfrm>
        <a:graphic>
          <a:graphicData uri="http://schemas.openxmlformats.org/drawingml/2006/table">
            <a:tbl>
              <a:tblPr>
                <a:noFill/>
                <a:tableStyleId>{655B042E-E275-4BF9-9446-DC17E587D129}</a:tableStyleId>
              </a:tblPr>
              <a:tblGrid>
                <a:gridCol w="1084075"/>
                <a:gridCol w="1225000"/>
                <a:gridCol w="3815925"/>
                <a:gridCol w="2168125"/>
              </a:tblGrid>
              <a:tr h="235400">
                <a:tc>
                  <a:txBody>
                    <a:bodyPr/>
                    <a:lstStyle/>
                    <a:p>
                      <a:pPr indent="0" lvl="0" marL="0" rtl="0" algn="ctr">
                        <a:lnSpc>
                          <a:spcPct val="115000"/>
                        </a:lnSpc>
                        <a:spcBef>
                          <a:spcPts val="0"/>
                        </a:spcBef>
                        <a:spcAft>
                          <a:spcPts val="0"/>
                        </a:spcAft>
                        <a:buNone/>
                      </a:pPr>
                      <a:r>
                        <a:rPr b="1" lang="en" sz="1100"/>
                        <a:t>Tipo</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Tamanho (bytes)</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Intervalo (Signed)</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100"/>
                        <a:t>Intervalo (Unsigned)</a:t>
                      </a:r>
                      <a:endParaRPr b="1"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r>
              <a:tr h="235400">
                <a:tc>
                  <a:txBody>
                    <a:bodyPr/>
                    <a:lstStyle/>
                    <a:p>
                      <a:pPr indent="0" lvl="0" marL="0" rtl="0" algn="r">
                        <a:lnSpc>
                          <a:spcPct val="115000"/>
                        </a:lnSpc>
                        <a:spcBef>
                          <a:spcPts val="0"/>
                        </a:spcBef>
                        <a:spcAft>
                          <a:spcPts val="0"/>
                        </a:spcAft>
                        <a:buNone/>
                      </a:pPr>
                      <a:r>
                        <a:rPr lang="en" sz="1100"/>
                        <a:t>char</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1</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-128 a 127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255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short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2</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-32.768 a 32.767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0 a 65.535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235400">
                <a:tc>
                  <a:txBody>
                    <a:bodyPr/>
                    <a:lstStyle/>
                    <a:p>
                      <a:pPr indent="0" lvl="0" marL="0" rtl="0" algn="r">
                        <a:lnSpc>
                          <a:spcPct val="115000"/>
                        </a:lnSpc>
                        <a:spcBef>
                          <a:spcPts val="0"/>
                        </a:spcBef>
                        <a:spcAft>
                          <a:spcPts val="0"/>
                        </a:spcAft>
                        <a:buNone/>
                      </a:pPr>
                      <a:r>
                        <a:rPr lang="en" sz="1100"/>
                        <a:t>int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4</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-2.147.483.648 a 2.147.483.647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4.294.967.295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long</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4 ou 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Depende da plataforma </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Depende da plataforma</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74525">
                <a:tc>
                  <a:txBody>
                    <a:bodyPr/>
                    <a:lstStyle/>
                    <a:p>
                      <a:pPr indent="0" lvl="0" marL="0" rtl="0" algn="r">
                        <a:lnSpc>
                          <a:spcPct val="115000"/>
                        </a:lnSpc>
                        <a:spcBef>
                          <a:spcPts val="0"/>
                        </a:spcBef>
                        <a:spcAft>
                          <a:spcPts val="0"/>
                        </a:spcAft>
                        <a:buNone/>
                      </a:pPr>
                      <a:r>
                        <a:rPr lang="en" sz="1100"/>
                        <a:t>long long</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-9.223.372.036.854.775.808 a 9.223.372.036.854.775.807</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0 a 18.446.744.073.709.551.615</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35400">
                <a:tc>
                  <a:txBody>
                    <a:bodyPr/>
                    <a:lstStyle/>
                    <a:p>
                      <a:pPr indent="0" lvl="0" marL="0" rtl="0" algn="r">
                        <a:lnSpc>
                          <a:spcPct val="115000"/>
                        </a:lnSpc>
                        <a:spcBef>
                          <a:spcPts val="0"/>
                        </a:spcBef>
                        <a:spcAft>
                          <a:spcPts val="0"/>
                        </a:spcAft>
                        <a:buNone/>
                      </a:pPr>
                      <a:r>
                        <a:rPr lang="en" sz="1100"/>
                        <a:t>float</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4</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 ±3.4 × 10⁻³⁸ a ±3.4 × 10³⁸</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100"/>
                        <a:t>N/D</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235400">
                <a:tc>
                  <a:txBody>
                    <a:bodyPr/>
                    <a:lstStyle/>
                    <a:p>
                      <a:pPr indent="0" lvl="0" marL="0" rtl="0" algn="r">
                        <a:lnSpc>
                          <a:spcPct val="115000"/>
                        </a:lnSpc>
                        <a:spcBef>
                          <a:spcPts val="0"/>
                        </a:spcBef>
                        <a:spcAft>
                          <a:spcPts val="0"/>
                        </a:spcAft>
                        <a:buNone/>
                      </a:pPr>
                      <a:r>
                        <a:rPr lang="en" sz="1100"/>
                        <a:t>double</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8</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 ±1.7 × 10⁻³⁰⁸ a ±1.7 × 10³⁰⁸</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100"/>
                        <a:t>N/D</a:t>
                      </a:r>
                      <a:endParaRPr sz="11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Qual seria a </a:t>
            </a:r>
            <a:r>
              <a:rPr lang="en"/>
              <a:t>abrangência</a:t>
            </a:r>
            <a:r>
              <a:rPr lang="en"/>
              <a:t> de um int de 3 bits?</a:t>
            </a:r>
            <a:endParaRPr/>
          </a:p>
        </p:txBody>
      </p:sp>
      <p:sp>
        <p:nvSpPr>
          <p:cNvPr id="249" name="Google Shape;249;p36"/>
          <p:cNvSpPr txBox="1"/>
          <p:nvPr>
            <p:ph idx="1" type="body"/>
          </p:nvPr>
        </p:nvSpPr>
        <p:spPr>
          <a:xfrm>
            <a:off x="457200" y="1200150"/>
            <a:ext cx="8229600" cy="5085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2</a:t>
            </a:r>
            <a:r>
              <a:rPr lang="en"/>
              <a:t>³ = 8 , logo, abrange de 0 a 7 (8 números contando com o zero)  </a:t>
            </a:r>
            <a:endParaRPr/>
          </a:p>
        </p:txBody>
      </p:sp>
      <p:sp>
        <p:nvSpPr>
          <p:cNvPr id="250" name="Google Shape;250;p36"/>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graphicFrame>
        <p:nvGraphicFramePr>
          <p:cNvPr id="251" name="Google Shape;251;p36"/>
          <p:cNvGraphicFramePr/>
          <p:nvPr/>
        </p:nvGraphicFramePr>
        <p:xfrm>
          <a:off x="2893725" y="1708650"/>
          <a:ext cx="3000000" cy="3000000"/>
        </p:xfrm>
        <a:graphic>
          <a:graphicData uri="http://schemas.openxmlformats.org/drawingml/2006/table">
            <a:tbl>
              <a:tblPr>
                <a:noFill/>
                <a:tableStyleId>{655B042E-E275-4BF9-9446-DC17E587D129}</a:tableStyleId>
              </a:tblPr>
              <a:tblGrid>
                <a:gridCol w="1575850"/>
                <a:gridCol w="1780700"/>
              </a:tblGrid>
              <a:tr h="346675">
                <a:tc>
                  <a:txBody>
                    <a:bodyPr/>
                    <a:lstStyle/>
                    <a:p>
                      <a:pPr indent="0" lvl="0" marL="0" rtl="0" algn="ctr">
                        <a:lnSpc>
                          <a:spcPct val="115000"/>
                        </a:lnSpc>
                        <a:spcBef>
                          <a:spcPts val="0"/>
                        </a:spcBef>
                        <a:spcAft>
                          <a:spcPts val="0"/>
                        </a:spcAft>
                        <a:buNone/>
                      </a:pPr>
                      <a:r>
                        <a:rPr b="1" lang="en" sz="1800"/>
                        <a:t>Decimal</a:t>
                      </a:r>
                      <a:endParaRPr b="1"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c>
                  <a:txBody>
                    <a:bodyPr/>
                    <a:lstStyle/>
                    <a:p>
                      <a:pPr indent="0" lvl="0" marL="0" rtl="0" algn="ctr">
                        <a:lnSpc>
                          <a:spcPct val="115000"/>
                        </a:lnSpc>
                        <a:spcBef>
                          <a:spcPts val="0"/>
                        </a:spcBef>
                        <a:spcAft>
                          <a:spcPts val="0"/>
                        </a:spcAft>
                        <a:buNone/>
                      </a:pPr>
                      <a:r>
                        <a:rPr b="1" lang="en" sz="1800"/>
                        <a:t>Binário</a:t>
                      </a:r>
                      <a:endParaRPr b="1"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4DD0E1"/>
                    </a:solidFill>
                  </a:tcPr>
                </a:tc>
              </a:tr>
              <a:tr h="346675">
                <a:tc>
                  <a:txBody>
                    <a:bodyPr/>
                    <a:lstStyle/>
                    <a:p>
                      <a:pPr indent="0" lvl="0" marL="0" rtl="0" algn="ctr">
                        <a:lnSpc>
                          <a:spcPct val="115000"/>
                        </a:lnSpc>
                        <a:spcBef>
                          <a:spcPts val="0"/>
                        </a:spcBef>
                        <a:spcAft>
                          <a:spcPts val="0"/>
                        </a:spcAft>
                        <a:buNone/>
                      </a:pPr>
                      <a:r>
                        <a:rPr lang="en" sz="1800"/>
                        <a:t>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00</a:t>
                      </a:r>
                      <a:r>
                        <a:rPr lang="en" sz="1800"/>
                        <a:t>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00</a:t>
                      </a:r>
                      <a:r>
                        <a:rPr lang="en" sz="1800"/>
                        <a:t>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2</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0</a:t>
                      </a:r>
                      <a:r>
                        <a:rPr lang="en" sz="1800"/>
                        <a:t>10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3</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0</a:t>
                      </a:r>
                      <a:r>
                        <a:rPr lang="en" sz="1800"/>
                        <a:t>11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4</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100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5</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101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r h="346675">
                <a:tc>
                  <a:txBody>
                    <a:bodyPr/>
                    <a:lstStyle/>
                    <a:p>
                      <a:pPr indent="0" lvl="0" marL="0" rtl="0" algn="ctr">
                        <a:lnSpc>
                          <a:spcPct val="115000"/>
                        </a:lnSpc>
                        <a:spcBef>
                          <a:spcPts val="0"/>
                        </a:spcBef>
                        <a:spcAft>
                          <a:spcPts val="0"/>
                        </a:spcAft>
                        <a:buNone/>
                      </a:pPr>
                      <a:r>
                        <a:rPr lang="en" sz="1800"/>
                        <a:t>6</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 sz="1800"/>
                        <a:t>110</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6675">
                <a:tc>
                  <a:txBody>
                    <a:bodyPr/>
                    <a:lstStyle/>
                    <a:p>
                      <a:pPr indent="0" lvl="0" marL="0" rtl="0" algn="ctr">
                        <a:lnSpc>
                          <a:spcPct val="115000"/>
                        </a:lnSpc>
                        <a:spcBef>
                          <a:spcPts val="0"/>
                        </a:spcBef>
                        <a:spcAft>
                          <a:spcPts val="0"/>
                        </a:spcAft>
                        <a:buNone/>
                      </a:pPr>
                      <a:r>
                        <a:rPr lang="en" sz="1800"/>
                        <a:t>7</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c>
                  <a:txBody>
                    <a:bodyPr/>
                    <a:lstStyle/>
                    <a:p>
                      <a:pPr indent="0" lvl="0" marL="0" rtl="0" algn="ctr">
                        <a:lnSpc>
                          <a:spcPct val="115000"/>
                        </a:lnSpc>
                        <a:spcBef>
                          <a:spcPts val="0"/>
                        </a:spcBef>
                        <a:spcAft>
                          <a:spcPts val="0"/>
                        </a:spcAft>
                        <a:buNone/>
                      </a:pPr>
                      <a:r>
                        <a:rPr lang="en" sz="1800"/>
                        <a:t>111</a:t>
                      </a:r>
                      <a:endParaRPr sz="18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0F7FA"/>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
            </a:r>
            <a:r>
              <a:rPr lang="en"/>
              <a:t>ódigo prático para saber o tamanho das variáveis</a:t>
            </a:r>
            <a:endParaRPr/>
          </a:p>
        </p:txBody>
      </p:sp>
      <p:sp>
        <p:nvSpPr>
          <p:cNvPr id="257" name="Google Shape;25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258" name="Google Shape;258;p37"/>
          <p:cNvPicPr preferRelativeResize="0"/>
          <p:nvPr/>
        </p:nvPicPr>
        <p:blipFill rotWithShape="1">
          <a:blip r:embed="rId3">
            <a:alphaModFix/>
          </a:blip>
          <a:srcRect b="0" l="0" r="0" t="1176"/>
          <a:stretch/>
        </p:blipFill>
        <p:spPr>
          <a:xfrm>
            <a:off x="488175" y="1240275"/>
            <a:ext cx="8167650" cy="36112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Código prático para saber o tamanho das variáveis</a:t>
            </a:r>
            <a:endParaRPr/>
          </a:p>
        </p:txBody>
      </p:sp>
      <p:sp>
        <p:nvSpPr>
          <p:cNvPr id="264" name="Google Shape;26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pic>
        <p:nvPicPr>
          <p:cNvPr id="265" name="Google Shape;265;p38"/>
          <p:cNvPicPr preferRelativeResize="0"/>
          <p:nvPr/>
        </p:nvPicPr>
        <p:blipFill>
          <a:blip r:embed="rId3">
            <a:alphaModFix/>
          </a:blip>
          <a:stretch>
            <a:fillRect/>
          </a:stretch>
        </p:blipFill>
        <p:spPr>
          <a:xfrm>
            <a:off x="1352600" y="1605875"/>
            <a:ext cx="6438801" cy="3170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9"/>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Declaração de variáveis</a:t>
            </a:r>
            <a:endParaRPr/>
          </a:p>
        </p:txBody>
      </p:sp>
      <p:sp>
        <p:nvSpPr>
          <p:cNvPr id="271" name="Google Shape;271;p39"/>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sz="1200">
                <a:solidFill>
                  <a:srgbClr val="898989"/>
                </a:solidFill>
                <a:latin typeface="Calibri"/>
                <a:ea typeface="Calibri"/>
                <a:cs typeface="Calibri"/>
                <a:sym typeface="Calibri"/>
              </a:rPr>
              <a:t>‹#›</a:t>
            </a:fld>
            <a:endParaRPr/>
          </a:p>
        </p:txBody>
      </p:sp>
      <p:sp>
        <p:nvSpPr>
          <p:cNvPr id="272" name="Google Shape;272;p39"/>
          <p:cNvSpPr txBox="1"/>
          <p:nvPr>
            <p:ph idx="1" type="body"/>
          </p:nvPr>
        </p:nvSpPr>
        <p:spPr>
          <a:xfrm>
            <a:off x="457200" y="1200150"/>
            <a:ext cx="8229600" cy="33945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A declaração de uma variável segue o modelo:</a:t>
            </a:r>
            <a:endParaRPr/>
          </a:p>
          <a:p>
            <a:pPr indent="457200" lvl="0" marL="457200" rtl="0" algn="l">
              <a:spcBef>
                <a:spcPts val="360"/>
              </a:spcBef>
              <a:spcAft>
                <a:spcPts val="0"/>
              </a:spcAft>
              <a:buNone/>
            </a:pPr>
            <a:r>
              <a:rPr lang="en"/>
              <a:t>TIPO_VARIÁVEL     lista_de_variaveis; </a:t>
            </a:r>
            <a:endParaRPr/>
          </a:p>
          <a:p>
            <a:pPr indent="0" lvl="0" marL="0" rtl="0" algn="l">
              <a:spcBef>
                <a:spcPts val="360"/>
              </a:spcBef>
              <a:spcAft>
                <a:spcPts val="0"/>
              </a:spcAft>
              <a:buNone/>
            </a:pPr>
            <a:r>
              <a:rPr lang="en"/>
              <a:t>Ex:</a:t>
            </a:r>
            <a:endParaRPr/>
          </a:p>
        </p:txBody>
      </p:sp>
      <p:pic>
        <p:nvPicPr>
          <p:cNvPr id="273" name="Google Shape;273;p39"/>
          <p:cNvPicPr preferRelativeResize="0"/>
          <p:nvPr/>
        </p:nvPicPr>
        <p:blipFill>
          <a:blip r:embed="rId3">
            <a:alphaModFix/>
          </a:blip>
          <a:stretch>
            <a:fillRect/>
          </a:stretch>
        </p:blipFill>
        <p:spPr>
          <a:xfrm>
            <a:off x="940248" y="2536248"/>
            <a:ext cx="7263499" cy="1739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OPERADORES</a:t>
            </a:r>
            <a:endParaRPr/>
          </a:p>
        </p:txBody>
      </p:sp>
      <p:sp>
        <p:nvSpPr>
          <p:cNvPr id="279" name="Google Shape;27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sz="1000">
                <a:solidFill>
                  <a:schemeClr val="dk2"/>
                </a:solidFill>
                <a:latin typeface="Arial"/>
                <a:ea typeface="Arial"/>
                <a:cs typeface="Arial"/>
                <a:sym typeface="Arial"/>
              </a:rPr>
              <a:t>‹#›</a:t>
            </a:fld>
            <a:endParaRPr sz="1000">
              <a:solidFill>
                <a:schemeClr val="dk2"/>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a:t>
            </a:r>
            <a:endParaRPr/>
          </a:p>
        </p:txBody>
      </p:sp>
      <p:sp>
        <p:nvSpPr>
          <p:cNvPr id="285" name="Google Shape;28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Correspondem a </a:t>
            </a:r>
            <a:r>
              <a:rPr b="1" lang="en"/>
              <a:t>símbolos simples ou combinados</a:t>
            </a:r>
            <a:r>
              <a:rPr lang="en"/>
              <a:t> que representam </a:t>
            </a:r>
            <a:r>
              <a:rPr b="1" lang="en"/>
              <a:t>operações</a:t>
            </a:r>
            <a:r>
              <a:rPr lang="en"/>
              <a:t> de natureza: </a:t>
            </a:r>
            <a:r>
              <a:rPr b="1" lang="en"/>
              <a:t>aritmética</a:t>
            </a:r>
            <a:r>
              <a:rPr lang="en"/>
              <a:t>, </a:t>
            </a:r>
            <a:r>
              <a:rPr b="1" lang="en"/>
              <a:t>relacional</a:t>
            </a:r>
            <a:r>
              <a:rPr lang="en"/>
              <a:t> ou </a:t>
            </a:r>
            <a:r>
              <a:rPr b="1" lang="en"/>
              <a:t>lógica</a:t>
            </a:r>
            <a:r>
              <a:rPr lang="en"/>
              <a:t>.</a:t>
            </a:r>
            <a:br>
              <a:rPr lang="en"/>
            </a:br>
            <a:endParaRPr/>
          </a:p>
          <a:p>
            <a:pPr indent="-342900" lvl="0" marL="457200" rtl="0" algn="l">
              <a:spcBef>
                <a:spcPts val="0"/>
              </a:spcBef>
              <a:spcAft>
                <a:spcPts val="0"/>
              </a:spcAft>
              <a:buSzPts val="1800"/>
              <a:buChar char="●"/>
            </a:pPr>
            <a:r>
              <a:rPr lang="en"/>
              <a:t>Podem ser classificados também quanto a quantidade de elementos (operandos) sob os quais incidem,  i.e., unários, binários ou ternários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Aritm</a:t>
            </a:r>
            <a:r>
              <a:rPr lang="en"/>
              <a:t>éticos</a:t>
            </a:r>
            <a:endParaRPr/>
          </a:p>
        </p:txBody>
      </p:sp>
      <p:sp>
        <p:nvSpPr>
          <p:cNvPr id="292" name="Google Shape;292;p42"/>
          <p:cNvSpPr txBox="1"/>
          <p:nvPr>
            <p:ph idx="1" type="body"/>
          </p:nvPr>
        </p:nvSpPr>
        <p:spPr>
          <a:xfrm>
            <a:off x="311700" y="1152475"/>
            <a:ext cx="8520600" cy="488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as operações aritméticas básicas</a:t>
            </a:r>
            <a:endParaRPr/>
          </a:p>
        </p:txBody>
      </p:sp>
      <p:sp>
        <p:nvSpPr>
          <p:cNvPr id="293" name="Google Shape;29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94" name="Google Shape;294;p42"/>
          <p:cNvGraphicFramePr/>
          <p:nvPr/>
        </p:nvGraphicFramePr>
        <p:xfrm>
          <a:off x="1214438" y="1762125"/>
          <a:ext cx="3000000" cy="3000000"/>
        </p:xfrm>
        <a:graphic>
          <a:graphicData uri="http://schemas.openxmlformats.org/drawingml/2006/table">
            <a:tbl>
              <a:tblPr>
                <a:noFill/>
                <a:tableStyleId>{655B042E-E275-4BF9-9446-DC17E587D129}</a:tableStyleId>
              </a:tblPr>
              <a:tblGrid>
                <a:gridCol w="3357550"/>
                <a:gridCol w="3357575"/>
              </a:tblGrid>
              <a:tr h="382200">
                <a:tc>
                  <a:txBody>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Operação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Operador</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Adição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Subtração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Multiplicação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Divisão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Resto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Incremento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382200">
                <a:tc>
                  <a:txBody>
                    <a:bodyPr/>
                    <a:lstStyle/>
                    <a:p>
                      <a:pPr indent="0" lvl="0" marL="0" marR="0" rtl="0" algn="ctr">
                        <a:lnSpc>
                          <a:spcPct val="100000"/>
                        </a:lnSpc>
                        <a:spcBef>
                          <a:spcPts val="0"/>
                        </a:spcBef>
                        <a:spcAft>
                          <a:spcPts val="0"/>
                        </a:spcAft>
                        <a:buClr>
                          <a:srgbClr val="000000"/>
                        </a:buClr>
                        <a:buSzPts val="1800"/>
                        <a:buFont typeface="Calibri"/>
                        <a:buNone/>
                      </a:pPr>
                      <a:r>
                        <a:rPr b="0" i="0" lang="en" sz="1800" u="none" cap="none" strike="noStrike">
                          <a:solidFill>
                            <a:srgbClr val="000000"/>
                          </a:solidFill>
                          <a:latin typeface="Calibri"/>
                          <a:ea typeface="Calibri"/>
                          <a:cs typeface="Calibri"/>
                          <a:sym typeface="Calibri"/>
                        </a:rPr>
                        <a:t>Decremento</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ctr">
                        <a:lnSpc>
                          <a:spcPct val="100000"/>
                        </a:lnSpc>
                        <a:spcBef>
                          <a:spcPts val="0"/>
                        </a:spcBef>
                        <a:spcAft>
                          <a:spcPts val="0"/>
                        </a:spcAft>
                        <a:buClr>
                          <a:srgbClr val="000000"/>
                        </a:buClr>
                        <a:buSzPts val="2100"/>
                        <a:buFont typeface="Calibri"/>
                        <a:buNone/>
                      </a:pPr>
                      <a:r>
                        <a:rPr b="0" i="0" lang="en" sz="2100" u="none" cap="none" strike="noStrike">
                          <a:solidFill>
                            <a:srgbClr val="000000"/>
                          </a:solidFill>
                          <a:latin typeface="Calibri"/>
                          <a:ea typeface="Calibri"/>
                          <a:cs typeface="Calibri"/>
                          <a:sym typeface="Calibri"/>
                        </a:rPr>
                        <a:t>--</a:t>
                      </a:r>
                      <a:endParaRPr sz="1100"/>
                    </a:p>
                  </a:txBody>
                  <a:tcPr marT="34300" marB="343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Relacionais</a:t>
            </a:r>
            <a:endParaRPr/>
          </a:p>
        </p:txBody>
      </p:sp>
      <p:sp>
        <p:nvSpPr>
          <p:cNvPr id="300" name="Google Shape;300;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Estabelecem relações/comparações</a:t>
            </a:r>
            <a:endParaRPr/>
          </a:p>
        </p:txBody>
      </p:sp>
      <p:sp>
        <p:nvSpPr>
          <p:cNvPr id="301" name="Google Shape;301;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02" name="Google Shape;302;p43"/>
          <p:cNvGraphicFramePr/>
          <p:nvPr/>
        </p:nvGraphicFramePr>
        <p:xfrm>
          <a:off x="1214438" y="1768078"/>
          <a:ext cx="3000000" cy="3000000"/>
        </p:xfrm>
        <a:graphic>
          <a:graphicData uri="http://schemas.openxmlformats.org/drawingml/2006/table">
            <a:tbl>
              <a:tblPr bandRow="1" firstRow="1">
                <a:noFill/>
                <a:tableStyleId>{81B2895F-E686-4C22-94FF-D8616A75AD69}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Igualdade</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Diferença</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Maior</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&gt;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Maior ou igual</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&gt;=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Menor</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&lt;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Menor ou igual</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&lt;=</a:t>
                      </a:r>
                      <a:endParaRPr sz="2100" u="none" cap="none" strike="noStrike"/>
                    </a:p>
                  </a:txBody>
                  <a:tcPr marT="34300" marB="34300" marR="91450" marL="91450"/>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L</a:t>
            </a:r>
            <a:r>
              <a:rPr lang="en"/>
              <a:t>ógicos</a:t>
            </a:r>
            <a:endParaRPr/>
          </a:p>
        </p:txBody>
      </p:sp>
      <p:sp>
        <p:nvSpPr>
          <p:cNvPr id="308" name="Google Shape;308;p44"/>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as operações básica dada na lógica matemática</a:t>
            </a:r>
            <a:endParaRPr/>
          </a:p>
        </p:txBody>
      </p:sp>
      <p:sp>
        <p:nvSpPr>
          <p:cNvPr id="309" name="Google Shape;30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10" name="Google Shape;310;p44"/>
          <p:cNvGraphicFramePr/>
          <p:nvPr/>
        </p:nvGraphicFramePr>
        <p:xfrm>
          <a:off x="1214438" y="2250281"/>
          <a:ext cx="3000000" cy="3000000"/>
        </p:xfrm>
        <a:graphic>
          <a:graphicData uri="http://schemas.openxmlformats.org/drawingml/2006/table">
            <a:tbl>
              <a:tblPr bandRow="1" firstRow="1">
                <a:noFill/>
                <a:tableStyleId>{81B2895F-E686-4C22-94FF-D8616A75AD69}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Negação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Conjunção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&amp;&amp;</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u="none" cap="none" strike="noStrike"/>
                        <a:t>Disjunção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u="none" cap="none" strike="noStrike"/>
                        <a:t>||</a:t>
                      </a:r>
                      <a:endParaRPr sz="2100" u="none" cap="none" strike="noStrike"/>
                    </a:p>
                  </a:txBody>
                  <a:tcPr marT="34300" marB="34300" marR="91450" marL="91450"/>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Operadores bit a bit (existe tamb</a:t>
            </a:r>
            <a:r>
              <a:rPr lang="en"/>
              <a:t>ém…</a:t>
            </a:r>
            <a:r>
              <a:rPr lang="en"/>
              <a:t>)</a:t>
            </a:r>
            <a:endParaRPr/>
          </a:p>
        </p:txBody>
      </p:sp>
      <p:sp>
        <p:nvSpPr>
          <p:cNvPr id="316" name="Google Shape;316;p45"/>
          <p:cNvSpPr txBox="1"/>
          <p:nvPr>
            <p:ph idx="1" type="body"/>
          </p:nvPr>
        </p:nvSpPr>
        <p:spPr>
          <a:xfrm>
            <a:off x="311700" y="115247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Representam operações bit a bit sobre os dados</a:t>
            </a:r>
            <a:endParaRPr/>
          </a:p>
        </p:txBody>
      </p:sp>
      <p:sp>
        <p:nvSpPr>
          <p:cNvPr id="317" name="Google Shape;31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318" name="Google Shape;318;p45"/>
          <p:cNvGraphicFramePr/>
          <p:nvPr/>
        </p:nvGraphicFramePr>
        <p:xfrm>
          <a:off x="1214413" y="1859931"/>
          <a:ext cx="3000000" cy="3000000"/>
        </p:xfrm>
        <a:graphic>
          <a:graphicData uri="http://schemas.openxmlformats.org/drawingml/2006/table">
            <a:tbl>
              <a:tblPr bandRow="1" firstRow="1">
                <a:noFill/>
                <a:tableStyleId>{81B2895F-E686-4C22-94FF-D8616A75AD69}</a:tableStyleId>
              </a:tblPr>
              <a:tblGrid>
                <a:gridCol w="3357575"/>
                <a:gridCol w="3357575"/>
              </a:tblGrid>
              <a:tr h="403150">
                <a:tc>
                  <a:txBody>
                    <a:bodyPr/>
                    <a:lstStyle/>
                    <a:p>
                      <a:pPr indent="0" lvl="0" marL="0" marR="0" rtl="0" algn="ctr">
                        <a:spcBef>
                          <a:spcPts val="0"/>
                        </a:spcBef>
                        <a:spcAft>
                          <a:spcPts val="0"/>
                        </a:spcAft>
                        <a:buNone/>
                      </a:pPr>
                      <a:r>
                        <a:rPr lang="en" sz="1800" u="none" cap="none" strike="noStrike"/>
                        <a:t>Operação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1800" u="none" cap="none" strike="noStrike"/>
                        <a:t>Operador</a:t>
                      </a:r>
                      <a:endParaRPr sz="18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AND (e)</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&amp;</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OR (ou)</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XOR (ou exclusivo)</a:t>
                      </a:r>
                      <a:endParaRPr sz="1800" u="none" cap="none" strike="noStrike"/>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NOT (complemento)</a:t>
                      </a:r>
                      <a:endParaRPr sz="1800"/>
                    </a:p>
                  </a:txBody>
                  <a:tcPr marT="34300" marB="34300" marR="91450" marL="91450"/>
                </a:tc>
                <a:tc>
                  <a:txBody>
                    <a:bodyPr/>
                    <a:lstStyle/>
                    <a:p>
                      <a:pPr indent="0" lvl="0" marL="0" marR="0" rtl="0" algn="ctr">
                        <a:spcBef>
                          <a:spcPts val="0"/>
                        </a:spcBef>
                        <a:spcAft>
                          <a:spcPts val="0"/>
                        </a:spcAft>
                        <a:buNone/>
                      </a:pPr>
                      <a:r>
                        <a:rPr lang="en" sz="2100"/>
                        <a:t>~</a:t>
                      </a:r>
                      <a:endParaRPr sz="2100" u="none" cap="none" strike="noStrike"/>
                    </a:p>
                  </a:txBody>
                  <a:tcPr marT="34300" marB="34300" marR="91450" marL="91450"/>
                </a:tc>
              </a:tr>
              <a:tr h="403150">
                <a:tc>
                  <a:txBody>
                    <a:bodyPr/>
                    <a:lstStyle/>
                    <a:p>
                      <a:pPr indent="0" lvl="0" marL="0" marR="0" rtl="0" algn="ctr">
                        <a:spcBef>
                          <a:spcPts val="0"/>
                        </a:spcBef>
                        <a:spcAft>
                          <a:spcPts val="0"/>
                        </a:spcAft>
                        <a:buNone/>
                      </a:pPr>
                      <a:r>
                        <a:rPr lang="en" sz="1800"/>
                        <a:t>Deslocamento a direita</a:t>
                      </a:r>
                      <a:endParaRPr sz="1800"/>
                    </a:p>
                  </a:txBody>
                  <a:tcPr marT="34300" marB="34300" marR="91450" marL="91450"/>
                </a:tc>
                <a:tc>
                  <a:txBody>
                    <a:bodyPr/>
                    <a:lstStyle/>
                    <a:p>
                      <a:pPr indent="0" lvl="0" marL="0" marR="0" rtl="0" algn="ctr">
                        <a:spcBef>
                          <a:spcPts val="0"/>
                        </a:spcBef>
                        <a:spcAft>
                          <a:spcPts val="0"/>
                        </a:spcAft>
                        <a:buNone/>
                      </a:pPr>
                      <a:r>
                        <a:rPr lang="en" sz="2100"/>
                        <a:t>&gt;&gt;</a:t>
                      </a:r>
                      <a:endParaRPr sz="2100"/>
                    </a:p>
                  </a:txBody>
                  <a:tcPr marT="34300" marB="34300" marR="91450" marL="91450"/>
                </a:tc>
              </a:tr>
              <a:tr h="403150">
                <a:tc>
                  <a:txBody>
                    <a:bodyPr/>
                    <a:lstStyle/>
                    <a:p>
                      <a:pPr indent="0" lvl="0" marL="0" marR="0" rtl="0" algn="ctr">
                        <a:spcBef>
                          <a:spcPts val="0"/>
                        </a:spcBef>
                        <a:spcAft>
                          <a:spcPts val="0"/>
                        </a:spcAft>
                        <a:buNone/>
                      </a:pPr>
                      <a:r>
                        <a:rPr lang="en" sz="1800"/>
                        <a:t>Deslocamento a esquerda</a:t>
                      </a:r>
                      <a:endParaRPr sz="1800"/>
                    </a:p>
                  </a:txBody>
                  <a:tcPr marT="34300" marB="34300" marR="91450" marL="91450"/>
                </a:tc>
                <a:tc>
                  <a:txBody>
                    <a:bodyPr/>
                    <a:lstStyle/>
                    <a:p>
                      <a:pPr indent="0" lvl="0" marL="0" marR="0" rtl="0" algn="ctr">
                        <a:spcBef>
                          <a:spcPts val="0"/>
                        </a:spcBef>
                        <a:spcAft>
                          <a:spcPts val="0"/>
                        </a:spcAft>
                        <a:buNone/>
                      </a:pPr>
                      <a:r>
                        <a:rPr lang="en" sz="2100"/>
                        <a:t>&lt;&lt;</a:t>
                      </a:r>
                      <a:endParaRPr sz="2100"/>
                    </a:p>
                  </a:txBody>
                  <a:tcPr marT="34300" marB="34300"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Operador de Atribuiç</a:t>
            </a:r>
            <a:r>
              <a:rPr lang="en"/>
              <a:t>ão</a:t>
            </a:r>
            <a:endParaRPr/>
          </a:p>
        </p:txBody>
      </p:sp>
      <p:sp>
        <p:nvSpPr>
          <p:cNvPr id="324" name="Google Shape;32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Forma geral:</a:t>
            </a:r>
            <a:endParaRPr/>
          </a:p>
          <a:p>
            <a:pPr indent="0" lvl="0" marL="0" rtl="0" algn="l">
              <a:spcBef>
                <a:spcPts val="1200"/>
              </a:spcBef>
              <a:spcAft>
                <a:spcPts val="0"/>
              </a:spcAft>
              <a:buNone/>
            </a:pPr>
            <a:r>
              <a:rPr lang="en"/>
              <a:t>		</a:t>
            </a:r>
            <a:r>
              <a:rPr lang="en"/>
              <a:t>variável</a:t>
            </a:r>
            <a:r>
              <a:rPr lang="en"/>
              <a:t> </a:t>
            </a:r>
            <a:r>
              <a:rPr b="1" lang="en"/>
              <a:t>=</a:t>
            </a:r>
            <a:r>
              <a:rPr lang="en"/>
              <a:t> expressão ou constante</a:t>
            </a:r>
            <a:endParaRPr/>
          </a:p>
          <a:p>
            <a:pPr indent="-342900" lvl="0" marL="457200" rtl="0" algn="l">
              <a:spcBef>
                <a:spcPts val="1200"/>
              </a:spcBef>
              <a:spcAft>
                <a:spcPts val="0"/>
              </a:spcAft>
              <a:buSzPts val="1800"/>
              <a:buChar char="●"/>
            </a:pPr>
            <a:r>
              <a:rPr lang="en"/>
              <a:t>Armazena o conteúdo dado a direita no elemento dado à esquerda</a:t>
            </a:r>
            <a:br>
              <a:rPr lang="en"/>
            </a:br>
            <a:endParaRPr/>
          </a:p>
          <a:p>
            <a:pPr indent="-342900" lvl="0" marL="457200" rtl="0" algn="l">
              <a:spcBef>
                <a:spcPts val="0"/>
              </a:spcBef>
              <a:spcAft>
                <a:spcPts val="0"/>
              </a:spcAft>
              <a:buSzPts val="1800"/>
              <a:buChar char="●"/>
            </a:pPr>
            <a:r>
              <a:rPr lang="en"/>
              <a:t>Em C é permitido múltiplas atribuições em um mesmo comando:</a:t>
            </a:r>
            <a:endParaRPr/>
          </a:p>
          <a:p>
            <a:pPr indent="457200" lvl="0" marL="457200" rtl="0" algn="l">
              <a:spcBef>
                <a:spcPts val="1200"/>
              </a:spcBef>
              <a:spcAft>
                <a:spcPts val="1200"/>
              </a:spcAft>
              <a:buNone/>
            </a:pPr>
            <a:r>
              <a:rPr lang="en"/>
              <a:t>x </a:t>
            </a:r>
            <a:r>
              <a:rPr b="1" lang="en"/>
              <a:t>=</a:t>
            </a:r>
            <a:r>
              <a:rPr lang="en"/>
              <a:t> y </a:t>
            </a:r>
            <a:r>
              <a:rPr b="1" lang="en"/>
              <a:t>=</a:t>
            </a:r>
            <a:r>
              <a:rPr lang="en"/>
              <a:t> z </a:t>
            </a:r>
            <a:r>
              <a:rPr b="1" lang="en"/>
              <a:t>=</a:t>
            </a:r>
            <a:r>
              <a:rPr lang="en"/>
              <a:t> 0;</a:t>
            </a:r>
            <a:endParaRPr/>
          </a:p>
        </p:txBody>
      </p:sp>
      <p:sp>
        <p:nvSpPr>
          <p:cNvPr id="325" name="Google Shape;32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31" name="Google Shape;331;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Expressões são compostas por:</a:t>
            </a:r>
            <a:endParaRPr/>
          </a:p>
          <a:p>
            <a:pPr indent="-342900" lvl="0" marL="457200" rtl="0" algn="l">
              <a:spcBef>
                <a:spcPts val="1200"/>
              </a:spcBef>
              <a:spcAft>
                <a:spcPts val="0"/>
              </a:spcAft>
              <a:buSzPts val="1800"/>
              <a:buChar char="●"/>
            </a:pPr>
            <a:r>
              <a:rPr lang="en"/>
              <a:t>Operandos: a, b, x, Meu_dado, 2, …</a:t>
            </a:r>
            <a:endParaRPr/>
          </a:p>
          <a:p>
            <a:pPr indent="-342900" lvl="0" marL="457200" rtl="0" algn="l">
              <a:spcBef>
                <a:spcPts val="0"/>
              </a:spcBef>
              <a:spcAft>
                <a:spcPts val="0"/>
              </a:spcAft>
              <a:buSzPts val="1800"/>
              <a:buChar char="●"/>
            </a:pPr>
            <a:r>
              <a:rPr lang="en"/>
              <a:t>Operadores: +, -, %, …</a:t>
            </a:r>
            <a:endParaRPr/>
          </a:p>
          <a:p>
            <a:pPr indent="-342900" lvl="0" marL="457200" rtl="0" algn="l">
              <a:spcBef>
                <a:spcPts val="0"/>
              </a:spcBef>
              <a:spcAft>
                <a:spcPts val="0"/>
              </a:spcAft>
              <a:buSzPts val="1800"/>
              <a:buChar char="●"/>
            </a:pPr>
            <a:r>
              <a:rPr lang="en"/>
              <a:t>Pontuação: ( )</a:t>
            </a:r>
            <a:endParaRPr/>
          </a:p>
          <a:p>
            <a:pPr indent="-342900" lvl="0" marL="457200" rtl="0" algn="l">
              <a:spcBef>
                <a:spcPts val="0"/>
              </a:spcBef>
              <a:spcAft>
                <a:spcPts val="0"/>
              </a:spcAft>
              <a:buSzPts val="1800"/>
              <a:buChar char="●"/>
            </a:pPr>
            <a:r>
              <a:rPr lang="en"/>
              <a:t>Funções: sin(), abs(), sqrt(), ...</a:t>
            </a:r>
            <a:endParaRPr/>
          </a:p>
          <a:p>
            <a:pPr indent="0" lvl="0" marL="0" rtl="0" algn="l">
              <a:spcBef>
                <a:spcPts val="1200"/>
              </a:spcBef>
              <a:spcAft>
                <a:spcPts val="1200"/>
              </a:spcAft>
              <a:buNone/>
            </a:pPr>
            <a:r>
              <a:rPr lang="en"/>
              <a:t>Ex:</a:t>
            </a:r>
            <a:br>
              <a:rPr lang="en"/>
            </a:br>
            <a:r>
              <a:rPr lang="en"/>
              <a:t>X</a:t>
            </a:r>
            <a:br>
              <a:rPr lang="en"/>
            </a:br>
            <a:r>
              <a:rPr lang="en"/>
              <a:t>14</a:t>
            </a:r>
            <a:br>
              <a:rPr lang="en"/>
            </a:br>
            <a:r>
              <a:rPr lang="en"/>
              <a:t>x + y</a:t>
            </a:r>
            <a:br>
              <a:rPr lang="en"/>
            </a:br>
            <a:r>
              <a:rPr lang="en"/>
              <a:t>(x + y)*z + w – v</a:t>
            </a:r>
            <a:br>
              <a:rPr lang="en"/>
            </a:br>
            <a:r>
              <a:rPr lang="en"/>
              <a:t>( -b + sqrt(delta) ) / 2*a</a:t>
            </a:r>
            <a:endParaRPr/>
          </a:p>
        </p:txBody>
      </p:sp>
      <p:sp>
        <p:nvSpPr>
          <p:cNvPr id="332" name="Google Shape;33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38" name="Google Shape;338;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Expressões retornam um valor:</a:t>
            </a:r>
            <a:endParaRPr/>
          </a:p>
          <a:p>
            <a:pPr indent="0" lvl="0" marL="0" rtl="0" algn="l">
              <a:spcBef>
                <a:spcPts val="1200"/>
              </a:spcBef>
              <a:spcAft>
                <a:spcPts val="0"/>
              </a:spcAft>
              <a:buNone/>
            </a:pPr>
            <a:r>
              <a:rPr lang="en"/>
              <a:t>x = 5 + 4 /* retorna 9 */</a:t>
            </a:r>
            <a:endParaRPr/>
          </a:p>
          <a:p>
            <a:pPr indent="0" lvl="0" marL="0" rtl="0" algn="l">
              <a:spcBef>
                <a:spcPts val="1200"/>
              </a:spcBef>
              <a:spcAft>
                <a:spcPts val="0"/>
              </a:spcAft>
              <a:buNone/>
            </a:pPr>
            <a:r>
              <a:rPr lang="en"/>
              <a:t>    Esta expressão atribui 9 a x e retorna 9 como resultado da expressão (sim atribuição também retorna o resultado da atribuição, o que permite realizar </a:t>
            </a:r>
            <a:r>
              <a:rPr lang="en"/>
              <a:t>múltiplas</a:t>
            </a:r>
            <a:r>
              <a:rPr lang="en"/>
              <a:t> atribuições em linha):    x = y = z = k = 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((x = 5 + 4) == 9) /* retorna verdade = 1 */</a:t>
            </a:r>
            <a:endParaRPr/>
          </a:p>
          <a:p>
            <a:pPr indent="0" lvl="0" marL="0" rtl="0" algn="l">
              <a:spcBef>
                <a:spcPts val="1200"/>
              </a:spcBef>
              <a:spcAft>
                <a:spcPts val="1200"/>
              </a:spcAft>
              <a:buNone/>
            </a:pPr>
            <a:r>
              <a:rPr lang="en"/>
              <a:t>     Na expressão acima, além de atribuir 9 a x, o valor retornado é utilizado em uma comparação </a:t>
            </a:r>
            <a:endParaRPr/>
          </a:p>
        </p:txBody>
      </p:sp>
      <p:sp>
        <p:nvSpPr>
          <p:cNvPr id="339" name="Google Shape;33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Expressões</a:t>
            </a:r>
            <a:endParaRPr/>
          </a:p>
        </p:txBody>
      </p:sp>
      <p:sp>
        <p:nvSpPr>
          <p:cNvPr id="345" name="Google Shape;345;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a:t>
            </a:r>
            <a:r>
              <a:rPr lang="en"/>
              <a:t> ordem em que uma expressão é avaliada depende da prioridade dos operadores e da pontuação.</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E</a:t>
            </a:r>
            <a:r>
              <a:rPr lang="en"/>
              <a:t>xpressões podem aparecer em diversos pontos de um programa</a:t>
            </a:r>
            <a:endParaRPr/>
          </a:p>
          <a:p>
            <a:pPr indent="0" lvl="0" marL="0" rtl="0" algn="l">
              <a:spcBef>
                <a:spcPts val="1200"/>
              </a:spcBef>
              <a:spcAft>
                <a:spcPts val="0"/>
              </a:spcAft>
              <a:buNone/>
            </a:pPr>
            <a:r>
              <a:rPr lang="en"/>
              <a:t>comandos 			/* x = y; */</a:t>
            </a:r>
            <a:endParaRPr/>
          </a:p>
          <a:p>
            <a:pPr indent="0" lvl="0" marL="0" rtl="0" algn="l">
              <a:spcBef>
                <a:spcPts val="1200"/>
              </a:spcBef>
              <a:spcAft>
                <a:spcPts val="0"/>
              </a:spcAft>
              <a:buNone/>
            </a:pPr>
            <a:r>
              <a:rPr lang="en"/>
              <a:t>parâmetros de funções   	/* sqrt(x + y); */</a:t>
            </a:r>
            <a:endParaRPr/>
          </a:p>
          <a:p>
            <a:pPr indent="0" lvl="0" marL="0" rtl="0" algn="l">
              <a:spcBef>
                <a:spcPts val="1200"/>
              </a:spcBef>
              <a:spcAft>
                <a:spcPts val="1200"/>
              </a:spcAft>
              <a:buNone/>
            </a:pPr>
            <a:r>
              <a:rPr lang="en"/>
              <a:t>condições de teste 		/* if (x == y) */</a:t>
            </a:r>
            <a:endParaRPr/>
          </a:p>
        </p:txBody>
      </p:sp>
      <p:sp>
        <p:nvSpPr>
          <p:cNvPr id="346" name="Google Shape;346;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ESTRUTURA BÁSICA</a:t>
            </a:r>
            <a:endParaRPr/>
          </a:p>
        </p:txBody>
      </p:sp>
      <p:sp>
        <p:nvSpPr>
          <p:cNvPr id="352" name="Google Shape;35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1"/>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Programação em C</a:t>
            </a:r>
            <a:endParaRPr/>
          </a:p>
        </p:txBody>
      </p:sp>
      <p:sp>
        <p:nvSpPr>
          <p:cNvPr id="358" name="Google Shape;358;p51"/>
          <p:cNvSpPr txBox="1"/>
          <p:nvPr>
            <p:ph idx="1" type="body"/>
          </p:nvPr>
        </p:nvSpPr>
        <p:spPr>
          <a:xfrm>
            <a:off x="457200" y="900113"/>
            <a:ext cx="8229600" cy="2545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 sz="2800"/>
              <a:t>Todo programa, escrito na linguagem C, deve apresentar uma função principal chamada main, que define todo o corpo do programa</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 sz="2800"/>
              <a:t>Exemplo:</a:t>
            </a:r>
            <a:endParaRPr/>
          </a:p>
        </p:txBody>
      </p:sp>
      <p:sp>
        <p:nvSpPr>
          <p:cNvPr id="359" name="Google Shape;359;p51"/>
          <p:cNvSpPr txBox="1"/>
          <p:nvPr/>
        </p:nvSpPr>
        <p:spPr>
          <a:xfrm>
            <a:off x="2981875" y="2682824"/>
            <a:ext cx="5485800" cy="2062500"/>
          </a:xfrm>
          <a:prstGeom prst="rect">
            <a:avLst/>
          </a:prstGeom>
          <a:gradFill>
            <a:gsLst>
              <a:gs pos="0">
                <a:srgbClr val="DAFEA4"/>
              </a:gs>
              <a:gs pos="35000">
                <a:srgbClr val="E3FEBF"/>
              </a:gs>
              <a:gs pos="100000">
                <a:srgbClr val="F4FEE6"/>
              </a:gs>
            </a:gsLst>
            <a:lin ang="16200038" scaled="0"/>
          </a:gradFill>
          <a:ln cap="flat" cmpd="sng" w="9525">
            <a:solidFill>
              <a:srgbClr val="97B853"/>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n" sz="3200" u="none" cap="none" strike="noStrike">
                <a:solidFill>
                  <a:schemeClr val="dk1"/>
                </a:solidFill>
                <a:latin typeface="Courier New"/>
                <a:ea typeface="Courier New"/>
                <a:cs typeface="Courier New"/>
                <a:sym typeface="Courier New"/>
              </a:rPr>
              <a:t>int</a:t>
            </a:r>
            <a:r>
              <a:rPr b="0" i="0" lang="en" sz="3200" u="none" cap="none" strike="noStrike">
                <a:solidFill>
                  <a:schemeClr val="dk1"/>
                </a:solidFill>
                <a:latin typeface="Courier New"/>
                <a:ea typeface="Courier New"/>
                <a:cs typeface="Courier New"/>
                <a:sym typeface="Courier New"/>
              </a:rPr>
              <a:t> main() {</a:t>
            </a:r>
            <a:endParaRPr/>
          </a:p>
          <a:p>
            <a:pPr indent="0" lvl="0" marL="0" marR="0" rtl="0" algn="l">
              <a:spcBef>
                <a:spcPts val="0"/>
              </a:spcBef>
              <a:spcAft>
                <a:spcPts val="0"/>
              </a:spcAft>
              <a:buNone/>
            </a:pPr>
            <a:r>
              <a:rPr b="0" i="0" lang="en" sz="3200" u="none" cap="none" strike="noStrike">
                <a:solidFill>
                  <a:schemeClr val="dk1"/>
                </a:solidFill>
                <a:latin typeface="Courier New"/>
                <a:ea typeface="Courier New"/>
                <a:cs typeface="Courier New"/>
                <a:sym typeface="Courier New"/>
              </a:rPr>
              <a:t>  </a:t>
            </a:r>
            <a:r>
              <a:rPr b="0" i="0" lang="en" sz="3200" u="none" cap="none" strike="noStrike">
                <a:solidFill>
                  <a:schemeClr val="accent1"/>
                </a:solidFill>
                <a:latin typeface="Courier New"/>
                <a:ea typeface="Courier New"/>
                <a:cs typeface="Courier New"/>
                <a:sym typeface="Courier New"/>
              </a:rPr>
              <a:t>/* corpo do programa */</a:t>
            </a:r>
            <a:endParaRPr/>
          </a:p>
          <a:p>
            <a:pPr indent="0" lvl="0" marL="0" marR="0" rtl="0" algn="l">
              <a:spcBef>
                <a:spcPts val="0"/>
              </a:spcBef>
              <a:spcAft>
                <a:spcPts val="0"/>
              </a:spcAft>
              <a:buNone/>
            </a:pPr>
            <a:r>
              <a:rPr b="0" i="0" lang="en" sz="3200" u="none" cap="none" strike="noStrike">
                <a:solidFill>
                  <a:schemeClr val="dk1"/>
                </a:solidFill>
                <a:latin typeface="Courier New"/>
                <a:ea typeface="Courier New"/>
                <a:cs typeface="Courier New"/>
                <a:sym typeface="Courier New"/>
              </a:rPr>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2"/>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Comandos de Saída</a:t>
            </a:r>
            <a:endParaRPr/>
          </a:p>
        </p:txBody>
      </p:sp>
      <p:sp>
        <p:nvSpPr>
          <p:cNvPr id="365" name="Google Shape;365;p52"/>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125000"/>
              </a:lnSpc>
              <a:spcBef>
                <a:spcPts val="0"/>
              </a:spcBef>
              <a:spcAft>
                <a:spcPts val="0"/>
              </a:spcAft>
              <a:buClr>
                <a:schemeClr val="dk1"/>
              </a:buClr>
              <a:buSzPts val="2800"/>
              <a:buChar char="●"/>
            </a:pPr>
            <a:r>
              <a:rPr lang="en" sz="2800"/>
              <a:t>Empregados para que o sistema forneça, em um dispositivo de saída, as mensagens e resultados de seu processamento.</a:t>
            </a:r>
            <a:endParaRPr/>
          </a:p>
          <a:p>
            <a:pPr indent="-342900" lvl="0" marL="342900" rtl="0" algn="l">
              <a:lnSpc>
                <a:spcPct val="125000"/>
              </a:lnSpc>
              <a:spcBef>
                <a:spcPts val="560"/>
              </a:spcBef>
              <a:spcAft>
                <a:spcPts val="0"/>
              </a:spcAft>
              <a:buClr>
                <a:schemeClr val="dk1"/>
              </a:buClr>
              <a:buSzPts val="2800"/>
              <a:buChar char="●"/>
            </a:pPr>
            <a:r>
              <a:rPr lang="en" sz="2800"/>
              <a:t>O dispositivo padrão de saída é o monitor.</a:t>
            </a:r>
            <a:endParaRPr/>
          </a:p>
          <a:p>
            <a:pPr indent="-342900" lvl="0" marL="342900" rtl="0" algn="l">
              <a:lnSpc>
                <a:spcPct val="125000"/>
              </a:lnSpc>
              <a:spcBef>
                <a:spcPts val="560"/>
              </a:spcBef>
              <a:spcAft>
                <a:spcPts val="0"/>
              </a:spcAft>
              <a:buClr>
                <a:schemeClr val="dk1"/>
              </a:buClr>
              <a:buSzPts val="2800"/>
              <a:buChar char="●"/>
            </a:pPr>
            <a:r>
              <a:rPr lang="en" sz="2800"/>
              <a:t>A linguagem C oferece alguns comandos de saída, mas o que apresenta propósito mais geral é o </a:t>
            </a:r>
            <a:r>
              <a:rPr lang="en" sz="2800" u="sng">
                <a:solidFill>
                  <a:srgbClr val="D73737"/>
                </a:solidFill>
              </a:rPr>
              <a:t>printf</a:t>
            </a:r>
            <a:r>
              <a:rPr lang="en" sz="2800"/>
              <a:t>.</a:t>
            </a:r>
            <a:endParaRPr/>
          </a:p>
        </p:txBody>
      </p:sp>
      <p:sp>
        <p:nvSpPr>
          <p:cNvPr id="366" name="Google Shape;366;p52"/>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 PRINTF()</a:t>
            </a:r>
            <a:endParaRPr/>
          </a:p>
        </p:txBody>
      </p:sp>
      <p:sp>
        <p:nvSpPr>
          <p:cNvPr id="372" name="Google Shape;372;p5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lang="en" sz="2800"/>
              <a:t>Sintaxe:</a:t>
            </a:r>
            <a:endParaRPr/>
          </a:p>
          <a:p>
            <a:pPr indent="-342900" lvl="0" marL="342900" rtl="0" algn="ctr">
              <a:spcBef>
                <a:spcPts val="560"/>
              </a:spcBef>
              <a:spcAft>
                <a:spcPts val="0"/>
              </a:spcAft>
              <a:buClr>
                <a:schemeClr val="dk2"/>
              </a:buClr>
              <a:buSzPts val="2800"/>
              <a:buFont typeface="Arial"/>
              <a:buNone/>
            </a:pPr>
            <a:r>
              <a:rPr lang="en" sz="2800">
                <a:solidFill>
                  <a:schemeClr val="dk2"/>
                </a:solidFill>
              </a:rPr>
              <a:t>printf(“Mensagem”, lista de variáveis);</a:t>
            </a:r>
            <a:endParaRPr/>
          </a:p>
          <a:p>
            <a:pPr indent="-165100" lvl="0" marL="342900" rtl="0" algn="l">
              <a:spcBef>
                <a:spcPts val="560"/>
              </a:spcBef>
              <a:spcAft>
                <a:spcPts val="0"/>
              </a:spcAft>
              <a:buClr>
                <a:schemeClr val="dk1"/>
              </a:buClr>
              <a:buSzPts val="2800"/>
              <a:buNone/>
            </a:pPr>
            <a:r>
              <a:t/>
            </a:r>
            <a:endParaRPr sz="2800"/>
          </a:p>
          <a:p>
            <a:pPr indent="-342900" lvl="0" marL="342900" rtl="0" algn="l">
              <a:spcBef>
                <a:spcPts val="560"/>
              </a:spcBef>
              <a:spcAft>
                <a:spcPts val="0"/>
              </a:spcAft>
              <a:buClr>
                <a:schemeClr val="dk1"/>
              </a:buClr>
              <a:buSzPts val="2800"/>
              <a:buChar char="●"/>
            </a:pPr>
            <a:r>
              <a:rPr lang="en" sz="2800"/>
              <a:t>Funcionamento:</a:t>
            </a:r>
            <a:endParaRPr/>
          </a:p>
          <a:p>
            <a:pPr indent="-285750" lvl="1" marL="742950" rtl="0" algn="l">
              <a:spcBef>
                <a:spcPts val="480"/>
              </a:spcBef>
              <a:spcAft>
                <a:spcPts val="0"/>
              </a:spcAft>
              <a:buClr>
                <a:schemeClr val="dk1"/>
              </a:buClr>
              <a:buSzPts val="2400"/>
              <a:buChar char="○"/>
            </a:pPr>
            <a:r>
              <a:rPr lang="en" sz="2400"/>
              <a:t>O comando escreve a mensagem dada no dispositivo padrão de saída, realizando a substituição das máscaras de formatação encontradas pelas respectivas variáveis dadas na lista subseqüente a mensagem.</a:t>
            </a:r>
            <a:endParaRPr/>
          </a:p>
          <a:p>
            <a:pPr indent="-285750" lvl="1" marL="742950" rtl="0" algn="l">
              <a:spcBef>
                <a:spcPts val="480"/>
              </a:spcBef>
              <a:spcAft>
                <a:spcPts val="0"/>
              </a:spcAft>
              <a:buClr>
                <a:schemeClr val="dk1"/>
              </a:buClr>
              <a:buSzPts val="2400"/>
              <a:buChar char="○"/>
            </a:pPr>
            <a:r>
              <a:rPr lang="en" sz="2400"/>
              <a:t>O dispositivo padrão é dado pela variável </a:t>
            </a:r>
            <a:r>
              <a:rPr lang="en" sz="2400">
                <a:solidFill>
                  <a:srgbClr val="D73737"/>
                </a:solidFill>
              </a:rPr>
              <a:t>stdout</a:t>
            </a:r>
            <a:endParaRPr/>
          </a:p>
        </p:txBody>
      </p:sp>
      <p:sp>
        <p:nvSpPr>
          <p:cNvPr id="373" name="Google Shape;373;p53"/>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380" name="Google Shape;380;p54"/>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Máscaras de formatação</a:t>
            </a:r>
            <a:endParaRPr/>
          </a:p>
        </p:txBody>
      </p:sp>
      <p:sp>
        <p:nvSpPr>
          <p:cNvPr id="381" name="Google Shape;381;p54"/>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3000"/>
              <a:buChar char="●"/>
            </a:pPr>
            <a:r>
              <a:rPr lang="en" sz="3000"/>
              <a:t>Símbolo de </a:t>
            </a:r>
            <a:r>
              <a:rPr lang="en" sz="3000"/>
              <a:t>por cento</a:t>
            </a:r>
            <a:r>
              <a:rPr lang="en" sz="3000"/>
              <a:t> seguido de uma letra:</a:t>
            </a:r>
            <a:endParaRPr sz="3000"/>
          </a:p>
          <a:p>
            <a:pPr indent="0" lvl="0" marL="342900" rtl="0" algn="l">
              <a:lnSpc>
                <a:spcPct val="80000"/>
              </a:lnSpc>
              <a:spcBef>
                <a:spcPts val="600"/>
              </a:spcBef>
              <a:spcAft>
                <a:spcPts val="0"/>
              </a:spcAft>
              <a:buNone/>
            </a:pPr>
            <a:r>
              <a:rPr lang="en" sz="3000"/>
              <a:t>%c		Caractere</a:t>
            </a:r>
            <a:endParaRPr/>
          </a:p>
          <a:p>
            <a:pPr indent="0" lvl="0" marL="342900" rtl="0" algn="l">
              <a:lnSpc>
                <a:spcPct val="80000"/>
              </a:lnSpc>
              <a:spcBef>
                <a:spcPts val="600"/>
              </a:spcBef>
              <a:spcAft>
                <a:spcPts val="0"/>
              </a:spcAft>
              <a:buNone/>
            </a:pPr>
            <a:r>
              <a:rPr lang="en" sz="3000"/>
              <a:t>%d		Inteiros com sinal</a:t>
            </a:r>
            <a:endParaRPr/>
          </a:p>
          <a:p>
            <a:pPr indent="0" lvl="0" marL="342900" rtl="0" algn="l">
              <a:lnSpc>
                <a:spcPct val="80000"/>
              </a:lnSpc>
              <a:spcBef>
                <a:spcPts val="600"/>
              </a:spcBef>
              <a:spcAft>
                <a:spcPts val="0"/>
              </a:spcAft>
              <a:buNone/>
            </a:pPr>
            <a:r>
              <a:rPr lang="en" sz="3000"/>
              <a:t>%u		Inteiros sem sinal</a:t>
            </a:r>
            <a:endParaRPr/>
          </a:p>
          <a:p>
            <a:pPr indent="0" lvl="0" marL="342900" rtl="0" algn="l">
              <a:lnSpc>
                <a:spcPct val="80000"/>
              </a:lnSpc>
              <a:spcBef>
                <a:spcPts val="600"/>
              </a:spcBef>
              <a:spcAft>
                <a:spcPts val="0"/>
              </a:spcAft>
              <a:buNone/>
            </a:pPr>
            <a:r>
              <a:rPr lang="en" sz="3000"/>
              <a:t>%f		Números reais</a:t>
            </a:r>
            <a:endParaRPr/>
          </a:p>
          <a:p>
            <a:pPr indent="0" lvl="0" marL="342900" rtl="0" algn="l">
              <a:lnSpc>
                <a:spcPct val="80000"/>
              </a:lnSpc>
              <a:spcBef>
                <a:spcPts val="600"/>
              </a:spcBef>
              <a:spcAft>
                <a:spcPts val="0"/>
              </a:spcAft>
              <a:buNone/>
            </a:pPr>
            <a:r>
              <a:rPr lang="en" sz="3000"/>
              <a:t>%e		Notação científica</a:t>
            </a:r>
            <a:endParaRPr/>
          </a:p>
          <a:p>
            <a:pPr indent="0" lvl="0" marL="342900" rtl="0" algn="l">
              <a:lnSpc>
                <a:spcPct val="80000"/>
              </a:lnSpc>
              <a:spcBef>
                <a:spcPts val="600"/>
              </a:spcBef>
              <a:spcAft>
                <a:spcPts val="0"/>
              </a:spcAft>
              <a:buNone/>
            </a:pPr>
            <a:r>
              <a:rPr lang="en" sz="3000"/>
              <a:t>%x		Números em hexadecimal</a:t>
            </a:r>
            <a:endParaRPr/>
          </a:p>
          <a:p>
            <a:pPr indent="0" lvl="0" marL="342900" rtl="0" algn="l">
              <a:lnSpc>
                <a:spcPct val="80000"/>
              </a:lnSpc>
              <a:spcBef>
                <a:spcPts val="600"/>
              </a:spcBef>
              <a:spcAft>
                <a:spcPts val="0"/>
              </a:spcAft>
              <a:buNone/>
            </a:pPr>
            <a:r>
              <a:rPr lang="en" sz="3000"/>
              <a:t>%s		Cadeia de caracteres (strings)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5"/>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Exemplo</a:t>
            </a:r>
            <a:endParaRPr/>
          </a:p>
        </p:txBody>
      </p:sp>
      <p:sp>
        <p:nvSpPr>
          <p:cNvPr id="387" name="Google Shape;387;p55"/>
          <p:cNvSpPr txBox="1"/>
          <p:nvPr>
            <p:ph idx="1" type="body"/>
          </p:nvPr>
        </p:nvSpPr>
        <p:spPr>
          <a:xfrm>
            <a:off x="457200" y="1200150"/>
            <a:ext cx="8229600" cy="35670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
              <a:t>Saída formatada </a:t>
            </a:r>
            <a:r>
              <a:rPr b="1" lang="en"/>
              <a:t>printf()</a:t>
            </a:r>
            <a:r>
              <a:rPr lang="en"/>
              <a:t>. Ex:</a:t>
            </a:r>
            <a:endParaRPr/>
          </a:p>
          <a:p>
            <a:pPr indent="0" lvl="0" marL="0" rtl="0" algn="l">
              <a:spcBef>
                <a:spcPts val="360"/>
              </a:spcBef>
              <a:spcAft>
                <a:spcPts val="0"/>
              </a:spcAft>
              <a:buNone/>
            </a:pPr>
            <a:r>
              <a:rPr lang="en"/>
              <a:t>O trecho abaixo:</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a:t>Produz: Inteiro: 10, Real: 3.151400, String: Blablabla</a:t>
            </a:r>
            <a:endParaRPr/>
          </a:p>
          <a:p>
            <a:pPr indent="0" lvl="0" marL="0" rtl="0" algn="l">
              <a:spcBef>
                <a:spcPts val="360"/>
              </a:spcBef>
              <a:spcAft>
                <a:spcPts val="0"/>
              </a:spcAft>
              <a:buNone/>
            </a:pPr>
            <a:r>
              <a:t/>
            </a:r>
            <a:endParaRPr/>
          </a:p>
        </p:txBody>
      </p:sp>
      <p:sp>
        <p:nvSpPr>
          <p:cNvPr id="388" name="Google Shape;388;p55"/>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pic>
        <p:nvPicPr>
          <p:cNvPr id="389" name="Google Shape;389;p55"/>
          <p:cNvPicPr preferRelativeResize="0"/>
          <p:nvPr/>
        </p:nvPicPr>
        <p:blipFill rotWithShape="1">
          <a:blip r:embed="rId3">
            <a:alphaModFix/>
          </a:blip>
          <a:srcRect b="6994" l="0" r="0" t="0"/>
          <a:stretch/>
        </p:blipFill>
        <p:spPr>
          <a:xfrm>
            <a:off x="542925" y="1976314"/>
            <a:ext cx="8058150" cy="1293400"/>
          </a:xfrm>
          <a:prstGeom prst="rect">
            <a:avLst/>
          </a:prstGeom>
          <a:noFill/>
          <a:ln>
            <a:noFill/>
          </a:ln>
        </p:spPr>
      </p:pic>
      <p:pic>
        <p:nvPicPr>
          <p:cNvPr id="390" name="Google Shape;390;p55"/>
          <p:cNvPicPr preferRelativeResize="0"/>
          <p:nvPr/>
        </p:nvPicPr>
        <p:blipFill>
          <a:blip r:embed="rId4">
            <a:alphaModFix/>
          </a:blip>
          <a:stretch>
            <a:fillRect/>
          </a:stretch>
        </p:blipFill>
        <p:spPr>
          <a:xfrm>
            <a:off x="542913" y="3894788"/>
            <a:ext cx="4105275" cy="1076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397" name="Google Shape;397;p5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Constantes do Tipo Char</a:t>
            </a:r>
            <a:endParaRPr/>
          </a:p>
        </p:txBody>
      </p:sp>
      <p:sp>
        <p:nvSpPr>
          <p:cNvPr id="398" name="Google Shape;398;p56"/>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800"/>
              <a:buChar char="●"/>
            </a:pPr>
            <a:r>
              <a:rPr lang="en" sz="2800"/>
              <a:t>Barra invertida seguido de um caractere:</a:t>
            </a:r>
            <a:endParaRPr sz="2800"/>
          </a:p>
          <a:p>
            <a:pPr indent="0" lvl="0" marL="342900" rtl="0" algn="l">
              <a:lnSpc>
                <a:spcPct val="80000"/>
              </a:lnSpc>
              <a:spcBef>
                <a:spcPts val="560"/>
              </a:spcBef>
              <a:spcAft>
                <a:spcPts val="0"/>
              </a:spcAft>
              <a:buNone/>
            </a:pPr>
            <a:r>
              <a:rPr lang="en" sz="2800"/>
              <a:t>\a	bip</a:t>
            </a:r>
            <a:endParaRPr/>
          </a:p>
          <a:p>
            <a:pPr indent="0" lvl="0" marL="342900" rtl="0" algn="l">
              <a:lnSpc>
                <a:spcPct val="80000"/>
              </a:lnSpc>
              <a:spcBef>
                <a:spcPts val="560"/>
              </a:spcBef>
              <a:spcAft>
                <a:spcPts val="0"/>
              </a:spcAft>
              <a:buNone/>
            </a:pPr>
            <a:r>
              <a:rPr lang="en" sz="2800"/>
              <a:t>\b	backspace</a:t>
            </a:r>
            <a:endParaRPr/>
          </a:p>
          <a:p>
            <a:pPr indent="0" lvl="0" marL="342900" rtl="0" algn="l">
              <a:lnSpc>
                <a:spcPct val="80000"/>
              </a:lnSpc>
              <a:spcBef>
                <a:spcPts val="560"/>
              </a:spcBef>
              <a:spcAft>
                <a:spcPts val="0"/>
              </a:spcAft>
              <a:buNone/>
            </a:pPr>
            <a:r>
              <a:rPr lang="en" sz="2800"/>
              <a:t>\n	nova linha</a:t>
            </a:r>
            <a:endParaRPr/>
          </a:p>
          <a:p>
            <a:pPr indent="0" lvl="0" marL="342900" rtl="0" algn="l">
              <a:lnSpc>
                <a:spcPct val="80000"/>
              </a:lnSpc>
              <a:spcBef>
                <a:spcPts val="560"/>
              </a:spcBef>
              <a:spcAft>
                <a:spcPts val="0"/>
              </a:spcAft>
              <a:buNone/>
            </a:pPr>
            <a:r>
              <a:rPr lang="en" sz="2800"/>
              <a:t>\r	return</a:t>
            </a:r>
            <a:endParaRPr/>
          </a:p>
          <a:p>
            <a:pPr indent="0" lvl="0" marL="342900" rtl="0" algn="l">
              <a:lnSpc>
                <a:spcPct val="80000"/>
              </a:lnSpc>
              <a:spcBef>
                <a:spcPts val="560"/>
              </a:spcBef>
              <a:spcAft>
                <a:spcPts val="0"/>
              </a:spcAft>
              <a:buNone/>
            </a:pPr>
            <a:r>
              <a:rPr lang="en" sz="2800"/>
              <a:t>\t	tabulação horizontal</a:t>
            </a:r>
            <a:endParaRPr/>
          </a:p>
          <a:p>
            <a:pPr indent="0" lvl="0" marL="342900" rtl="0" algn="l">
              <a:lnSpc>
                <a:spcPct val="80000"/>
              </a:lnSpc>
              <a:spcBef>
                <a:spcPts val="560"/>
              </a:spcBef>
              <a:spcAft>
                <a:spcPts val="0"/>
              </a:spcAft>
              <a:buNone/>
            </a:pPr>
            <a:r>
              <a:rPr lang="en" sz="2800"/>
              <a:t>\’	apóstrofe</a:t>
            </a:r>
            <a:endParaRPr/>
          </a:p>
          <a:p>
            <a:pPr indent="0" lvl="0" marL="342900" rtl="0" algn="l">
              <a:lnSpc>
                <a:spcPct val="80000"/>
              </a:lnSpc>
              <a:spcBef>
                <a:spcPts val="560"/>
              </a:spcBef>
              <a:spcAft>
                <a:spcPts val="0"/>
              </a:spcAft>
              <a:buNone/>
            </a:pPr>
            <a:r>
              <a:rPr lang="en" sz="2800"/>
              <a:t>\”	aspas</a:t>
            </a:r>
            <a:endParaRPr/>
          </a:p>
          <a:p>
            <a:pPr indent="0" lvl="0" marL="342900" rtl="0" algn="l">
              <a:lnSpc>
                <a:spcPct val="80000"/>
              </a:lnSpc>
              <a:spcBef>
                <a:spcPts val="560"/>
              </a:spcBef>
              <a:spcAft>
                <a:spcPts val="0"/>
              </a:spcAft>
              <a:buNone/>
            </a:pPr>
            <a:r>
              <a:rPr lang="en" sz="2800"/>
              <a:t>\\	barra invertida</a:t>
            </a:r>
            <a:endParaRPr/>
          </a:p>
          <a:p>
            <a:pPr indent="-342900" lvl="0" marL="342900" rtl="0" algn="l">
              <a:lnSpc>
                <a:spcPct val="70000"/>
              </a:lnSpc>
              <a:spcBef>
                <a:spcPts val="560"/>
              </a:spcBef>
              <a:spcAft>
                <a:spcPts val="0"/>
              </a:spcAft>
              <a:buClr>
                <a:schemeClr val="dk1"/>
              </a:buClr>
              <a:buSzPts val="2800"/>
              <a:buFont typeface="Arial"/>
              <a:buNone/>
            </a:pPr>
            <a:r>
              <a:t/>
            </a:r>
            <a:endParaRPr sz="2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Comandos de entrada</a:t>
            </a:r>
            <a:endParaRPr/>
          </a:p>
        </p:txBody>
      </p:sp>
      <p:sp>
        <p:nvSpPr>
          <p:cNvPr id="404" name="Google Shape;404;p57"/>
          <p:cNvSpPr txBox="1"/>
          <p:nvPr>
            <p:ph idx="1" type="body"/>
          </p:nvPr>
        </p:nvSpPr>
        <p:spPr>
          <a:xfrm>
            <a:off x="457200" y="1200150"/>
            <a:ext cx="8229600" cy="3943200"/>
          </a:xfrm>
          <a:prstGeom prst="rect">
            <a:avLst/>
          </a:prstGeom>
          <a:noFill/>
          <a:ln>
            <a:noFill/>
          </a:ln>
        </p:spPr>
        <p:txBody>
          <a:bodyPr anchorCtr="0" anchor="t" bIns="45700" lIns="91425" spcFirstLastPara="1" rIns="91425" wrap="square" tIns="45700">
            <a:noAutofit/>
          </a:bodyPr>
          <a:lstStyle/>
          <a:p>
            <a:pPr indent="-323850" lvl="0" marL="342900" rtl="0" algn="l">
              <a:lnSpc>
                <a:spcPct val="110000"/>
              </a:lnSpc>
              <a:spcBef>
                <a:spcPts val="0"/>
              </a:spcBef>
              <a:spcAft>
                <a:spcPts val="0"/>
              </a:spcAft>
              <a:buClr>
                <a:schemeClr val="dk1"/>
              </a:buClr>
              <a:buSzPts val="2300"/>
              <a:buChar char="●"/>
            </a:pPr>
            <a:r>
              <a:rPr lang="en" sz="2300"/>
              <a:t>Utilizado para receber dados fornecidos pelo usuário (dados de entrada) e armazená-los na memória principal (em variáveis)</a:t>
            </a:r>
            <a:endParaRPr sz="1500"/>
          </a:p>
          <a:p>
            <a:pPr indent="-323850" lvl="0" marL="342900" rtl="0" algn="l">
              <a:lnSpc>
                <a:spcPct val="110000"/>
              </a:lnSpc>
              <a:spcBef>
                <a:spcPts val="520"/>
              </a:spcBef>
              <a:spcAft>
                <a:spcPts val="0"/>
              </a:spcAft>
              <a:buClr>
                <a:schemeClr val="dk1"/>
              </a:buClr>
              <a:buSzPts val="2300"/>
              <a:buChar char="●"/>
            </a:pPr>
            <a:r>
              <a:rPr lang="en" sz="2300"/>
              <a:t>Os dados são fornecidos ao sistema por meio de um dispositivo de entrada, cuja configuração dada como padrão é o teclado.</a:t>
            </a:r>
            <a:endParaRPr sz="1500"/>
          </a:p>
          <a:p>
            <a:pPr indent="-323850" lvl="0" marL="342900" rtl="0" algn="l">
              <a:lnSpc>
                <a:spcPct val="110000"/>
              </a:lnSpc>
              <a:spcBef>
                <a:spcPts val="520"/>
              </a:spcBef>
              <a:spcAft>
                <a:spcPts val="0"/>
              </a:spcAft>
              <a:buClr>
                <a:schemeClr val="dk1"/>
              </a:buClr>
              <a:buSzPts val="2300"/>
              <a:buChar char="●"/>
            </a:pPr>
            <a:r>
              <a:rPr lang="en" sz="2300"/>
              <a:t>A linguagem C oferece vários comandos de entrada, cada qual mais indicado para uma situação em particular.</a:t>
            </a:r>
            <a:endParaRPr sz="1500"/>
          </a:p>
          <a:p>
            <a:pPr indent="-323850" lvl="0" marL="342900" rtl="0" algn="l">
              <a:lnSpc>
                <a:spcPct val="110000"/>
              </a:lnSpc>
              <a:spcBef>
                <a:spcPts val="520"/>
              </a:spcBef>
              <a:spcAft>
                <a:spcPts val="0"/>
              </a:spcAft>
              <a:buClr>
                <a:schemeClr val="dk1"/>
              </a:buClr>
              <a:buSzPts val="2300"/>
              <a:buChar char="●"/>
            </a:pPr>
            <a:r>
              <a:rPr lang="en" sz="2300"/>
              <a:t>O principal comando de entrada é o </a:t>
            </a:r>
            <a:r>
              <a:rPr lang="en" sz="2300" u="sng">
                <a:solidFill>
                  <a:srgbClr val="D73737"/>
                </a:solidFill>
              </a:rPr>
              <a:t>scanf</a:t>
            </a:r>
            <a:endParaRPr sz="1500"/>
          </a:p>
        </p:txBody>
      </p:sp>
      <p:sp>
        <p:nvSpPr>
          <p:cNvPr id="405" name="Google Shape;405;p57"/>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8"/>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Comando SCANF()</a:t>
            </a:r>
            <a:endParaRPr/>
          </a:p>
        </p:txBody>
      </p:sp>
      <p:sp>
        <p:nvSpPr>
          <p:cNvPr id="411" name="Google Shape;411;p58"/>
          <p:cNvSpPr txBox="1"/>
          <p:nvPr>
            <p:ph idx="1" type="body"/>
          </p:nvPr>
        </p:nvSpPr>
        <p:spPr>
          <a:xfrm>
            <a:off x="457200" y="1200150"/>
            <a:ext cx="8229600" cy="3840900"/>
          </a:xfrm>
          <a:prstGeom prst="rect">
            <a:avLst/>
          </a:prstGeom>
          <a:noFill/>
          <a:ln>
            <a:noFill/>
          </a:ln>
        </p:spPr>
        <p:txBody>
          <a:bodyPr anchorCtr="0" anchor="t" bIns="45700" lIns="91425" spcFirstLastPara="1" rIns="91425" wrap="square" tIns="45700">
            <a:noAutofit/>
          </a:bodyPr>
          <a:lstStyle/>
          <a:p>
            <a:pPr indent="-317500" lvl="0" marL="342900" rtl="0" algn="l">
              <a:spcBef>
                <a:spcPts val="0"/>
              </a:spcBef>
              <a:spcAft>
                <a:spcPts val="0"/>
              </a:spcAft>
              <a:buClr>
                <a:schemeClr val="dk1"/>
              </a:buClr>
              <a:buSzPts val="2400"/>
              <a:buChar char="●"/>
            </a:pPr>
            <a:r>
              <a:rPr lang="en" sz="2400"/>
              <a:t>Sintaxe:</a:t>
            </a:r>
            <a:endParaRPr sz="1400"/>
          </a:p>
          <a:p>
            <a:pPr indent="-342900" lvl="0" marL="342900" rtl="0" algn="ctr">
              <a:spcBef>
                <a:spcPts val="560"/>
              </a:spcBef>
              <a:spcAft>
                <a:spcPts val="0"/>
              </a:spcAft>
              <a:buClr>
                <a:schemeClr val="dk2"/>
              </a:buClr>
              <a:buSzPts val="2800"/>
              <a:buFont typeface="Arial"/>
              <a:buNone/>
            </a:pPr>
            <a:r>
              <a:rPr lang="en" sz="2400">
                <a:solidFill>
                  <a:schemeClr val="dk2"/>
                </a:solidFill>
              </a:rPr>
              <a:t>scanf(“formato”, &amp;variável);</a:t>
            </a:r>
            <a:endParaRPr sz="1400"/>
          </a:p>
          <a:p>
            <a:pPr indent="-165100" lvl="0" marL="342900" rtl="0" algn="l">
              <a:spcBef>
                <a:spcPts val="560"/>
              </a:spcBef>
              <a:spcAft>
                <a:spcPts val="0"/>
              </a:spcAft>
              <a:buClr>
                <a:schemeClr val="dk1"/>
              </a:buClr>
              <a:buSzPts val="2800"/>
              <a:buNone/>
            </a:pPr>
            <a:r>
              <a:t/>
            </a:r>
            <a:endParaRPr sz="2400"/>
          </a:p>
          <a:p>
            <a:pPr indent="-317500" lvl="0" marL="342900" rtl="0" algn="l">
              <a:spcBef>
                <a:spcPts val="560"/>
              </a:spcBef>
              <a:spcAft>
                <a:spcPts val="0"/>
              </a:spcAft>
              <a:buClr>
                <a:schemeClr val="dk1"/>
              </a:buClr>
              <a:buSzPts val="2400"/>
              <a:buChar char="●"/>
            </a:pPr>
            <a:r>
              <a:rPr lang="en" sz="2400"/>
              <a:t>Funcionamento:</a:t>
            </a:r>
            <a:endParaRPr sz="1400"/>
          </a:p>
          <a:p>
            <a:pPr indent="-260350" lvl="1" marL="742950" rtl="0" algn="l">
              <a:spcBef>
                <a:spcPts val="480"/>
              </a:spcBef>
              <a:spcAft>
                <a:spcPts val="0"/>
              </a:spcAft>
              <a:buClr>
                <a:schemeClr val="dk1"/>
              </a:buClr>
              <a:buSzPts val="2000"/>
              <a:buChar char="○"/>
            </a:pPr>
            <a:r>
              <a:rPr lang="en" sz="2000"/>
              <a:t>O comando coleta as informações dadas no dispositivo padrão de entrada, interpretando as informações segundo a máscara de formatação e armazenando na(s) respectiva(s) variável(is) dada(s) subseqüentemente ao formato.</a:t>
            </a:r>
            <a:endParaRPr sz="1000"/>
          </a:p>
          <a:p>
            <a:pPr indent="-260350" lvl="1" marL="742950" rtl="0" algn="l">
              <a:spcBef>
                <a:spcPts val="480"/>
              </a:spcBef>
              <a:spcAft>
                <a:spcPts val="0"/>
              </a:spcAft>
              <a:buClr>
                <a:schemeClr val="dk1"/>
              </a:buClr>
              <a:buSzPts val="2000"/>
              <a:buChar char="○"/>
            </a:pPr>
            <a:r>
              <a:rPr lang="en" sz="2000"/>
              <a:t>O dispositivo padrão é dado pela variável </a:t>
            </a:r>
            <a:r>
              <a:rPr lang="en" sz="2000">
                <a:solidFill>
                  <a:schemeClr val="accent2"/>
                </a:solidFill>
              </a:rPr>
              <a:t>stdin</a:t>
            </a:r>
            <a:endParaRPr sz="1000"/>
          </a:p>
        </p:txBody>
      </p:sp>
      <p:sp>
        <p:nvSpPr>
          <p:cNvPr id="412" name="Google Shape;412;p58"/>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sp>
        <p:nvSpPr>
          <p:cNvPr id="419" name="Google Shape;419;p59"/>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Exemplo</a:t>
            </a:r>
            <a:endParaRPr/>
          </a:p>
        </p:txBody>
      </p:sp>
      <p:sp>
        <p:nvSpPr>
          <p:cNvPr id="420" name="Google Shape;420;p59"/>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Autofit/>
          </a:bodyPr>
          <a:lstStyle/>
          <a:p>
            <a:pPr indent="-304800" lvl="0" marL="342900" rtl="0" algn="l">
              <a:spcBef>
                <a:spcPts val="0"/>
              </a:spcBef>
              <a:spcAft>
                <a:spcPts val="0"/>
              </a:spcAft>
              <a:buClr>
                <a:schemeClr val="dk1"/>
              </a:buClr>
              <a:buSzPts val="2200"/>
              <a:buChar char="●"/>
            </a:pPr>
            <a:r>
              <a:rPr lang="en" sz="2200"/>
              <a:t>Entrada formatada </a:t>
            </a:r>
            <a:r>
              <a:rPr lang="en" sz="2200">
                <a:solidFill>
                  <a:srgbClr val="D73737"/>
                </a:solidFill>
              </a:rPr>
              <a:t>scanf().</a:t>
            </a:r>
            <a:endParaRPr sz="1200"/>
          </a:p>
          <a:p>
            <a:pPr indent="-247650" lvl="1" marL="742950" rtl="0" algn="l">
              <a:spcBef>
                <a:spcPts val="480"/>
              </a:spcBef>
              <a:spcAft>
                <a:spcPts val="0"/>
              </a:spcAft>
              <a:buClr>
                <a:schemeClr val="dk1"/>
              </a:buClr>
              <a:buSzPts val="1800"/>
              <a:buChar char="○"/>
            </a:pPr>
            <a:r>
              <a:rPr lang="en" sz="1800"/>
              <a:t>Ex:</a:t>
            </a:r>
            <a:endParaRPr/>
          </a:p>
          <a:p>
            <a:pPr indent="-285750" lvl="1" marL="742950" rtl="0" algn="l">
              <a:spcBef>
                <a:spcPts val="440"/>
              </a:spcBef>
              <a:spcAft>
                <a:spcPts val="0"/>
              </a:spcAft>
              <a:buClr>
                <a:schemeClr val="dk1"/>
              </a:buClr>
              <a:buSzPts val="2200"/>
              <a:buFont typeface="Arial"/>
              <a:buNone/>
            </a:pPr>
            <a:r>
              <a:rPr b="1" lang="en" sz="1600"/>
              <a:t>	int</a:t>
            </a:r>
            <a:r>
              <a:rPr lang="en" sz="1600"/>
              <a:t> i; </a:t>
            </a:r>
            <a:r>
              <a:rPr b="1" lang="en" sz="1600"/>
              <a:t>float</a:t>
            </a:r>
            <a:r>
              <a:rPr lang="en" sz="1600"/>
              <a:t> r; </a:t>
            </a:r>
            <a:r>
              <a:rPr b="1" lang="en" sz="1600"/>
              <a:t>char</a:t>
            </a:r>
            <a:r>
              <a:rPr lang="en" sz="1600"/>
              <a:t> str[10];</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“%d”</a:t>
            </a:r>
            <a:r>
              <a:rPr lang="en" sz="1600"/>
              <a:t>,&amp;i);</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“%f”</a:t>
            </a:r>
            <a:r>
              <a:rPr lang="en" sz="1600"/>
              <a:t>,&amp;r);</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“%s”</a:t>
            </a:r>
            <a:r>
              <a:rPr lang="en" sz="1600"/>
              <a:t>,&amp;str);</a:t>
            </a:r>
            <a:endParaRPr sz="800"/>
          </a:p>
          <a:p>
            <a:pPr indent="-247650" lvl="1" marL="742950" rtl="0" algn="l">
              <a:spcBef>
                <a:spcPts val="440"/>
              </a:spcBef>
              <a:spcAft>
                <a:spcPts val="0"/>
              </a:spcAft>
              <a:buClr>
                <a:schemeClr val="dk1"/>
              </a:buClr>
              <a:buSzPts val="1600"/>
              <a:buChar char="○"/>
            </a:pPr>
            <a:r>
              <a:rPr lang="en" sz="1600"/>
              <a:t>Ou ainda:</a:t>
            </a:r>
            <a:endParaRPr sz="800"/>
          </a:p>
          <a:p>
            <a:pPr indent="-285750" lvl="1" marL="742950" rtl="0" algn="l">
              <a:spcBef>
                <a:spcPts val="440"/>
              </a:spcBef>
              <a:spcAft>
                <a:spcPts val="0"/>
              </a:spcAft>
              <a:buClr>
                <a:schemeClr val="dk1"/>
              </a:buClr>
              <a:buSzPts val="2200"/>
              <a:buFont typeface="Arial"/>
              <a:buNone/>
            </a:pPr>
            <a:r>
              <a:rPr b="1" lang="en" sz="1600"/>
              <a:t>	int</a:t>
            </a:r>
            <a:r>
              <a:rPr lang="en" sz="1600"/>
              <a:t> dia, mes, ano; </a:t>
            </a:r>
            <a:endParaRPr sz="800"/>
          </a:p>
          <a:p>
            <a:pPr indent="-285750" lvl="1" marL="742950" rtl="0" algn="l">
              <a:spcBef>
                <a:spcPts val="440"/>
              </a:spcBef>
              <a:spcAft>
                <a:spcPts val="0"/>
              </a:spcAft>
              <a:buClr>
                <a:schemeClr val="dk1"/>
              </a:buClr>
              <a:buSzPts val="2200"/>
              <a:buFont typeface="Arial"/>
              <a:buNone/>
            </a:pPr>
            <a:r>
              <a:rPr lang="en" sz="1600"/>
              <a:t>	scanf(</a:t>
            </a:r>
            <a:r>
              <a:rPr lang="en" sz="1600">
                <a:solidFill>
                  <a:schemeClr val="accent2"/>
                </a:solidFill>
              </a:rPr>
              <a:t>“%d/%d/%d”</a:t>
            </a:r>
            <a:r>
              <a:rPr lang="en" sz="1600"/>
              <a:t>, &amp;dia, &amp;mes, &amp;ano);</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0"/>
          <p:cNvSpPr txBox="1"/>
          <p:nvPr>
            <p:ph type="title"/>
          </p:nvPr>
        </p:nvSpPr>
        <p:spPr>
          <a:xfrm>
            <a:off x="457200" y="154483"/>
            <a:ext cx="8229600" cy="643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a:t>Exemplo Completo com Entrada e Sa</a:t>
            </a:r>
            <a:r>
              <a:rPr lang="en"/>
              <a:t>ída</a:t>
            </a:r>
            <a:endParaRPr/>
          </a:p>
        </p:txBody>
      </p:sp>
      <p:sp>
        <p:nvSpPr>
          <p:cNvPr id="426" name="Google Shape;426;p60"/>
          <p:cNvSpPr txBox="1"/>
          <p:nvPr>
            <p:ph idx="1" type="body"/>
          </p:nvPr>
        </p:nvSpPr>
        <p:spPr>
          <a:xfrm>
            <a:off x="457200" y="968482"/>
            <a:ext cx="8229600" cy="34743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77777"/>
              <a:buFont typeface="Arial"/>
              <a:buNone/>
            </a:pPr>
            <a:r>
              <a:rPr lang="en"/>
              <a:t>#include &lt;stdio.h&gt;</a:t>
            </a:r>
            <a:endParaRPr/>
          </a:p>
          <a:p>
            <a:pPr indent="-342900" lvl="0" marL="342900" rtl="0" algn="l">
              <a:spcBef>
                <a:spcPts val="496"/>
              </a:spcBef>
              <a:spcAft>
                <a:spcPts val="0"/>
              </a:spcAft>
              <a:buClr>
                <a:schemeClr val="dk1"/>
              </a:buClr>
              <a:buSzPct val="177777"/>
              <a:buFont typeface="Arial"/>
              <a:buNone/>
            </a:pPr>
            <a:r>
              <a:t/>
            </a:r>
            <a:endParaRPr/>
          </a:p>
          <a:p>
            <a:pPr indent="-342900" lvl="0" marL="342900" rtl="0" algn="l">
              <a:spcBef>
                <a:spcPts val="496"/>
              </a:spcBef>
              <a:spcAft>
                <a:spcPts val="0"/>
              </a:spcAft>
              <a:buClr>
                <a:schemeClr val="dk1"/>
              </a:buClr>
              <a:buSzPct val="177777"/>
              <a:buFont typeface="Arial"/>
              <a:buNone/>
            </a:pPr>
            <a:r>
              <a:rPr lang="en"/>
              <a:t>int main(){</a:t>
            </a:r>
            <a:endParaRPr/>
          </a:p>
          <a:p>
            <a:pPr indent="-342900" lvl="0" marL="342900" rtl="0" algn="l">
              <a:spcBef>
                <a:spcPts val="496"/>
              </a:spcBef>
              <a:spcAft>
                <a:spcPts val="0"/>
              </a:spcAft>
              <a:buClr>
                <a:schemeClr val="dk1"/>
              </a:buClr>
              <a:buSzPct val="177777"/>
              <a:buFont typeface="Arial"/>
              <a:buNone/>
            </a:pPr>
            <a:r>
              <a:rPr lang="en"/>
              <a:t>    int num1, num2, media;</a:t>
            </a:r>
            <a:endParaRPr/>
          </a:p>
          <a:p>
            <a:pPr indent="-342900" lvl="0" marL="342900" rtl="0" algn="l">
              <a:spcBef>
                <a:spcPts val="496"/>
              </a:spcBef>
              <a:spcAft>
                <a:spcPts val="0"/>
              </a:spcAft>
              <a:buClr>
                <a:schemeClr val="dk1"/>
              </a:buClr>
              <a:buSzPct val="177777"/>
              <a:buFont typeface="Arial"/>
              <a:buNone/>
            </a:pPr>
            <a:r>
              <a:rPr lang="en"/>
              <a:t>	  printf("Digite 2 numeros: ");</a:t>
            </a:r>
            <a:endParaRPr/>
          </a:p>
          <a:p>
            <a:pPr indent="-342900" lvl="0" marL="342900" rtl="0" algn="l">
              <a:spcBef>
                <a:spcPts val="496"/>
              </a:spcBef>
              <a:spcAft>
                <a:spcPts val="0"/>
              </a:spcAft>
              <a:buClr>
                <a:schemeClr val="dk1"/>
              </a:buClr>
              <a:buSzPct val="177777"/>
              <a:buFont typeface="Arial"/>
              <a:buNone/>
            </a:pPr>
            <a:r>
              <a:rPr lang="en"/>
              <a:t>    scanf("%d %d",&amp;num1, &amp;num2);</a:t>
            </a:r>
            <a:endParaRPr/>
          </a:p>
          <a:p>
            <a:pPr indent="-342900" lvl="0" marL="342900" rtl="0" algn="l">
              <a:spcBef>
                <a:spcPts val="496"/>
              </a:spcBef>
              <a:spcAft>
                <a:spcPts val="0"/>
              </a:spcAft>
              <a:buClr>
                <a:schemeClr val="dk1"/>
              </a:buClr>
              <a:buSzPct val="177777"/>
              <a:buFont typeface="Arial"/>
              <a:buNone/>
            </a:pPr>
            <a:r>
              <a:rPr lang="en"/>
              <a:t>    media=(num1+num2)/2;</a:t>
            </a:r>
            <a:endParaRPr/>
          </a:p>
          <a:p>
            <a:pPr indent="-342900" lvl="0" marL="342900" rtl="0" algn="l">
              <a:spcBef>
                <a:spcPts val="496"/>
              </a:spcBef>
              <a:spcAft>
                <a:spcPts val="0"/>
              </a:spcAft>
              <a:buClr>
                <a:schemeClr val="dk1"/>
              </a:buClr>
              <a:buSzPct val="177777"/>
              <a:buFont typeface="Arial"/>
              <a:buNone/>
            </a:pPr>
            <a:r>
              <a:rPr lang="en"/>
              <a:t>		printf("\nMedia: %d", media);</a:t>
            </a:r>
            <a:endParaRPr/>
          </a:p>
          <a:p>
            <a:pPr indent="-342900" lvl="0" marL="342900" rtl="0" algn="l">
              <a:spcBef>
                <a:spcPts val="496"/>
              </a:spcBef>
              <a:spcAft>
                <a:spcPts val="0"/>
              </a:spcAft>
              <a:buClr>
                <a:schemeClr val="dk1"/>
              </a:buClr>
              <a:buSzPct val="177777"/>
              <a:buFont typeface="Arial"/>
              <a:buNone/>
            </a:pPr>
            <a:r>
              <a:rPr lang="en"/>
              <a:t>    getch();</a:t>
            </a:r>
            <a:endParaRPr/>
          </a:p>
          <a:p>
            <a:pPr indent="-342900" lvl="0" marL="342900" rtl="0" algn="l">
              <a:spcBef>
                <a:spcPts val="496"/>
              </a:spcBef>
              <a:spcAft>
                <a:spcPts val="0"/>
              </a:spcAft>
              <a:buClr>
                <a:schemeClr val="dk1"/>
              </a:buClr>
              <a:buSzPct val="177777"/>
              <a:buFont typeface="Arial"/>
              <a:buNone/>
            </a:pPr>
            <a:r>
              <a:rPr lang="en"/>
              <a:t>    return 0;</a:t>
            </a:r>
            <a:endParaRPr/>
          </a:p>
          <a:p>
            <a:pPr indent="-342900" lvl="0" marL="342900" rtl="0" algn="l">
              <a:spcBef>
                <a:spcPts val="496"/>
              </a:spcBef>
              <a:spcAft>
                <a:spcPts val="0"/>
              </a:spcAft>
              <a:buClr>
                <a:schemeClr val="dk1"/>
              </a:buClr>
              <a:buSzPct val="177777"/>
              <a:buFont typeface="Arial"/>
              <a:buNone/>
            </a:pPr>
            <a:r>
              <a:rPr lang="en"/>
              <a: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1"/>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Pr</a:t>
            </a:r>
            <a:r>
              <a:rPr lang="en"/>
              <a:t>á</a:t>
            </a:r>
            <a:r>
              <a:rPr lang="en"/>
              <a:t>tica!</a:t>
            </a:r>
            <a:endParaRPr/>
          </a:p>
        </p:txBody>
      </p:sp>
      <p:sp>
        <p:nvSpPr>
          <p:cNvPr id="432" name="Google Shape;432;p61"/>
          <p:cNvSpPr txBox="1"/>
          <p:nvPr>
            <p:ph idx="1" type="body"/>
          </p:nvPr>
        </p:nvSpPr>
        <p:spPr>
          <a:xfrm>
            <a:off x="457200" y="895350"/>
            <a:ext cx="8229600" cy="6966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a:t>C</a:t>
            </a:r>
            <a:r>
              <a:rPr lang="en"/>
              <a:t>ódigo Matricula: R4SM</a:t>
            </a:r>
            <a:br>
              <a:rPr lang="en"/>
            </a:br>
            <a:r>
              <a:rPr lang="en" u="sng">
                <a:solidFill>
                  <a:schemeClr val="hlink"/>
                </a:solidFill>
                <a:hlinkClick r:id="rId3"/>
              </a:rPr>
              <a:t>https://runcodes.icmc.usp.br/offerings/view/83</a:t>
            </a:r>
            <a:r>
              <a:rPr lang="en"/>
              <a:t> </a:t>
            </a:r>
            <a:endParaRPr/>
          </a:p>
        </p:txBody>
      </p:sp>
      <p:sp>
        <p:nvSpPr>
          <p:cNvPr id="433" name="Google Shape;433;p61"/>
          <p:cNvSpPr txBox="1"/>
          <p:nvPr>
            <p:ph idx="12" type="sldNum"/>
          </p:nvPr>
        </p:nvSpPr>
        <p:spPr>
          <a:xfrm>
            <a:off x="6553200" y="4767263"/>
            <a:ext cx="2133600" cy="273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1200"/>
              <a:buFont typeface="Calibri"/>
              <a:buNone/>
            </a:pPr>
            <a:fld id="{00000000-1234-1234-1234-123412341234}" type="slidenum">
              <a:rPr lang="en"/>
              <a:t>‹#›</a:t>
            </a:fld>
            <a:endParaRPr sz="1000">
              <a:solidFill>
                <a:schemeClr val="dk2"/>
              </a:solidFill>
              <a:latin typeface="Arial"/>
              <a:ea typeface="Arial"/>
              <a:cs typeface="Arial"/>
              <a:sym typeface="Arial"/>
            </a:endParaRPr>
          </a:p>
        </p:txBody>
      </p:sp>
      <p:pic>
        <p:nvPicPr>
          <p:cNvPr id="434" name="Google Shape;434;p61"/>
          <p:cNvPicPr preferRelativeResize="0"/>
          <p:nvPr/>
        </p:nvPicPr>
        <p:blipFill>
          <a:blip r:embed="rId4">
            <a:alphaModFix/>
          </a:blip>
          <a:stretch>
            <a:fillRect/>
          </a:stretch>
        </p:blipFill>
        <p:spPr>
          <a:xfrm>
            <a:off x="99500" y="1762625"/>
            <a:ext cx="8944999" cy="30046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SSC0501 - Introdução à Ciência de Computação I</a:t>
            </a:r>
            <a:endParaRPr/>
          </a:p>
        </p:txBody>
      </p:sp>
      <p:sp>
        <p:nvSpPr>
          <p:cNvPr id="440" name="Google Shape;440;p6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Obrigado pela atenção!!</a:t>
            </a:r>
            <a:endParaRPr/>
          </a:p>
        </p:txBody>
      </p:sp>
      <p:sp>
        <p:nvSpPr>
          <p:cNvPr id="441" name="Google Shape;44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